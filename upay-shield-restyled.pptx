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4E4E4"/>
                </a:solidFill>
                <a:latin typeface="+mn-lt"/>
              </a:defRPr>
            </a:pPr>
            <a:r>
              <a:rPr sz="1400" b="0" i="0" u="none" strike="noStrike">
                <a:solidFill>
                  <a:srgbClr val="E4E4E4"/>
                </a:solidFill>
                <a:latin typeface="+mn-lt"/>
              </a:rPr>
              <a:t>Recovery probability (%) by minutes since first hop</a:t>
            </a:r>
          </a:p>
        </c:rich>
      </c:tx>
      <c:layout/>
      <c:overlay val="0"/>
    </c:title>
    <c:autoTitleDeleted val="0"/>
    <c:plotArea>
      <c:layout/>
      <c:lineChart>
        <c:varyColors val="0"/>
        <c:ser>
          <c:idx val="0"/>
          <c:order val="0"/>
          <c:tx>
            <c:strRef>
              <c:f>Sheet1!$B$1</c:f>
              <c:strCache>
                <c:ptCount val="1"/>
                <c:pt idx="0">
                  <c:v>Recovery probability (%)</c:v>
                </c:pt>
              </c:strCache>
            </c:strRef>
          </c:tx>
          <c:spPr>
            <a:solidFill>
              <a:srgbClr val="F7761F"/>
            </a:solidFill>
            <a:ln w="38100" cap="flat">
              <a:solidFill>
                <a:srgbClr val="F776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F7761F"/>
              </a:solidFill>
              <a:ln w="9525" cap="flat">
                <a:solidFill>
                  <a:srgbClr val="F7761F"/>
                </a:solidFill>
                <a:prstDash val="solid"/>
                <a:round/>
              </a:ln>
              <a:effectLst/>
            </c:spPr>
          </c:marker>
          <c:cat>
            <c:multiLvlStrRef>
              <c:f>Sheet1!$A$2:$A$11</c:f>
              <c:multiLvlStrCache>
                <c:ptCount val="10"/>
                <c:lvl>
                  <c:pt idx="0">
                    <c:v>0m</c:v>
                  </c:pt>
                  <c:pt idx="1">
                    <c:v>10m</c:v>
                  </c:pt>
                  <c:pt idx="2">
                    <c:v>20m</c:v>
                  </c:pt>
                  <c:pt idx="3">
                    <c:v>30m</c:v>
                  </c:pt>
                  <c:pt idx="4">
                    <c:v>40m</c:v>
                  </c:pt>
                  <c:pt idx="5">
                    <c:v>50m</c:v>
                  </c:pt>
                  <c:pt idx="6">
                    <c:v>60m</c:v>
                  </c:pt>
                  <c:pt idx="7">
                    <c:v>70m</c:v>
                  </c:pt>
                  <c:pt idx="8">
                    <c:v>80m</c:v>
                  </c:pt>
                  <c:pt idx="9">
                    <c:v>90m</c:v>
                  </c:pt>
                </c:lvl>
              </c:multiLvlStrCache>
            </c:multiLvlStrRef>
          </c:cat>
          <c:val>
            <c:numRef>
              <c:f>Sheet1!$B$2:$B$11</c:f>
              <c:numCache>
                <c:formatCode>General</c:formatCode>
                <c:ptCount val="10"/>
                <c:pt idx="0">
                  <c:v>100</c:v>
                </c:pt>
                <c:pt idx="1">
                  <c:v>84.6</c:v>
                </c:pt>
                <c:pt idx="2">
                  <c:v>71.6</c:v>
                </c:pt>
                <c:pt idx="3">
                  <c:v>60.6</c:v>
                </c:pt>
                <c:pt idx="4">
                  <c:v>51.3</c:v>
                </c:pt>
                <c:pt idx="5">
                  <c:v>43.4</c:v>
                </c:pt>
                <c:pt idx="6">
                  <c:v>36.7</c:v>
                </c:pt>
                <c:pt idx="7">
                  <c:v>31.1</c:v>
                </c:pt>
                <c:pt idx="8">
                  <c:v>26.3</c:v>
                </c:pt>
                <c:pt idx="9">
                  <c:v>22.2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A8A8A8"/>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3A3A3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A8A8A8"/>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4E4E4"/>
                </a:solidFill>
                <a:latin typeface="+mn-lt"/>
              </a:defRPr>
            </a:pPr>
            <a:r>
              <a:rPr sz="1400" b="0" i="0" u="none" strike="noStrike">
                <a:solidFill>
                  <a:srgbClr val="E4E4E4"/>
                </a:solidFill>
                <a:latin typeface="+mn-lt"/>
              </a:rPr>
              <a:t>Annual direct fraud loss (৳M)</a:t>
            </a:r>
          </a:p>
        </c:rich>
      </c:tx>
      <c:layout/>
      <c:overlay val="0"/>
    </c:title>
    <c:autoTitleDeleted val="0"/>
    <c:plotArea>
      <c:layout/>
      <c:barChart>
        <c:barDir val="col"/>
        <c:grouping val="clustered"/>
        <c:varyColors val="0"/>
        <c:ser>
          <c:idx val="0"/>
          <c:order val="0"/>
          <c:tx>
            <c:strRef>
              <c:f>Sheet1!$B$1</c:f>
              <c:strCache>
                <c:ptCount val="1"/>
                <c:pt idx="0">
                  <c:v>Annual direct fraud loss (৳M)</c:v>
                </c:pt>
              </c:strCache>
            </c:strRef>
          </c:tx>
          <c:spPr>
            <a:solidFill>
              <a:srgbClr val="F7761F"/>
            </a:solidFill>
            <a:effectLst/>
          </c:spPr>
          <c:invertIfNegative val="0"/>
          <c:dLbls>
            <c:numFmt formatCode="#,##0" sourceLinked="0"/>
            <c:txPr>
              <a:bodyPr/>
              <a:lstStyle/>
              <a:p>
                <a:pPr>
                  <a:defRPr b="0" i="0" strike="noStrike" sz="1400" u="none">
                    <a:solidFill>
                      <a:srgbClr val="E4E4E4"/>
                    </a:solidFill>
                    <a:latin typeface="+mn-lt"/>
                  </a:defRPr>
                </a:pPr>
              </a:p>
            </c:txPr>
            <c:showLegendKey val="0"/>
            <c:showVal val="1"/>
            <c:showCatName val="0"/>
            <c:showSerName val="0"/>
            <c:showPercent val="0"/>
            <c:showBubbleSize val="0"/>
            <c:showLeaderLines val="0"/>
          </c:dLbls>
          <c:dPt>
            <c:idx val="0"/>
            <c:invertIfNegative val="0"/>
            <c:bubble3D val="0"/>
            <c:spPr>
              <a:solidFill>
                <a:srgbClr val="F7761F"/>
              </a:solidFill>
              <a:effectLst/>
            </c:spPr>
          </c:dPt>
          <c:dPt>
            <c:idx val="1"/>
            <c:invertIfNegative val="0"/>
            <c:bubble3D val="0"/>
            <c:spPr>
              <a:solidFill>
                <a:srgbClr val="FF9A4D"/>
              </a:solidFill>
              <a:effectLst/>
            </c:spPr>
          </c:dPt>
          <c:cat>
            <c:multiLvlStrRef>
              <c:f>Sheet1!$A$2:$A$3</c:f>
              <c:multiLvlStrCache>
                <c:ptCount val="2"/>
                <c:lvl>
                  <c:pt idx="0">
                    <c:v>Baseline</c:v>
                  </c:pt>
                  <c:pt idx="1">
                    <c:v>With Shield</c:v>
                  </c:pt>
                </c:lvl>
              </c:multiLvlStrCache>
            </c:multiLvlStrRef>
          </c:cat>
          <c:val>
            <c:numRef>
              <c:f>Sheet1!$B$2:$B$3</c:f>
              <c:numCache>
                <c:formatCode>General</c:formatCode>
                <c:ptCount val="2"/>
                <c:pt idx="0">
                  <c:v>50.4</c:v>
                </c:pt>
                <c:pt idx="1">
                  <c:v>7.76</c:v>
                </c:pt>
              </c:numCache>
            </c:numRef>
          </c:val>
        </c:ser>
        <c:dLbls>
          <c:numFmt formatCode="#,##0" sourceLinked="0"/>
          <c:txPr>
            <a:bodyPr/>
            <a:lstStyle/>
            <a:p>
              <a:pPr>
                <a:defRPr b="0" i="0" strike="noStrike" sz="1400" u="none">
                  <a:solidFill>
                    <a:srgbClr val="E4E4E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A8A8A8"/>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3A3A3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A8A8A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thesis: MFS fraud is a psychology problem plus a network problem, not a server breach. Money leaves voluntarily at the confirm screen.
Anchor the scale: 239.3M registered wallets and Tk 1.5 trillion moving every month across upay, bKash and Nagad.
Land the five outcomes on this slide. Each one is measured on a ৳120M/month pilot, and the deck shows how each is 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thesis: MFS fraud is a psychology problem plus a network problem, not a server breach. Money leaves voluntarily at the confirm screen.
Anchor the scale: 239.3M registered wallets and Tk 1.5 trillion moving every month across upay, bKash and Nagad.
Land the five outcomes on this slide. Each one is measured on a ৳120M/month pilot, and the deck shows how each is 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the problem is human and networked, the solution intervenes at the human moment, the impact is financial and operational.
Stress 'before the confirm screen'. Legacy tools inspect after money has moved; Shield acts while the victim is still on the call.
Close on the 12.4-minute cash-out window. Every design choice is made to beat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as a chain: scale of loss (E1), who is hurt (E2, E4), what it costs growth (E3), and why now (E7).
E3 is the commercial argument: 32% of the unbanked name fear of fraud as the main barrier, so defense is also an acquisition engine.
E7 closes the loop. Bangladesh Bank's AI monitoring directive and the 2026 Act turn this from optional to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failure mode maps to one structural fix. The point is that these are design gaps, not tuning problems.
Confirmation blindness is the most important: the rules see a valid balance and limit, but not a victim on a 15-minute coercion call.
Failure mode 4 matters to agents and regulators: legacy systems punish honest agents precisely when demand 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Shield runs as a non-disruptive sidecar over REST webhooks. No core wallet rewrite is required.
Walk the tiers top to bottom: every channel feeds one decision engine, which feeds graph intelligence, which feeds operations and recovery.
The 151 of 151 passing Vitest suites are evidence the stack is already built, not slideware.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sample: a fake customer-care call asks for an OTP. The rule floor catches it in under a millisecond, before any model is called.
Explain the monotonic merge: the LLM can raise risk but can never lower a risk the rules already detected. That is what makes it safe in a regulated environment.
78.2% reduction in victim compliance is the headline for this pillar. PINs and OTPs are redacted automatically before logging.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Ring-12: six nodes across three districts, a ৳385k pipeline, frozen in 4.8 milliseconds. A batch job would have found it after cash-out.
Walk the three detectors. Each is cheap alone; the graph is what makes them decisive together.
The IMEI collision graph links burner SIMs to the same physical handset even when numbers and names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pillar agents care about. Eid and payroll days look like fraud to a volume cap, but they are legitimate pressure.
Two orthogonal scores mean a busy agent is supported, while a quiet agent with burner SIMs and 2:00 AM cash-outs is caught.
94% fewer false lockouts. With TIB reporting 17% of agents already exploited, protecting honest agents is also a fairness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Recovery is a race against a curve. The model is T_decay = e^(−λt): the probability of recovery falls exponentially with time since the first hop.
Read the bands: 92% at hop 1, 74% at hop 2, 38% by hop 3 and beyond, and under 10.7% once cash-out has happened.
Simulated recovery of 71.4% against the 10.7% national baseline is a 6.6x multiplier, driven by automated downstream escrow freeze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copilot answer follows CLAIM, EVIDENCE, REASON, CONCLUSION, and every fact links to a verified transaction ID. That is how hallucination is designed out.
Each action is sealed into a SHA-256 hash chain, so editing any past record breaks every block after it. Regulators can verify without trusting us.
Operational result: 42 minutes per case becomes 13.5, a 68% gain in analyst capacity without hiring.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40% of rural volume runs on basic feature phones. A smartphone-only defense leaves the most vulnerable users unprotected.
Shield reads telecom signaling metadata for SIM swaps, stops sequential PIN harvesting, and calls the user back in plain colloquial Bangla.
This is the inclusion argument: protection that does not depend on the device someone can afford.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pilot base: ৳120M a month is ৳1.44 billion a year. Direct fraud losses fall from ৳50.4M to ৳7.76M, preserving ৳42,638,400.
Add ৳14.2M of customer lifetime value saved through Safety Mode, which gives roughly ৳56.8M of quantified Year-1 benefit.
The 8.4x ROI is net of implementation spend. Recovery uplift and analyst capacity are additional upside not counted in the preserved-capital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structural axes, not feature checkboxes. Competitors fail on the same axes because they were designed for a different problem.
The two most important rows are pre-transfer intervention and golden-hour recovery. Neither competitor class has an equivalent.
Close on audit: an immutable chain beats editable logs and black-box ML when the regulator asks how a decision was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is shadow mode: zero blocking, so there is no customer risk while we calibrate on real traffic.
Each phase adds one capability and one integration. Nothing is switched on without evidence from the phase before.
Phase 4 is where fairness auditing and drift monitoring become continuous, which is what the regulator will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it back to Smart Bangladesh 2041: a digital economy only works if people trust the rails. Shield makes trust measurable.
The platform is already built and verified: 151 of 151 Vitest suites pass, with a live executive dashboard and simulator.
End with three asks. The first has zero customer impact, which makes it an easy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9052560"/>
            <a:ext cx="18288000" cy="0"/>
          </a:xfrm>
          <a:prstGeom prst="line">
            <a:avLst/>
          </a:prstGeom>
          <a:noFill/>
          <a:ln w="9525">
            <a:solidFill>
              <a:srgbClr val="E4E4E4"/>
            </a:solidFill>
            <a:prstDash val="solid"/>
          </a:ln>
        </p:spPr>
      </p:sp>
      <p:sp>
        <p:nvSpPr>
          <p:cNvPr id="3" name="Text 1"/>
          <p:cNvSpPr/>
          <p:nvPr/>
        </p:nvSpPr>
        <p:spPr>
          <a:xfrm>
            <a:off x="1097280" y="502920"/>
            <a:ext cx="4572000" cy="365760"/>
          </a:xfrm>
          <a:prstGeom prst="rect">
            <a:avLst/>
          </a:prstGeom>
          <a:noFill/>
          <a:ln/>
        </p:spPr>
        <p:txBody>
          <a:bodyPr wrap="square" lIns="0" tIns="0" rIns="0" bIns="0" rtlCol="0" anchor="ctr"/>
          <a:lstStyle/>
          <a:p>
            <a:pPr indent="0" marL="0">
              <a:buNone/>
            </a:pPr>
            <a:r>
              <a:rPr lang="en-US" sz="1800" dirty="0">
                <a:solidFill>
                  <a:srgbClr val="E4E4E4"/>
                </a:solidFill>
                <a:latin typeface="Open Sauce" pitchFamily="34" charset="0"/>
                <a:ea typeface="Open Sauce" pitchFamily="34" charset="-122"/>
                <a:cs typeface="Open Sauce" pitchFamily="34" charset="-120"/>
              </a:rPr>
              <a:t>UPAY SHIELD</a:t>
            </a:r>
            <a:endParaRPr lang="en-US" sz="1800" dirty="0"/>
          </a:p>
        </p:txBody>
      </p:sp>
      <p:sp>
        <p:nvSpPr>
          <p:cNvPr id="4" name="Text 2"/>
          <p:cNvSpPr/>
          <p:nvPr/>
        </p:nvSpPr>
        <p:spPr>
          <a:xfrm>
            <a:off x="1097280" y="9418320"/>
            <a:ext cx="7315200" cy="320040"/>
          </a:xfrm>
          <a:prstGeom prst="rect">
            <a:avLst/>
          </a:prstGeom>
          <a:noFill/>
          <a:ln/>
        </p:spPr>
        <p:txBody>
          <a:bodyPr wrap="square" lIns="0" tIns="0" rIns="0" bIns="0" rtlCol="0" anchor="ctr"/>
          <a:lstStyle/>
          <a:p>
            <a:pPr indent="0" marL="0">
              <a:buNone/>
            </a:pPr>
            <a:r>
              <a:rPr lang="en-US" sz="1600" dirty="0">
                <a:solidFill>
                  <a:srgbClr val="E4E4E4"/>
                </a:solidFill>
                <a:latin typeface="Open Sauce" pitchFamily="34" charset="0"/>
                <a:ea typeface="Open Sauce" pitchFamily="34" charset="-122"/>
                <a:cs typeface="Open Sauce" pitchFamily="34" charset="-120"/>
              </a:rPr>
              <a:t>Autonomous AI scam interception for Bangladesh MFS</a:t>
            </a:r>
            <a:endParaRPr lang="en-US" sz="1600" dirty="0"/>
          </a:p>
        </p:txBody>
      </p:sp>
      <p:sp>
        <p:nvSpPr>
          <p:cNvPr id="5" name="Text 3"/>
          <p:cNvSpPr/>
          <p:nvPr/>
        </p:nvSpPr>
        <p:spPr>
          <a:xfrm>
            <a:off x="11704320" y="9418320"/>
            <a:ext cx="5486400" cy="320040"/>
          </a:xfrm>
          <a:prstGeom prst="rect">
            <a:avLst/>
          </a:prstGeom>
          <a:noFill/>
          <a:ln/>
        </p:spPr>
        <p:txBody>
          <a:bodyPr wrap="square" lIns="0" tIns="0" rIns="0" bIns="0" rtlCol="0" anchor="ctr"/>
          <a:lstStyle/>
          <a:p>
            <a:pPr algn="r" indent="0" marL="0">
              <a:buNone/>
            </a:pPr>
            <a:r>
              <a:rPr lang="en-US" sz="1600" dirty="0">
                <a:solidFill>
                  <a:srgbClr val="E4E4E4"/>
                </a:solidFill>
                <a:latin typeface="Open Sauce" pitchFamily="34" charset="0"/>
                <a:ea typeface="Open Sauce" pitchFamily="34" charset="-122"/>
                <a:cs typeface="Open Sauce" pitchFamily="34" charset="-120"/>
              </a:rPr>
              <a:t>Business case · 2026</a:t>
            </a: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9052560"/>
            <a:ext cx="18288000" cy="0"/>
          </a:xfrm>
          <a:prstGeom prst="line">
            <a:avLst/>
          </a:prstGeom>
          <a:noFill/>
          <a:ln w="9525">
            <a:solidFill>
              <a:srgbClr val="4A4A4A"/>
            </a:solidFill>
            <a:prstDash val="solid"/>
          </a:ln>
        </p:spPr>
      </p:sp>
      <p:sp>
        <p:nvSpPr>
          <p:cNvPr id="3" name="Text 1"/>
          <p:cNvSpPr/>
          <p:nvPr/>
        </p:nvSpPr>
        <p:spPr>
          <a:xfrm>
            <a:off x="1097280" y="502920"/>
            <a:ext cx="4572000" cy="365760"/>
          </a:xfrm>
          <a:prstGeom prst="rect">
            <a:avLst/>
          </a:prstGeom>
          <a:noFill/>
          <a:ln/>
        </p:spPr>
        <p:txBody>
          <a:bodyPr wrap="square" lIns="0" tIns="0" rIns="0" bIns="0" rtlCol="0" anchor="ctr"/>
          <a:lstStyle/>
          <a:p>
            <a:pPr indent="0" marL="0">
              <a:buNone/>
            </a:pPr>
            <a:r>
              <a:rPr lang="en-US" sz="1800" dirty="0">
                <a:solidFill>
                  <a:srgbClr val="E4E4E4"/>
                </a:solidFill>
                <a:latin typeface="Open Sauce" pitchFamily="34" charset="0"/>
                <a:ea typeface="Open Sauce" pitchFamily="34" charset="-122"/>
                <a:cs typeface="Open Sauce" pitchFamily="34" charset="-120"/>
              </a:rPr>
              <a:t>UPAY SHIELD</a:t>
            </a:r>
            <a:endParaRPr lang="en-US" sz="1800" dirty="0"/>
          </a:p>
        </p:txBody>
      </p:sp>
      <p:sp>
        <p:nvSpPr>
          <p:cNvPr id="4" name="Text 2"/>
          <p:cNvSpPr/>
          <p:nvPr/>
        </p:nvSpPr>
        <p:spPr>
          <a:xfrm>
            <a:off x="1097280" y="9418320"/>
            <a:ext cx="8229600" cy="320040"/>
          </a:xfrm>
          <a:prstGeom prst="rect">
            <a:avLst/>
          </a:prstGeom>
          <a:noFill/>
          <a:ln/>
        </p:spPr>
        <p:txBody>
          <a:bodyPr wrap="square" lIns="0" tIns="0" rIns="0" bIns="0" rtlCol="0" anchor="ctr"/>
          <a:lstStyle/>
          <a:p>
            <a:pPr indent="0" marL="0">
              <a:buNone/>
            </a:pPr>
            <a:r>
              <a:rPr lang="en-US" sz="1600" dirty="0">
                <a:solidFill>
                  <a:srgbClr val="A8A8A8"/>
                </a:solidFill>
                <a:latin typeface="Open Sauce" pitchFamily="34" charset="0"/>
                <a:ea typeface="Open Sauce" pitchFamily="34" charset="-122"/>
                <a:cs typeface="Open Sauce" pitchFamily="34" charset="-120"/>
              </a:rPr>
              <a:t>Stop the scam before the confirm screen</a:t>
            </a:r>
            <a:endParaRPr lang="en-US" sz="1600" dirty="0"/>
          </a:p>
        </p:txBody>
      </p:sp>
      <p:sp>
        <p:nvSpPr>
          <p:cNvPr id="25" name="Slide Number Placeholder 0"/>
          <p:cNvSpPr>
            <a:spLocks noGrp="1"/>
          </p:cNvSpPr>
          <p:nvPr>
            <p:ph type="sldNum" sz="quarter" idx="4294967295"/>
          </p:nvPr>
        </p:nvSpPr>
        <p:spPr>
          <a:xfrm>
            <a:off x="15361920" y="9418320"/>
            <a:ext cx="1828800" cy="320040"/>
          </a:xfrm>
          <a:prstGeom prst="rect">
            <a:avLst/>
          </a:prstGeom>
          <a:extLst>
            <a:ext uri="{C572A759-6A51-4108-AA02-DFA0A04FC94B}">
              <ma14:wrappingTextBoxFlag xmlns:ma14="http://schemas.microsoft.com/office/mac/drawingml/2011/main" val="0"/>
            </a:ext>
          </a:extLst>
        </p:spPr>
        <p:txBody>
          <a:bodyPr/>
          <a:lstStyle>
            <a:lvl1pPr>
              <a:defRPr sz="1600">
                <a:solidFill>
                  <a:srgbClr val="A8A8A8"/>
                </a:solidFill>
                <a:latin typeface="Open Sauce"/>
                <a:ea typeface="Open Sauce"/>
                <a:cs typeface="Open Sauce"/>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5361920" y="9418320"/>
            <a:ext cx="1828800" cy="320040"/>
          </a:xfrm>
          <a:prstGeom prst="rect">
            <a:avLst/>
          </a:prstGeom>
          <a:extLst>
            <a:ext uri="{C572A759-6A51-4108-AA02-DFA0A04FC94B}">
              <ma14:wrappingTextBoxFlag xmlns:ma14="http://schemas.microsoft.com/office/mac/drawingml/2011/main" val="0"/>
            </a:ext>
          </a:extLst>
        </p:spPr>
        <p:txBody>
          <a:bodyPr/>
          <a:lstStyle>
            <a:lvl1pPr>
              <a:defRPr sz="1600">
                <a:solidFill>
                  <a:srgbClr val="A8A8A8"/>
                </a:solidFill>
                <a:latin typeface="Open Sauce"/>
                <a:ea typeface="Open Sauce"/>
                <a:cs typeface="Open Sauce"/>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12984480" y="457200"/>
            <a:ext cx="4206240" cy="457200"/>
          </a:xfrm>
          <a:prstGeom prst="roundRect">
            <a:avLst>
              <a:gd name="adj" fmla="val 50000"/>
            </a:avLst>
          </a:prstGeom>
          <a:solidFill>
            <a:srgbClr val="FFFFFF"/>
          </a:solidFill>
          <a:ln w="12700">
            <a:solidFill>
              <a:srgbClr val="FFFFFF"/>
            </a:solidFill>
            <a:prstDash val="solid"/>
          </a:ln>
        </p:spPr>
      </p:sp>
      <p:sp>
        <p:nvSpPr>
          <p:cNvPr id="3" name="Text 1"/>
          <p:cNvSpPr txBox="1"/>
          <p:nvPr/>
        </p:nvSpPr>
        <p:spPr>
          <a:xfrm>
            <a:off x="12984480" y="457200"/>
            <a:ext cx="4206240" cy="457200"/>
          </a:xfrm>
          <a:prstGeom prst="rect">
            <a:avLst/>
          </a:prstGeom>
          <a:noFill/>
          <a:ln/>
        </p:spPr>
        <p:txBody>
          <a:bodyPr wrap="square" lIns="0" tIns="0" rIns="0" bIns="0" rtlCol="0" anchor="ctr"/>
          <a:lstStyle/>
          <a:p>
            <a:pPr algn="ctr" indent="0" marL="0">
              <a:buNone/>
            </a:pPr>
            <a:r>
              <a:rPr lang="en-US" sz="1700" dirty="0">
                <a:solidFill>
                  <a:srgbClr val="000000"/>
                </a:solidFill>
                <a:latin typeface="Open Sauce" pitchFamily="34" charset="0"/>
                <a:ea typeface="Open Sauce" pitchFamily="34" charset="-122"/>
                <a:cs typeface="Open Sauce" pitchFamily="34" charset="-120"/>
              </a:rPr>
              <a:t>BUSINESS CASE 2026</a:t>
            </a:r>
            <a:endParaRPr lang="en-US" sz="1700" dirty="0"/>
          </a:p>
        </p:txBody>
      </p:sp>
      <p:sp>
        <p:nvSpPr>
          <p:cNvPr id="4" name="Text 2"/>
          <p:cNvSpPr txBox="1"/>
          <p:nvPr/>
        </p:nvSpPr>
        <p:spPr>
          <a:xfrm>
            <a:off x="868680" y="1554480"/>
            <a:ext cx="10972800" cy="2651760"/>
          </a:xfrm>
          <a:prstGeom prst="rect">
            <a:avLst/>
          </a:prstGeom>
          <a:noFill/>
          <a:ln/>
        </p:spPr>
        <p:txBody>
          <a:bodyPr wrap="square" lIns="0" tIns="0" rIns="0" bIns="0" rtlCol="0" anchor="t"/>
          <a:lstStyle/>
          <a:p>
            <a:pPr indent="0" marL="0">
              <a:buNone/>
            </a:pPr>
            <a:r>
              <a:rPr lang="en-US" sz="21800" b="1" dirty="0">
                <a:solidFill>
                  <a:srgbClr val="E4E4E4"/>
                </a:solidFill>
                <a:latin typeface="Open Sauce Bold" pitchFamily="34" charset="0"/>
                <a:ea typeface="Open Sauce Bold" pitchFamily="34" charset="-122"/>
                <a:cs typeface="Open Sauce Bold" pitchFamily="34" charset="-120"/>
              </a:rPr>
              <a:t>upay</a:t>
            </a:r>
            <a:endParaRPr lang="en-US" sz="21800" dirty="0"/>
          </a:p>
        </p:txBody>
      </p:sp>
      <p:sp>
        <p:nvSpPr>
          <p:cNvPr id="5" name="Text 3"/>
          <p:cNvSpPr txBox="1"/>
          <p:nvPr/>
        </p:nvSpPr>
        <p:spPr>
          <a:xfrm>
            <a:off x="5760720" y="4572000"/>
            <a:ext cx="11430000" cy="2651760"/>
          </a:xfrm>
          <a:prstGeom prst="rect">
            <a:avLst/>
          </a:prstGeom>
          <a:noFill/>
          <a:ln/>
        </p:spPr>
        <p:txBody>
          <a:bodyPr wrap="square" lIns="0" tIns="0" rIns="0" bIns="0" rtlCol="0" anchor="t"/>
          <a:lstStyle/>
          <a:p>
            <a:pPr indent="0" marL="0">
              <a:buNone/>
            </a:pPr>
            <a:r>
              <a:rPr lang="en-US" sz="21800" b="1" dirty="0">
                <a:solidFill>
                  <a:srgbClr val="E4E4E4"/>
                </a:solidFill>
                <a:latin typeface="Open Sauce Bold" pitchFamily="34" charset="0"/>
                <a:ea typeface="Open Sauce Bold" pitchFamily="34" charset="-122"/>
                <a:cs typeface="Open Sauce Bold" pitchFamily="34" charset="-120"/>
              </a:rPr>
              <a:t>Shield</a:t>
            </a:r>
            <a:endParaRPr lang="en-US" sz="21800" dirty="0"/>
          </a:p>
        </p:txBody>
      </p:sp>
      <p:sp>
        <p:nvSpPr>
          <p:cNvPr id="6" name="Text 4"/>
          <p:cNvSpPr txBox="1"/>
          <p:nvPr/>
        </p:nvSpPr>
        <p:spPr>
          <a:xfrm>
            <a:off x="1097280" y="5577840"/>
            <a:ext cx="4206240" cy="1463040"/>
          </a:xfrm>
          <a:prstGeom prst="rect">
            <a:avLst/>
          </a:prstGeom>
          <a:noFill/>
          <a:ln/>
        </p:spPr>
        <p:txBody>
          <a:bodyPr wrap="square" lIns="0" tIns="0" rIns="0" bIns="0" rtlCol="0" anchor="t"/>
          <a:lstStyle/>
          <a:p>
            <a:pPr indent="0" marL="0">
              <a:buNone/>
            </a:pPr>
            <a:r>
              <a:rPr lang="en-US" sz="3700" dirty="0">
                <a:solidFill>
                  <a:srgbClr val="E4E4E4"/>
                </a:solidFill>
                <a:latin typeface="Open Sauce" pitchFamily="34" charset="0"/>
                <a:ea typeface="Open Sauce" pitchFamily="34" charset="-122"/>
                <a:cs typeface="Open Sauce" pitchFamily="34" charset="-120"/>
              </a:rPr>
              <a:t>STOP THE SCAM BEFORE THE CONFIRM SCREEN</a:t>
            </a:r>
            <a:endParaRPr lang="en-US" sz="3700" dirty="0"/>
          </a:p>
        </p:txBody>
      </p:sp>
      <p:sp>
        <p:nvSpPr>
          <p:cNvPr id="7" name="Text 5"/>
          <p:cNvSpPr txBox="1"/>
          <p:nvPr/>
        </p:nvSpPr>
        <p:spPr>
          <a:xfrm>
            <a:off x="1097280" y="7543800"/>
            <a:ext cx="8686800" cy="1097280"/>
          </a:xfrm>
          <a:prstGeom prst="rect">
            <a:avLst/>
          </a:prstGeom>
          <a:noFill/>
          <a:ln/>
        </p:spPr>
        <p:txBody>
          <a:bodyPr wrap="square" lIns="0" tIns="0" rIns="0" bIns="0" rtlCol="0" anchor="t"/>
          <a:lstStyle/>
          <a:p>
            <a:pPr indent="0" marL="0">
              <a:buNone/>
            </a:pPr>
            <a:r>
              <a:rPr lang="en-US" sz="2100" dirty="0">
                <a:solidFill>
                  <a:srgbClr val="A8A8A8"/>
                </a:solidFill>
                <a:latin typeface="Open Sauce" pitchFamily="34" charset="0"/>
                <a:ea typeface="Open Sauce" pitchFamily="34" charset="-122"/>
                <a:cs typeface="Open Sauce" pitchFamily="34" charset="-120"/>
              </a:rPr>
              <a:t>Autonomous AI scam-interception and mule-network intelligence for Bangladesh's 239.3 million mobile financial services wallets.</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13295376" y="457200"/>
            <a:ext cx="3895344" cy="457200"/>
          </a:xfrm>
          <a:prstGeom prst="roundRect">
            <a:avLst>
              <a:gd name="adj" fmla="val 50000"/>
            </a:avLst>
          </a:prstGeom>
          <a:solidFill>
            <a:srgbClr val="FFFFFF"/>
          </a:solidFill>
          <a:ln w="12700">
            <a:solidFill>
              <a:srgbClr val="FFFFFF"/>
            </a:solidFill>
            <a:prstDash val="solid"/>
          </a:ln>
        </p:spPr>
      </p:sp>
      <p:sp>
        <p:nvSpPr>
          <p:cNvPr id="3" name="Text 1"/>
          <p:cNvSpPr txBox="1"/>
          <p:nvPr/>
        </p:nvSpPr>
        <p:spPr>
          <a:xfrm>
            <a:off x="13295376" y="457200"/>
            <a:ext cx="3895344" cy="457200"/>
          </a:xfrm>
          <a:prstGeom prst="rect">
            <a:avLst/>
          </a:prstGeom>
          <a:noFill/>
          <a:ln/>
        </p:spPr>
        <p:txBody>
          <a:bodyPr wrap="square" lIns="0" tIns="0" rIns="0" bIns="0" rtlCol="0" anchor="ctr"/>
          <a:lstStyle/>
          <a:p>
            <a:pPr algn="ctr" indent="0" marL="0">
              <a:buNone/>
            </a:pPr>
            <a:r>
              <a:rPr lang="en-US" sz="1700" dirty="0">
                <a:solidFill>
                  <a:srgbClr val="000000"/>
                </a:solidFill>
                <a:latin typeface="Open Sauce" pitchFamily="34" charset="0"/>
                <a:ea typeface="Open Sauce" pitchFamily="34" charset="-122"/>
                <a:cs typeface="Open Sauce" pitchFamily="34" charset="-120"/>
              </a:rPr>
              <a:t>EXECUTIVE PROPOSITION</a:t>
            </a:r>
            <a:endParaRPr lang="en-US" sz="1700" dirty="0"/>
          </a:p>
        </p:txBody>
      </p:sp>
      <p:sp>
        <p:nvSpPr>
          <p:cNvPr id="4" name="Title"/>
          <p:cNvSpPr txBox="1"/>
          <p:nvPr/>
        </p:nvSpPr>
        <p:spPr>
          <a:xfrm>
            <a:off x="1097280" y="1188720"/>
            <a:ext cx="16093440" cy="1005840"/>
          </a:xfrm>
          <a:prstGeom prst="rect">
            <a:avLst/>
          </a:prstGeom>
          <a:noFill/>
          <a:ln/>
        </p:spPr>
        <p:txBody>
          <a:bodyPr wrap="square" lIns="0" tIns="0" rIns="0" bIns="0" rtlCol="0" anchor="t"/>
          <a:lstStyle/>
          <a:p>
            <a:pPr indent="0" marL="0">
              <a:buNone/>
            </a:pPr>
            <a:r>
              <a:rPr lang="en-US" sz="3800" b="1" dirty="0">
                <a:solidFill>
                  <a:srgbClr val="E4E4E4"/>
                </a:solidFill>
                <a:latin typeface="Open Sauce Bold" pitchFamily="34" charset="0"/>
                <a:ea typeface="Open Sauce Bold" pitchFamily="34" charset="-122"/>
                <a:cs typeface="Open Sauce Bold" pitchFamily="34" charset="-120"/>
              </a:rPr>
              <a:t>Stop the scam before the confirm screen</a:t>
            </a:r>
            <a:endParaRPr lang="en-US" sz="3800" dirty="0"/>
          </a:p>
        </p:txBody>
      </p:sp>
      <p:sp>
        <p:nvSpPr>
          <p:cNvPr id="5" name="Subtitle"/>
          <p:cNvSpPr txBox="1"/>
          <p:nvPr/>
        </p:nvSpPr>
        <p:spPr>
          <a:xfrm>
            <a:off x="1097280" y="2286000"/>
            <a:ext cx="16093440" cy="868680"/>
          </a:xfrm>
          <a:prstGeom prst="rect">
            <a:avLst/>
          </a:prstGeom>
          <a:noFill/>
          <a:ln/>
        </p:spPr>
        <p:txBody>
          <a:bodyPr wrap="square" lIns="0" tIns="0" rIns="0" bIns="0" rtlCol="0" anchor="t"/>
          <a:lstStyle/>
          <a:p>
            <a:pPr indent="0" marL="0">
              <a:buNone/>
            </a:pPr>
            <a:r>
              <a:rPr lang="en-US" sz="2100" dirty="0">
                <a:solidFill>
                  <a:srgbClr val="A8A8A8"/>
                </a:solidFill>
                <a:latin typeface="Open Sauce" pitchFamily="34" charset="0"/>
                <a:ea typeface="Open Sauce" pitchFamily="34" charset="-122"/>
                <a:cs typeface="Open Sauce" pitchFamily="34" charset="-120"/>
              </a:rPr>
              <a:t>Five outcomes, measured on a ৳120M monthly pilot volume over Year 1.</a:t>
            </a:r>
            <a:endParaRPr lang="en-US" sz="2100" dirty="0"/>
          </a:p>
        </p:txBody>
      </p:sp>
      <p:sp>
        <p:nvSpPr>
          <p:cNvPr id="7" name="Text 4"/>
          <p:cNvSpPr txBox="1"/>
          <p:nvPr/>
        </p:nvSpPr>
        <p:spPr>
          <a:xfrm>
            <a:off x="1097280" y="3520440"/>
            <a:ext cx="16093440" cy="320040"/>
          </a:xfrm>
          <a:prstGeom prst="rect">
            <a:avLst/>
          </a:prstGeom>
          <a:noFill/>
          <a:ln/>
        </p:spPr>
        <p:txBody>
          <a:bodyPr wrap="square" lIns="0" tIns="0" rIns="0" bIns="0" rtlCol="0" anchor="t"/>
          <a:lstStyle/>
          <a:p>
            <a:pPr indent="0" marL="0">
              <a:buNone/>
            </a:pPr>
            <a:r>
              <a:rPr lang="en-US" sz="1600" b="1" dirty="0">
                <a:solidFill>
                  <a:srgbClr val="F7761F"/>
                </a:solidFill>
                <a:latin typeface="Open Sauce" pitchFamily="34" charset="0"/>
                <a:ea typeface="Open Sauce" pitchFamily="34" charset="-122"/>
                <a:cs typeface="Open Sauce" pitchFamily="34" charset="-120"/>
              </a:rPr>
              <a:t>PILOT OUTCOMES · ৳120M MONTHLY VOLUME · YEAR 1</a:t>
            </a:r>
            <a:endParaRPr lang="en-US" sz="1600" dirty="0"/>
          </a:p>
        </p:txBody>
      </p:sp>
      <p:sp>
        <p:nvSpPr>
          <p:cNvPr id="8" name="Shape 5"/>
          <p:cNvSpPr/>
          <p:nvPr/>
        </p:nvSpPr>
        <p:spPr>
          <a:xfrm>
            <a:off x="1097280" y="3977640"/>
            <a:ext cx="3035808" cy="2651760"/>
          </a:xfrm>
          <a:prstGeom prst="roundRect">
            <a:avLst>
              <a:gd name="adj" fmla="val 7586"/>
            </a:avLst>
          </a:prstGeom>
          <a:solidFill>
            <a:srgbClr val="1E1E1E"/>
          </a:solidFill>
          <a:ln w="12700">
            <a:solidFill>
              <a:srgbClr val="1E1E1E"/>
            </a:solidFill>
            <a:prstDash val="solid"/>
          </a:ln>
        </p:spPr>
      </p:sp>
      <p:sp>
        <p:nvSpPr>
          <p:cNvPr id="9" name="Text 6"/>
          <p:cNvSpPr txBox="1"/>
          <p:nvPr/>
        </p:nvSpPr>
        <p:spPr>
          <a:xfrm>
            <a:off x="1371600" y="4251960"/>
            <a:ext cx="2487168" cy="1097280"/>
          </a:xfrm>
          <a:prstGeom prst="rect">
            <a:avLst/>
          </a:prstGeom>
          <a:noFill/>
          <a:ln/>
        </p:spPr>
        <p:txBody>
          <a:bodyPr wrap="square" lIns="0" tIns="0" rIns="0" bIns="0" rtlCol="0" anchor="ctr"/>
          <a:lstStyle/>
          <a:p>
            <a:pPr indent="0" marL="0">
              <a:buNone/>
            </a:pPr>
            <a:r>
              <a:rPr lang="en-US" sz="5100" b="1" dirty="0">
                <a:solidFill>
                  <a:srgbClr val="F7761F"/>
                </a:solidFill>
                <a:latin typeface="Open Sauce Bold" pitchFamily="34" charset="0"/>
                <a:ea typeface="Open Sauce Bold" pitchFamily="34" charset="-122"/>
                <a:cs typeface="Open Sauce Bold" pitchFamily="34" charset="-120"/>
              </a:rPr>
              <a:t>84.6%</a:t>
            </a:r>
            <a:endParaRPr lang="en-US" sz="5100" dirty="0"/>
          </a:p>
        </p:txBody>
      </p:sp>
      <p:sp>
        <p:nvSpPr>
          <p:cNvPr id="10" name="Text 7"/>
          <p:cNvSpPr txBox="1"/>
          <p:nvPr/>
        </p:nvSpPr>
        <p:spPr>
          <a:xfrm>
            <a:off x="1371600" y="5486400"/>
            <a:ext cx="2487168" cy="914400"/>
          </a:xfrm>
          <a:prstGeom prst="rect">
            <a:avLst/>
          </a:prstGeom>
          <a:noFill/>
          <a:ln/>
        </p:spPr>
        <p:txBody>
          <a:bodyPr wrap="square" lIns="0" tIns="0" rIns="0" bIns="0" rtlCol="0" anchor="t"/>
          <a:lstStyle/>
          <a:p>
            <a:pPr indent="0" marL="0">
              <a:buNone/>
            </a:pPr>
            <a:r>
              <a:rPr lang="en-US" sz="2100" dirty="0">
                <a:solidFill>
                  <a:srgbClr val="E4E4E4"/>
                </a:solidFill>
                <a:latin typeface="Open Sauce" pitchFamily="34" charset="0"/>
                <a:ea typeface="Open Sauce" pitchFamily="34" charset="-122"/>
                <a:cs typeface="Open Sauce" pitchFamily="34" charset="-120"/>
              </a:rPr>
              <a:t>Reduction in net fraud losses</a:t>
            </a:r>
            <a:endParaRPr lang="en-US" sz="2100" dirty="0"/>
          </a:p>
        </p:txBody>
      </p:sp>
      <p:sp>
        <p:nvSpPr>
          <p:cNvPr id="11" name="Shape 8"/>
          <p:cNvSpPr/>
          <p:nvPr/>
        </p:nvSpPr>
        <p:spPr>
          <a:xfrm>
            <a:off x="4361688" y="3977640"/>
            <a:ext cx="3035808" cy="2651760"/>
          </a:xfrm>
          <a:prstGeom prst="roundRect">
            <a:avLst>
              <a:gd name="adj" fmla="val 7586"/>
            </a:avLst>
          </a:prstGeom>
          <a:solidFill>
            <a:srgbClr val="1E1E1E"/>
          </a:solidFill>
          <a:ln w="12700">
            <a:solidFill>
              <a:srgbClr val="1E1E1E"/>
            </a:solidFill>
            <a:prstDash val="solid"/>
          </a:ln>
        </p:spPr>
      </p:sp>
      <p:sp>
        <p:nvSpPr>
          <p:cNvPr id="12" name="Text 9"/>
          <p:cNvSpPr txBox="1"/>
          <p:nvPr/>
        </p:nvSpPr>
        <p:spPr>
          <a:xfrm>
            <a:off x="4636008" y="4251960"/>
            <a:ext cx="2487168" cy="1097280"/>
          </a:xfrm>
          <a:prstGeom prst="rect">
            <a:avLst/>
          </a:prstGeom>
          <a:noFill/>
          <a:ln/>
        </p:spPr>
        <p:txBody>
          <a:bodyPr wrap="square" lIns="0" tIns="0" rIns="0" bIns="0" rtlCol="0" anchor="ctr"/>
          <a:lstStyle/>
          <a:p>
            <a:pPr indent="0" marL="0">
              <a:buNone/>
            </a:pPr>
            <a:r>
              <a:rPr lang="en-US" sz="5100" b="1" dirty="0">
                <a:solidFill>
                  <a:srgbClr val="F7761F"/>
                </a:solidFill>
                <a:latin typeface="Open Sauce Bold" pitchFamily="34" charset="0"/>
                <a:ea typeface="Open Sauce Bold" pitchFamily="34" charset="-122"/>
                <a:cs typeface="Open Sauce Bold" pitchFamily="34" charset="-120"/>
              </a:rPr>
              <a:t>৳42.6M</a:t>
            </a:r>
            <a:endParaRPr lang="en-US" sz="5100" dirty="0"/>
          </a:p>
        </p:txBody>
      </p:sp>
      <p:sp>
        <p:nvSpPr>
          <p:cNvPr id="13" name="Text 10"/>
          <p:cNvSpPr txBox="1"/>
          <p:nvPr/>
        </p:nvSpPr>
        <p:spPr>
          <a:xfrm>
            <a:off x="4636008" y="5486400"/>
            <a:ext cx="2487168" cy="914400"/>
          </a:xfrm>
          <a:prstGeom prst="rect">
            <a:avLst/>
          </a:prstGeom>
          <a:noFill/>
          <a:ln/>
        </p:spPr>
        <p:txBody>
          <a:bodyPr wrap="square" lIns="0" tIns="0" rIns="0" bIns="0" rtlCol="0" anchor="t"/>
          <a:lstStyle/>
          <a:p>
            <a:pPr indent="0" marL="0">
              <a:buNone/>
            </a:pPr>
            <a:r>
              <a:rPr lang="en-US" sz="2100" dirty="0">
                <a:solidFill>
                  <a:srgbClr val="E4E4E4"/>
                </a:solidFill>
                <a:latin typeface="Open Sauce" pitchFamily="34" charset="0"/>
                <a:ea typeface="Open Sauce" pitchFamily="34" charset="-122"/>
                <a:cs typeface="Open Sauce" pitchFamily="34" charset="-120"/>
              </a:rPr>
              <a:t>Capital preserved per year</a:t>
            </a:r>
            <a:endParaRPr lang="en-US" sz="2100" dirty="0"/>
          </a:p>
        </p:txBody>
      </p:sp>
      <p:sp>
        <p:nvSpPr>
          <p:cNvPr id="14" name="Shape 11"/>
          <p:cNvSpPr/>
          <p:nvPr/>
        </p:nvSpPr>
        <p:spPr>
          <a:xfrm>
            <a:off x="7626096" y="3977640"/>
            <a:ext cx="3035808" cy="2651760"/>
          </a:xfrm>
          <a:prstGeom prst="roundRect">
            <a:avLst>
              <a:gd name="adj" fmla="val 7586"/>
            </a:avLst>
          </a:prstGeom>
          <a:solidFill>
            <a:srgbClr val="1E1E1E"/>
          </a:solidFill>
          <a:ln w="12700">
            <a:solidFill>
              <a:srgbClr val="1E1E1E"/>
            </a:solidFill>
            <a:prstDash val="solid"/>
          </a:ln>
        </p:spPr>
      </p:sp>
      <p:sp>
        <p:nvSpPr>
          <p:cNvPr id="15" name="Text 12"/>
          <p:cNvSpPr txBox="1"/>
          <p:nvPr/>
        </p:nvSpPr>
        <p:spPr>
          <a:xfrm>
            <a:off x="7900416" y="4251960"/>
            <a:ext cx="2487168" cy="1097280"/>
          </a:xfrm>
          <a:prstGeom prst="rect">
            <a:avLst/>
          </a:prstGeom>
          <a:noFill/>
          <a:ln/>
        </p:spPr>
        <p:txBody>
          <a:bodyPr wrap="square" lIns="0" tIns="0" rIns="0" bIns="0" rtlCol="0" anchor="ctr"/>
          <a:lstStyle/>
          <a:p>
            <a:pPr indent="0" marL="0">
              <a:buNone/>
            </a:pPr>
            <a:r>
              <a:rPr lang="en-US" sz="5100" b="1" dirty="0">
                <a:solidFill>
                  <a:srgbClr val="F7761F"/>
                </a:solidFill>
                <a:latin typeface="Open Sauce Bold" pitchFamily="34" charset="0"/>
                <a:ea typeface="Open Sauce Bold" pitchFamily="34" charset="-122"/>
                <a:cs typeface="Open Sauce Bold" pitchFamily="34" charset="-120"/>
              </a:rPr>
              <a:t>68%</a:t>
            </a:r>
            <a:endParaRPr lang="en-US" sz="5100" dirty="0"/>
          </a:p>
        </p:txBody>
      </p:sp>
      <p:sp>
        <p:nvSpPr>
          <p:cNvPr id="16" name="Text 13"/>
          <p:cNvSpPr txBox="1"/>
          <p:nvPr/>
        </p:nvSpPr>
        <p:spPr>
          <a:xfrm>
            <a:off x="7900416" y="5486400"/>
            <a:ext cx="2487168" cy="914400"/>
          </a:xfrm>
          <a:prstGeom prst="rect">
            <a:avLst/>
          </a:prstGeom>
          <a:noFill/>
          <a:ln/>
        </p:spPr>
        <p:txBody>
          <a:bodyPr wrap="square" lIns="0" tIns="0" rIns="0" bIns="0" rtlCol="0" anchor="t"/>
          <a:lstStyle/>
          <a:p>
            <a:pPr indent="0" marL="0">
              <a:buNone/>
            </a:pPr>
            <a:r>
              <a:rPr lang="en-US" sz="2100" dirty="0">
                <a:solidFill>
                  <a:srgbClr val="E4E4E4"/>
                </a:solidFill>
                <a:latin typeface="Open Sauce" pitchFamily="34" charset="0"/>
                <a:ea typeface="Open Sauce" pitchFamily="34" charset="-122"/>
                <a:cs typeface="Open Sauce" pitchFamily="34" charset="-120"/>
              </a:rPr>
              <a:t>Less triage time (42 → 13.5 min)</a:t>
            </a:r>
            <a:endParaRPr lang="en-US" sz="2100" dirty="0"/>
          </a:p>
        </p:txBody>
      </p:sp>
      <p:sp>
        <p:nvSpPr>
          <p:cNvPr id="17" name="Shape 14"/>
          <p:cNvSpPr/>
          <p:nvPr/>
        </p:nvSpPr>
        <p:spPr>
          <a:xfrm>
            <a:off x="10890504" y="3977640"/>
            <a:ext cx="3035808" cy="2651760"/>
          </a:xfrm>
          <a:prstGeom prst="roundRect">
            <a:avLst>
              <a:gd name="adj" fmla="val 7586"/>
            </a:avLst>
          </a:prstGeom>
          <a:solidFill>
            <a:srgbClr val="1E1E1E"/>
          </a:solidFill>
          <a:ln w="12700">
            <a:solidFill>
              <a:srgbClr val="1E1E1E"/>
            </a:solidFill>
            <a:prstDash val="solid"/>
          </a:ln>
        </p:spPr>
      </p:sp>
      <p:sp>
        <p:nvSpPr>
          <p:cNvPr id="18" name="Text 15"/>
          <p:cNvSpPr txBox="1"/>
          <p:nvPr/>
        </p:nvSpPr>
        <p:spPr>
          <a:xfrm>
            <a:off x="11164824" y="4251960"/>
            <a:ext cx="2487168" cy="1097280"/>
          </a:xfrm>
          <a:prstGeom prst="rect">
            <a:avLst/>
          </a:prstGeom>
          <a:noFill/>
          <a:ln/>
        </p:spPr>
        <p:txBody>
          <a:bodyPr wrap="square" lIns="0" tIns="0" rIns="0" bIns="0" rtlCol="0" anchor="ctr"/>
          <a:lstStyle/>
          <a:p>
            <a:pPr indent="0" marL="0">
              <a:buNone/>
            </a:pPr>
            <a:r>
              <a:rPr lang="en-US" sz="5100" b="1" dirty="0">
                <a:solidFill>
                  <a:srgbClr val="F7761F"/>
                </a:solidFill>
                <a:latin typeface="Open Sauce Bold" pitchFamily="34" charset="0"/>
                <a:ea typeface="Open Sauce Bold" pitchFamily="34" charset="-122"/>
                <a:cs typeface="Open Sauce Bold" pitchFamily="34" charset="-120"/>
              </a:rPr>
              <a:t>94%</a:t>
            </a:r>
            <a:endParaRPr lang="en-US" sz="5100" dirty="0"/>
          </a:p>
        </p:txBody>
      </p:sp>
      <p:sp>
        <p:nvSpPr>
          <p:cNvPr id="19" name="Text 16"/>
          <p:cNvSpPr txBox="1"/>
          <p:nvPr/>
        </p:nvSpPr>
        <p:spPr>
          <a:xfrm>
            <a:off x="11164824" y="5486400"/>
            <a:ext cx="2487168" cy="914400"/>
          </a:xfrm>
          <a:prstGeom prst="rect">
            <a:avLst/>
          </a:prstGeom>
          <a:noFill/>
          <a:ln/>
        </p:spPr>
        <p:txBody>
          <a:bodyPr wrap="square" lIns="0" tIns="0" rIns="0" bIns="0" rtlCol="0" anchor="t"/>
          <a:lstStyle/>
          <a:p>
            <a:pPr indent="0" marL="0">
              <a:buNone/>
            </a:pPr>
            <a:r>
              <a:rPr lang="en-US" sz="2100" dirty="0">
                <a:solidFill>
                  <a:srgbClr val="E4E4E4"/>
                </a:solidFill>
                <a:latin typeface="Open Sauce" pitchFamily="34" charset="0"/>
                <a:ea typeface="Open Sauce" pitchFamily="34" charset="-122"/>
                <a:cs typeface="Open Sauce" pitchFamily="34" charset="-120"/>
              </a:rPr>
              <a:t>Fewer false agent lockouts at Eid</a:t>
            </a:r>
            <a:endParaRPr lang="en-US" sz="2100" dirty="0"/>
          </a:p>
        </p:txBody>
      </p:sp>
      <p:sp>
        <p:nvSpPr>
          <p:cNvPr id="20" name="Shape 17"/>
          <p:cNvSpPr/>
          <p:nvPr/>
        </p:nvSpPr>
        <p:spPr>
          <a:xfrm>
            <a:off x="14154912" y="3977640"/>
            <a:ext cx="3035808" cy="2651760"/>
          </a:xfrm>
          <a:prstGeom prst="roundRect">
            <a:avLst>
              <a:gd name="adj" fmla="val 7586"/>
            </a:avLst>
          </a:prstGeom>
          <a:solidFill>
            <a:srgbClr val="1E1E1E"/>
          </a:solidFill>
          <a:ln w="12700">
            <a:solidFill>
              <a:srgbClr val="1E1E1E"/>
            </a:solidFill>
            <a:prstDash val="solid"/>
          </a:ln>
        </p:spPr>
      </p:sp>
      <p:sp>
        <p:nvSpPr>
          <p:cNvPr id="21" name="Text 18"/>
          <p:cNvSpPr txBox="1"/>
          <p:nvPr/>
        </p:nvSpPr>
        <p:spPr>
          <a:xfrm>
            <a:off x="14429232" y="4251960"/>
            <a:ext cx="2487168" cy="1097280"/>
          </a:xfrm>
          <a:prstGeom prst="rect">
            <a:avLst/>
          </a:prstGeom>
          <a:noFill/>
          <a:ln/>
        </p:spPr>
        <p:txBody>
          <a:bodyPr wrap="square" lIns="0" tIns="0" rIns="0" bIns="0" rtlCol="0" anchor="ctr"/>
          <a:lstStyle/>
          <a:p>
            <a:pPr indent="0" marL="0">
              <a:buNone/>
            </a:pPr>
            <a:r>
              <a:rPr lang="en-US" sz="5100" b="1" dirty="0">
                <a:solidFill>
                  <a:srgbClr val="F7761F"/>
                </a:solidFill>
                <a:latin typeface="Open Sauce Bold" pitchFamily="34" charset="0"/>
                <a:ea typeface="Open Sauce Bold" pitchFamily="34" charset="-122"/>
                <a:cs typeface="Open Sauce Bold" pitchFamily="34" charset="-120"/>
              </a:rPr>
              <a:t>8.4x</a:t>
            </a:r>
            <a:endParaRPr lang="en-US" sz="5100" dirty="0"/>
          </a:p>
        </p:txBody>
      </p:sp>
      <p:sp>
        <p:nvSpPr>
          <p:cNvPr id="22" name="Text 19"/>
          <p:cNvSpPr txBox="1"/>
          <p:nvPr/>
        </p:nvSpPr>
        <p:spPr>
          <a:xfrm>
            <a:off x="14429232" y="5486400"/>
            <a:ext cx="2487168" cy="914400"/>
          </a:xfrm>
          <a:prstGeom prst="rect">
            <a:avLst/>
          </a:prstGeom>
          <a:noFill/>
          <a:ln/>
        </p:spPr>
        <p:txBody>
          <a:bodyPr wrap="square" lIns="0" tIns="0" rIns="0" bIns="0" rtlCol="0" anchor="t"/>
          <a:lstStyle/>
          <a:p>
            <a:pPr indent="0" marL="0">
              <a:buNone/>
            </a:pPr>
            <a:r>
              <a:rPr lang="en-US" sz="2100" dirty="0">
                <a:solidFill>
                  <a:srgbClr val="E4E4E4"/>
                </a:solidFill>
                <a:latin typeface="Open Sauce" pitchFamily="34" charset="0"/>
                <a:ea typeface="Open Sauce" pitchFamily="34" charset="-122"/>
                <a:cs typeface="Open Sauce" pitchFamily="34" charset="-120"/>
              </a:rPr>
              <a:t>Net Year-1 return on spend</a:t>
            </a:r>
            <a:endParaRPr lang="en-US" sz="2100" dirty="0"/>
          </a:p>
        </p:txBody>
      </p:sp>
      <p:sp>
        <p:nvSpPr>
          <p:cNvPr id="23" name="Shape 20"/>
          <p:cNvSpPr/>
          <p:nvPr/>
        </p:nvSpPr>
        <p:spPr>
          <a:xfrm>
            <a:off x="1097280" y="6858000"/>
            <a:ext cx="16093440" cy="1691640"/>
          </a:xfrm>
          <a:prstGeom prst="roundRect">
            <a:avLst>
              <a:gd name="adj" fmla="val 11892"/>
            </a:avLst>
          </a:prstGeom>
          <a:solidFill>
            <a:srgbClr val="141414"/>
          </a:solidFill>
          <a:ln w="12700">
            <a:solidFill>
              <a:srgbClr val="141414"/>
            </a:solidFill>
            <a:prstDash val="solid"/>
          </a:ln>
        </p:spPr>
      </p:sp>
      <p:sp>
        <p:nvSpPr>
          <p:cNvPr id="24" name="Text 21"/>
          <p:cNvSpPr txBox="1"/>
          <p:nvPr/>
        </p:nvSpPr>
        <p:spPr>
          <a:xfrm>
            <a:off x="1463040" y="7040880"/>
            <a:ext cx="5486400" cy="320040"/>
          </a:xfrm>
          <a:prstGeom prst="rect">
            <a:avLst/>
          </a:prstGeom>
          <a:noFill/>
          <a:ln/>
        </p:spPr>
        <p:txBody>
          <a:bodyPr wrap="square" lIns="0" tIns="0" rIns="0" bIns="0" rtlCol="0" anchor="t"/>
          <a:lstStyle/>
          <a:p>
            <a:pPr indent="0" marL="0">
              <a:buNone/>
            </a:pPr>
            <a:r>
              <a:rPr lang="en-US" sz="1600" b="1" dirty="0">
                <a:solidFill>
                  <a:srgbClr val="F7761F"/>
                </a:solidFill>
                <a:latin typeface="Open Sauce" pitchFamily="34" charset="0"/>
                <a:ea typeface="Open Sauce" pitchFamily="34" charset="-122"/>
                <a:cs typeface="Open Sauce" pitchFamily="34" charset="-120"/>
              </a:rPr>
              <a:t>TARGET MARKET</a:t>
            </a:r>
            <a:endParaRPr lang="en-US" sz="1600" dirty="0"/>
          </a:p>
        </p:txBody>
      </p:sp>
      <p:sp>
        <p:nvSpPr>
          <p:cNvPr id="25" name="Text 22"/>
          <p:cNvSpPr txBox="1"/>
          <p:nvPr/>
        </p:nvSpPr>
        <p:spPr>
          <a:xfrm>
            <a:off x="1463040" y="7498080"/>
            <a:ext cx="15361920" cy="822960"/>
          </a:xfrm>
          <a:prstGeom prst="rect">
            <a:avLst/>
          </a:prstGeom>
          <a:noFill/>
          <a:ln/>
        </p:spPr>
        <p:txBody>
          <a:bodyPr wrap="square" lIns="0" tIns="0" rIns="0" bIns="0" rtlCol="0" anchor="t"/>
          <a:lstStyle/>
          <a:p>
            <a:pPr indent="0" marL="0">
              <a:buNone/>
            </a:pPr>
            <a:r>
              <a:rPr lang="en-US" sz="3000" dirty="0">
                <a:solidFill>
                  <a:srgbClr val="E4E4E4"/>
                </a:solidFill>
                <a:latin typeface="Open Sauce" pitchFamily="34" charset="0"/>
                <a:ea typeface="Open Sauce" pitchFamily="34" charset="-122"/>
                <a:cs typeface="Open Sauce" pitchFamily="34" charset="-120"/>
              </a:rPr>
              <a:t>upay · bKash · Nagad  —  239.3M registered wallets, Tk 1.5 trillion processed every month</a:t>
            </a:r>
            <a:endParaRPr lang="en-US" sz="3000" dirty="0"/>
          </a:p>
        </p:txBody>
      </p:sp>
      <p:sp>
        <p:nvSpPr>
          <p:cNvPr id="25" name="Slide Number Placeholder 0"/>
          <p:cNvSpPr>
            <a:spLocks noGrp="1"/>
          </p:cNvSpPr>
          <p:nvPr>
            <p:ph type="sldNum" sz="quarter" idx="4294967295"/>
          </p:nvPr>
        </p:nvSpPr>
        <p:spPr>
          <a:xfrm>
            <a:off x="15361920" y="9418320"/>
            <a:ext cx="1828800" cy="320040"/>
          </a:xfrm>
          <a:prstGeom prst="rect">
            <a:avLst/>
          </a:prstGeom>
          <a:extLst>
            <a:ext uri="{C572A759-6A51-4108-AA02-DFA0A04FC94B}">
              <ma14:wrappingTextBoxFlag xmlns:ma14="http://schemas.microsoft.com/office/mac/drawingml/2011/main" val="0"/>
            </a:ext>
          </a:extLst>
        </p:spPr>
        <p:txBody>
          <a:bodyPr/>
          <a:lstStyle>
            <a:lvl1pPr>
              <a:defRPr sz="1600">
                <a:solidFill>
                  <a:srgbClr val="A8A8A8"/>
                </a:solidFill>
                <a:latin typeface="Open Sauce"/>
                <a:ea typeface="Open Sauce"/>
                <a:cs typeface="Open Sauce"/>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13295376" y="457200"/>
            <a:ext cx="3895344" cy="457200"/>
          </a:xfrm>
          <a:prstGeom prst="roundRect">
            <a:avLst>
              <a:gd name="adj" fmla="val 50000"/>
            </a:avLst>
          </a:prstGeom>
          <a:solidFill>
            <a:srgbClr val="FFFFFF"/>
          </a:solidFill>
          <a:ln w="12700">
            <a:solidFill>
              <a:srgbClr val="FFFFFF"/>
            </a:solidFill>
            <a:prstDash val="solid"/>
          </a:ln>
        </p:spPr>
      </p:sp>
      <p:sp>
        <p:nvSpPr>
          <p:cNvPr id="3" name="Text 1"/>
          <p:cNvSpPr txBox="1"/>
          <p:nvPr/>
        </p:nvSpPr>
        <p:spPr>
          <a:xfrm>
            <a:off x="13295376" y="457200"/>
            <a:ext cx="3895344" cy="457200"/>
          </a:xfrm>
          <a:prstGeom prst="rect">
            <a:avLst/>
          </a:prstGeom>
          <a:noFill/>
          <a:ln/>
        </p:spPr>
        <p:txBody>
          <a:bodyPr wrap="square" lIns="0" tIns="0" rIns="0" bIns="0" rtlCol="0" anchor="ctr"/>
          <a:lstStyle/>
          <a:p>
            <a:pPr algn="ctr" indent="0" marL="0">
              <a:buNone/>
            </a:pPr>
            <a:r>
              <a:rPr lang="en-US" sz="1700" dirty="0">
                <a:solidFill>
                  <a:srgbClr val="000000"/>
                </a:solidFill>
                <a:latin typeface="Open Sauce" pitchFamily="34" charset="0"/>
                <a:ea typeface="Open Sauce" pitchFamily="34" charset="-122"/>
                <a:cs typeface="Open Sauce" pitchFamily="34" charset="-120"/>
              </a:rPr>
              <a:t>02 · EXECUTIVE THESIS</a:t>
            </a:r>
            <a:endParaRPr lang="en-US" sz="1700" dirty="0"/>
          </a:p>
        </p:txBody>
      </p:sp>
      <p:sp>
        <p:nvSpPr>
          <p:cNvPr id="4" name="Title"/>
          <p:cNvSpPr txBox="1"/>
          <p:nvPr/>
        </p:nvSpPr>
        <p:spPr>
          <a:xfrm>
            <a:off x="1097280" y="1188720"/>
            <a:ext cx="16093440" cy="1005840"/>
          </a:xfrm>
          <a:prstGeom prst="rect">
            <a:avLst/>
          </a:prstGeom>
          <a:noFill/>
          <a:ln/>
        </p:spPr>
        <p:txBody>
          <a:bodyPr wrap="square" lIns="0" tIns="0" rIns="0" bIns="0" rtlCol="0" anchor="t"/>
          <a:lstStyle/>
          <a:p>
            <a:pPr indent="0" marL="0">
              <a:buNone/>
            </a:pPr>
            <a:r>
              <a:rPr lang="en-US" sz="3800" b="1" dirty="0">
                <a:solidFill>
                  <a:srgbClr val="E4E4E4"/>
                </a:solidFill>
                <a:latin typeface="Open Sauce Bold" pitchFamily="34" charset="0"/>
                <a:ea typeface="Open Sauce Bold" pitchFamily="34" charset="-122"/>
                <a:cs typeface="Open Sauce Bold" pitchFamily="34" charset="-120"/>
              </a:rPr>
              <a:t>Fraud moves in minutes, so defense has to as well</a:t>
            </a:r>
            <a:endParaRPr lang="en-US" sz="3800" dirty="0"/>
          </a:p>
        </p:txBody>
      </p:sp>
      <p:sp>
        <p:nvSpPr>
          <p:cNvPr id="5" name="Subtitle"/>
          <p:cNvSpPr txBox="1"/>
          <p:nvPr/>
        </p:nvSpPr>
        <p:spPr>
          <a:xfrm>
            <a:off x="1097280" y="2286000"/>
            <a:ext cx="16093440" cy="868680"/>
          </a:xfrm>
          <a:prstGeom prst="rect">
            <a:avLst/>
          </a:prstGeom>
          <a:noFill/>
          <a:ln/>
        </p:spPr>
        <p:txBody>
          <a:bodyPr wrap="square" lIns="0" tIns="0" rIns="0" bIns="0" rtlCol="0" anchor="t"/>
          <a:lstStyle/>
          <a:p>
            <a:pPr indent="0" marL="0">
              <a:buNone/>
            </a:pPr>
            <a:r>
              <a:rPr lang="en-US" sz="2100" dirty="0">
                <a:solidFill>
                  <a:srgbClr val="A8A8A8"/>
                </a:solidFill>
                <a:latin typeface="Open Sauce" pitchFamily="34" charset="0"/>
                <a:ea typeface="Open Sauce" pitchFamily="34" charset="-122"/>
                <a:cs typeface="Open Sauce" pitchFamily="34" charset="-120"/>
              </a:rPr>
              <a:t>Social engineering plus multi-hop mule networks defeat account-by-account rules. Shield acts at the moment of persuasion and of laundering.</a:t>
            </a:r>
            <a:endParaRPr lang="en-US" sz="2100" dirty="0"/>
          </a:p>
        </p:txBody>
      </p:sp>
      <p:sp>
        <p:nvSpPr>
          <p:cNvPr id="7" name="Shape 4"/>
          <p:cNvSpPr/>
          <p:nvPr/>
        </p:nvSpPr>
        <p:spPr>
          <a:xfrm>
            <a:off x="1097280" y="3520440"/>
            <a:ext cx="5212080" cy="4160520"/>
          </a:xfrm>
          <a:prstGeom prst="roundRect">
            <a:avLst>
              <a:gd name="adj" fmla="val 4835"/>
            </a:avLst>
          </a:prstGeom>
          <a:solidFill>
            <a:srgbClr val="1E1E1E"/>
          </a:solidFill>
          <a:ln w="12700">
            <a:solidFill>
              <a:srgbClr val="1E1E1E"/>
            </a:solidFill>
            <a:prstDash val="solid"/>
          </a:ln>
        </p:spPr>
      </p:sp>
      <p:sp>
        <p:nvSpPr>
          <p:cNvPr id="8" name="Text 5"/>
          <p:cNvSpPr txBox="1"/>
          <p:nvPr/>
        </p:nvSpPr>
        <p:spPr>
          <a:xfrm>
            <a:off x="1371600" y="3657600"/>
            <a:ext cx="466344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PROBLEM</a:t>
            </a:r>
            <a:endParaRPr lang="en-US" sz="1500" dirty="0"/>
          </a:p>
        </p:txBody>
      </p:sp>
      <p:sp>
        <p:nvSpPr>
          <p:cNvPr id="9" name="Text 6"/>
          <p:cNvSpPr txBox="1"/>
          <p:nvPr/>
        </p:nvSpPr>
        <p:spPr>
          <a:xfrm>
            <a:off x="1371600" y="3977640"/>
            <a:ext cx="4663440" cy="777240"/>
          </a:xfrm>
          <a:prstGeom prst="rect">
            <a:avLst/>
          </a:prstGeom>
          <a:noFill/>
          <a:ln/>
        </p:spPr>
        <p:txBody>
          <a:bodyPr wrap="square" lIns="0" tIns="0" rIns="0" bIns="0" rtlCol="0" anchor="t"/>
          <a:lstStyle/>
          <a:p>
            <a:pPr indent="0" marL="0">
              <a:buNone/>
            </a:pPr>
            <a:r>
              <a:rPr lang="en-US" sz="2200" b="1" dirty="0">
                <a:solidFill>
                  <a:srgbClr val="E4E4E4"/>
                </a:solidFill>
                <a:latin typeface="Open Sauce Bold" pitchFamily="34" charset="0"/>
                <a:ea typeface="Open Sauce Bold" pitchFamily="34" charset="-122"/>
                <a:cs typeface="Open Sauce Bold" pitchFamily="34" charset="-120"/>
              </a:rPr>
              <a:t>Money leaves voluntarily, then vanishes in 12.4 minutes</a:t>
            </a:r>
            <a:endParaRPr lang="en-US" sz="2200" dirty="0"/>
          </a:p>
        </p:txBody>
      </p:sp>
      <p:sp>
        <p:nvSpPr>
          <p:cNvPr id="10" name="Text 7"/>
          <p:cNvSpPr txBox="1"/>
          <p:nvPr/>
        </p:nvSpPr>
        <p:spPr>
          <a:xfrm>
            <a:off x="1371600" y="4800600"/>
            <a:ext cx="4663440" cy="2834640"/>
          </a:xfrm>
          <a:prstGeom prst="rect">
            <a:avLst/>
          </a:prstGeom>
          <a:noFill/>
          <a:ln/>
        </p:spPr>
        <p:txBody>
          <a:bodyPr wrap="square" lIns="0" tIns="0" rIns="0" bIns="0" rtlCol="0" anchor="t"/>
          <a:lstStyle/>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85%+ of fraud is social engineering: fake customer care, authority impersonation, emergency scripts</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Stolen funds split into ৳10k–৳25k batches across 5+ weakly verified proxy accounts</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Victims report in 1–3 days; only ~10.7% is ever recovered</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Static caps lock out honest agents during Eid and salary surges</a:t>
            </a:r>
            <a:endParaRPr lang="en-US" sz="1600" dirty="0"/>
          </a:p>
        </p:txBody>
      </p:sp>
      <p:sp>
        <p:nvSpPr>
          <p:cNvPr id="11" name="Shape 8"/>
          <p:cNvSpPr/>
          <p:nvPr/>
        </p:nvSpPr>
        <p:spPr>
          <a:xfrm>
            <a:off x="6537960" y="3520440"/>
            <a:ext cx="5212080" cy="4160520"/>
          </a:xfrm>
          <a:prstGeom prst="roundRect">
            <a:avLst>
              <a:gd name="adj" fmla="val 4835"/>
            </a:avLst>
          </a:prstGeom>
          <a:solidFill>
            <a:srgbClr val="1E1E1E"/>
          </a:solidFill>
          <a:ln w="12700">
            <a:solidFill>
              <a:srgbClr val="1E1E1E"/>
            </a:solidFill>
            <a:prstDash val="solid"/>
          </a:ln>
        </p:spPr>
      </p:sp>
      <p:sp>
        <p:nvSpPr>
          <p:cNvPr id="12" name="Text 9"/>
          <p:cNvSpPr txBox="1"/>
          <p:nvPr/>
        </p:nvSpPr>
        <p:spPr>
          <a:xfrm>
            <a:off x="6812280" y="3657600"/>
            <a:ext cx="466344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SOLUTION</a:t>
            </a:r>
            <a:endParaRPr lang="en-US" sz="1500" dirty="0"/>
          </a:p>
        </p:txBody>
      </p:sp>
      <p:sp>
        <p:nvSpPr>
          <p:cNvPr id="13" name="Text 10"/>
          <p:cNvSpPr txBox="1"/>
          <p:nvPr/>
        </p:nvSpPr>
        <p:spPr>
          <a:xfrm>
            <a:off x="6812280" y="3977640"/>
            <a:ext cx="4663440" cy="777240"/>
          </a:xfrm>
          <a:prstGeom prst="rect">
            <a:avLst/>
          </a:prstGeom>
          <a:noFill/>
          <a:ln/>
        </p:spPr>
        <p:txBody>
          <a:bodyPr wrap="square" lIns="0" tIns="0" rIns="0" bIns="0" rtlCol="0" anchor="t"/>
          <a:lstStyle/>
          <a:p>
            <a:pPr indent="0" marL="0">
              <a:buNone/>
            </a:pPr>
            <a:r>
              <a:rPr lang="en-US" sz="2200" b="1" dirty="0">
                <a:solidFill>
                  <a:srgbClr val="E4E4E4"/>
                </a:solidFill>
                <a:latin typeface="Open Sauce Bold" pitchFamily="34" charset="0"/>
                <a:ea typeface="Open Sauce Bold" pitchFamily="34" charset="-122"/>
                <a:cs typeface="Open Sauce Bold" pitchFamily="34" charset="-120"/>
              </a:rPr>
              <a:t>A sidecar engine with five defense pillars, under 18 ms</a:t>
            </a:r>
            <a:endParaRPr lang="en-US" sz="2200" dirty="0"/>
          </a:p>
        </p:txBody>
      </p:sp>
      <p:sp>
        <p:nvSpPr>
          <p:cNvPr id="14" name="Text 11"/>
          <p:cNvSpPr txBox="1"/>
          <p:nvPr/>
        </p:nvSpPr>
        <p:spPr>
          <a:xfrm>
            <a:off x="6812280" y="4800600"/>
            <a:ext cx="4663440" cy="2834640"/>
          </a:xfrm>
          <a:prstGeom prst="rect">
            <a:avLst/>
          </a:prstGeom>
          <a:noFill/>
          <a:ln/>
        </p:spPr>
        <p:txBody>
          <a:bodyPr wrap="square" lIns="0" tIns="0" rIns="0" bIns="0" rtlCol="0" anchor="t"/>
          <a:lstStyle/>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Pre-transfer NLP reads Bangla and Banglish scam scripts and pauses the transfer</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FastTree clusters mule rings in under 5 ms</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Dual-score Agent Guard separates surge from complicity</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Golden-hour optimizer routes freezes by time-decay</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Fact-verified copilot and a SHA-256 audit ledger</a:t>
            </a:r>
            <a:endParaRPr lang="en-US" sz="1600" dirty="0"/>
          </a:p>
        </p:txBody>
      </p:sp>
      <p:sp>
        <p:nvSpPr>
          <p:cNvPr id="15" name="Shape 12"/>
          <p:cNvSpPr/>
          <p:nvPr/>
        </p:nvSpPr>
        <p:spPr>
          <a:xfrm>
            <a:off x="11978640" y="3520440"/>
            <a:ext cx="5212080" cy="4160520"/>
          </a:xfrm>
          <a:prstGeom prst="roundRect">
            <a:avLst>
              <a:gd name="adj" fmla="val 4835"/>
            </a:avLst>
          </a:prstGeom>
          <a:solidFill>
            <a:srgbClr val="1E1E1E"/>
          </a:solidFill>
          <a:ln w="12700">
            <a:solidFill>
              <a:srgbClr val="1E1E1E"/>
            </a:solidFill>
            <a:prstDash val="solid"/>
          </a:ln>
        </p:spPr>
      </p:sp>
      <p:sp>
        <p:nvSpPr>
          <p:cNvPr id="16" name="Text 13"/>
          <p:cNvSpPr txBox="1"/>
          <p:nvPr/>
        </p:nvSpPr>
        <p:spPr>
          <a:xfrm>
            <a:off x="12252960" y="3657600"/>
            <a:ext cx="466344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IMPACT</a:t>
            </a:r>
            <a:endParaRPr lang="en-US" sz="1500" dirty="0"/>
          </a:p>
        </p:txBody>
      </p:sp>
      <p:sp>
        <p:nvSpPr>
          <p:cNvPr id="17" name="Text 14"/>
          <p:cNvSpPr txBox="1"/>
          <p:nvPr/>
        </p:nvSpPr>
        <p:spPr>
          <a:xfrm>
            <a:off x="12252960" y="3977640"/>
            <a:ext cx="4663440" cy="777240"/>
          </a:xfrm>
          <a:prstGeom prst="rect">
            <a:avLst/>
          </a:prstGeom>
          <a:noFill/>
          <a:ln/>
        </p:spPr>
        <p:txBody>
          <a:bodyPr wrap="square" lIns="0" tIns="0" rIns="0" bIns="0" rtlCol="0" anchor="t"/>
          <a:lstStyle/>
          <a:p>
            <a:pPr indent="0" marL="0">
              <a:buNone/>
            </a:pPr>
            <a:r>
              <a:rPr lang="en-US" sz="2200" b="1" dirty="0">
                <a:solidFill>
                  <a:srgbClr val="E4E4E4"/>
                </a:solidFill>
                <a:latin typeface="Open Sauce Bold" pitchFamily="34" charset="0"/>
                <a:ea typeface="Open Sauce Bold" pitchFamily="34" charset="-122"/>
                <a:cs typeface="Open Sauce Bold" pitchFamily="34" charset="-120"/>
              </a:rPr>
              <a:t>Fewer losses, faster analysts, more trust</a:t>
            </a:r>
            <a:endParaRPr lang="en-US" sz="2200" dirty="0"/>
          </a:p>
        </p:txBody>
      </p:sp>
      <p:sp>
        <p:nvSpPr>
          <p:cNvPr id="18" name="Text 15"/>
          <p:cNvSpPr txBox="1"/>
          <p:nvPr/>
        </p:nvSpPr>
        <p:spPr>
          <a:xfrm>
            <a:off x="12252960" y="4800600"/>
            <a:ext cx="4663440" cy="2834640"/>
          </a:xfrm>
          <a:prstGeom prst="rect">
            <a:avLst/>
          </a:prstGeom>
          <a:noFill/>
          <a:ln/>
        </p:spPr>
        <p:txBody>
          <a:bodyPr wrap="square" lIns="0" tIns="0" rIns="0" bIns="0" rtlCol="0" anchor="t"/>
          <a:lstStyle/>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Net fraud losses down 84.6%; ৳42,638,400 preserved per year on the pilot</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Recovery 71.4% against a 10.7% national baseline (6.6x)</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Triage time down 68%: 42 to 13.5 minutes per case</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৳14.2M customer lifetime value saved through Safety Mode</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Net Year-1 ROI of 8.4x</a:t>
            </a:r>
            <a:endParaRPr lang="en-US" sz="1600" dirty="0"/>
          </a:p>
        </p:txBody>
      </p:sp>
      <p:sp>
        <p:nvSpPr>
          <p:cNvPr id="19" name="Shape 16"/>
          <p:cNvSpPr/>
          <p:nvPr/>
        </p:nvSpPr>
        <p:spPr>
          <a:xfrm>
            <a:off x="1097280" y="7818120"/>
            <a:ext cx="3851910" cy="1005840"/>
          </a:xfrm>
          <a:prstGeom prst="roundRect">
            <a:avLst>
              <a:gd name="adj" fmla="val 20000"/>
            </a:avLst>
          </a:prstGeom>
          <a:solidFill>
            <a:srgbClr val="1E1E1E"/>
          </a:solidFill>
          <a:ln w="12700">
            <a:solidFill>
              <a:srgbClr val="1E1E1E"/>
            </a:solidFill>
            <a:prstDash val="solid"/>
          </a:ln>
        </p:spPr>
      </p:sp>
      <p:sp>
        <p:nvSpPr>
          <p:cNvPr id="20" name="Text 17"/>
          <p:cNvSpPr txBox="1"/>
          <p:nvPr/>
        </p:nvSpPr>
        <p:spPr>
          <a:xfrm>
            <a:off x="137160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239.3M</a:t>
            </a:r>
            <a:endParaRPr lang="en-US" sz="3500" dirty="0"/>
          </a:p>
        </p:txBody>
      </p:sp>
      <p:sp>
        <p:nvSpPr>
          <p:cNvPr id="21" name="Text 18"/>
          <p:cNvSpPr txBox="1"/>
          <p:nvPr/>
        </p:nvSpPr>
        <p:spPr>
          <a:xfrm>
            <a:off x="137160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Registered MFS wallets in scope</a:t>
            </a:r>
            <a:endParaRPr lang="en-US" sz="1400" dirty="0"/>
          </a:p>
        </p:txBody>
      </p:sp>
      <p:sp>
        <p:nvSpPr>
          <p:cNvPr id="22" name="Shape 19"/>
          <p:cNvSpPr/>
          <p:nvPr/>
        </p:nvSpPr>
        <p:spPr>
          <a:xfrm>
            <a:off x="5177790" y="7818120"/>
            <a:ext cx="3851910" cy="1005840"/>
          </a:xfrm>
          <a:prstGeom prst="roundRect">
            <a:avLst>
              <a:gd name="adj" fmla="val 20000"/>
            </a:avLst>
          </a:prstGeom>
          <a:solidFill>
            <a:srgbClr val="1E1E1E"/>
          </a:solidFill>
          <a:ln w="12700">
            <a:solidFill>
              <a:srgbClr val="1E1E1E"/>
            </a:solidFill>
            <a:prstDash val="solid"/>
          </a:ln>
        </p:spPr>
      </p:sp>
      <p:sp>
        <p:nvSpPr>
          <p:cNvPr id="23" name="Text 20"/>
          <p:cNvSpPr txBox="1"/>
          <p:nvPr/>
        </p:nvSpPr>
        <p:spPr>
          <a:xfrm>
            <a:off x="545211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৳1.5T</a:t>
            </a:r>
            <a:endParaRPr lang="en-US" sz="3500" dirty="0"/>
          </a:p>
        </p:txBody>
      </p:sp>
      <p:sp>
        <p:nvSpPr>
          <p:cNvPr id="24" name="Text 21"/>
          <p:cNvSpPr txBox="1"/>
          <p:nvPr/>
        </p:nvSpPr>
        <p:spPr>
          <a:xfrm>
            <a:off x="545211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Processed monthly across ecosystem</a:t>
            </a:r>
            <a:endParaRPr lang="en-US" sz="1400" dirty="0"/>
          </a:p>
        </p:txBody>
      </p:sp>
      <p:sp>
        <p:nvSpPr>
          <p:cNvPr id="25" name="Shape 22"/>
          <p:cNvSpPr/>
          <p:nvPr/>
        </p:nvSpPr>
        <p:spPr>
          <a:xfrm>
            <a:off x="9258300" y="7818120"/>
            <a:ext cx="3851910" cy="1005840"/>
          </a:xfrm>
          <a:prstGeom prst="roundRect">
            <a:avLst>
              <a:gd name="adj" fmla="val 20000"/>
            </a:avLst>
          </a:prstGeom>
          <a:solidFill>
            <a:srgbClr val="1E1E1E"/>
          </a:solidFill>
          <a:ln w="12700">
            <a:solidFill>
              <a:srgbClr val="1E1E1E"/>
            </a:solidFill>
            <a:prstDash val="solid"/>
          </a:ln>
        </p:spPr>
      </p:sp>
      <p:sp>
        <p:nvSpPr>
          <p:cNvPr id="26" name="Text 23"/>
          <p:cNvSpPr txBox="1"/>
          <p:nvPr/>
        </p:nvSpPr>
        <p:spPr>
          <a:xfrm>
            <a:off x="953262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12.4 min</a:t>
            </a:r>
            <a:endParaRPr lang="en-US" sz="3500" dirty="0"/>
          </a:p>
        </p:txBody>
      </p:sp>
      <p:sp>
        <p:nvSpPr>
          <p:cNvPr id="27" name="Text 24"/>
          <p:cNvSpPr txBox="1"/>
          <p:nvPr/>
        </p:nvSpPr>
        <p:spPr>
          <a:xfrm>
            <a:off x="953262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Average syndicate cash-out time</a:t>
            </a:r>
            <a:endParaRPr lang="en-US" sz="1400" dirty="0"/>
          </a:p>
        </p:txBody>
      </p:sp>
      <p:sp>
        <p:nvSpPr>
          <p:cNvPr id="28" name="Shape 25"/>
          <p:cNvSpPr/>
          <p:nvPr/>
        </p:nvSpPr>
        <p:spPr>
          <a:xfrm>
            <a:off x="13338810" y="7818120"/>
            <a:ext cx="3851910" cy="1005840"/>
          </a:xfrm>
          <a:prstGeom prst="roundRect">
            <a:avLst>
              <a:gd name="adj" fmla="val 20000"/>
            </a:avLst>
          </a:prstGeom>
          <a:solidFill>
            <a:srgbClr val="1E1E1E"/>
          </a:solidFill>
          <a:ln w="12700">
            <a:solidFill>
              <a:srgbClr val="1E1E1E"/>
            </a:solidFill>
            <a:prstDash val="solid"/>
          </a:ln>
        </p:spPr>
      </p:sp>
      <p:sp>
        <p:nvSpPr>
          <p:cNvPr id="29" name="Text 26"/>
          <p:cNvSpPr txBox="1"/>
          <p:nvPr/>
        </p:nvSpPr>
        <p:spPr>
          <a:xfrm>
            <a:off x="1361313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&lt;18 ms</a:t>
            </a:r>
            <a:endParaRPr lang="en-US" sz="3500" dirty="0"/>
          </a:p>
        </p:txBody>
      </p:sp>
      <p:sp>
        <p:nvSpPr>
          <p:cNvPr id="30" name="Text 27"/>
          <p:cNvSpPr txBox="1"/>
          <p:nvPr/>
        </p:nvSpPr>
        <p:spPr>
          <a:xfrm>
            <a:off x="1361313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End-to-end decision SLA</a:t>
            </a:r>
            <a:endParaRPr lang="en-US" sz="1400" dirty="0"/>
          </a:p>
        </p:txBody>
      </p:sp>
      <p:sp>
        <p:nvSpPr>
          <p:cNvPr id="25" name="Slide Number Placeholder 0"/>
          <p:cNvSpPr>
            <a:spLocks noGrp="1"/>
          </p:cNvSpPr>
          <p:nvPr>
            <p:ph type="sldNum" sz="quarter" idx="4294967295"/>
          </p:nvPr>
        </p:nvSpPr>
        <p:spPr>
          <a:xfrm>
            <a:off x="15361920" y="9418320"/>
            <a:ext cx="1828800" cy="320040"/>
          </a:xfrm>
          <a:prstGeom prst="rect">
            <a:avLst/>
          </a:prstGeom>
          <a:extLst>
            <a:ext uri="{C572A759-6A51-4108-AA02-DFA0A04FC94B}">
              <ma14:wrappingTextBoxFlag xmlns:ma14="http://schemas.microsoft.com/office/mac/drawingml/2011/main" val="0"/>
            </a:ext>
          </a:extLst>
        </p:spPr>
        <p:txBody>
          <a:bodyPr/>
          <a:lstStyle>
            <a:lvl1pPr>
              <a:defRPr sz="1600">
                <a:solidFill>
                  <a:srgbClr val="A8A8A8"/>
                </a:solidFill>
                <a:latin typeface="Open Sauce"/>
                <a:ea typeface="Open Sauce"/>
                <a:cs typeface="Open Sauce"/>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13587984" y="457200"/>
            <a:ext cx="3602736" cy="457200"/>
          </a:xfrm>
          <a:prstGeom prst="roundRect">
            <a:avLst>
              <a:gd name="adj" fmla="val 50000"/>
            </a:avLst>
          </a:prstGeom>
          <a:solidFill>
            <a:srgbClr val="FFFFFF"/>
          </a:solidFill>
          <a:ln w="12700">
            <a:solidFill>
              <a:srgbClr val="FFFFFF"/>
            </a:solidFill>
            <a:prstDash val="solid"/>
          </a:ln>
        </p:spPr>
      </p:sp>
      <p:sp>
        <p:nvSpPr>
          <p:cNvPr id="3" name="Text 1"/>
          <p:cNvSpPr txBox="1"/>
          <p:nvPr/>
        </p:nvSpPr>
        <p:spPr>
          <a:xfrm>
            <a:off x="13587984" y="457200"/>
            <a:ext cx="3602736" cy="457200"/>
          </a:xfrm>
          <a:prstGeom prst="rect">
            <a:avLst/>
          </a:prstGeom>
          <a:noFill/>
          <a:ln/>
        </p:spPr>
        <p:txBody>
          <a:bodyPr wrap="square" lIns="0" tIns="0" rIns="0" bIns="0" rtlCol="0" anchor="ctr"/>
          <a:lstStyle/>
          <a:p>
            <a:pPr algn="ctr" indent="0" marL="0">
              <a:buNone/>
            </a:pPr>
            <a:r>
              <a:rPr lang="en-US" sz="1700" dirty="0">
                <a:solidFill>
                  <a:srgbClr val="000000"/>
                </a:solidFill>
                <a:latin typeface="Open Sauce" pitchFamily="34" charset="0"/>
                <a:ea typeface="Open Sauce" pitchFamily="34" charset="-122"/>
                <a:cs typeface="Open Sauce" pitchFamily="34" charset="-120"/>
              </a:rPr>
              <a:t>03 · THREAT REALITY</a:t>
            </a:r>
            <a:endParaRPr lang="en-US" sz="1700" dirty="0"/>
          </a:p>
        </p:txBody>
      </p:sp>
      <p:sp>
        <p:nvSpPr>
          <p:cNvPr id="4" name="Title"/>
          <p:cNvSpPr txBox="1"/>
          <p:nvPr/>
        </p:nvSpPr>
        <p:spPr>
          <a:xfrm>
            <a:off x="1097280" y="1188720"/>
            <a:ext cx="16093440" cy="1005840"/>
          </a:xfrm>
          <a:prstGeom prst="rect">
            <a:avLst/>
          </a:prstGeom>
          <a:noFill/>
          <a:ln/>
        </p:spPr>
        <p:txBody>
          <a:bodyPr wrap="square" lIns="0" tIns="0" rIns="0" bIns="0" rtlCol="0" anchor="t"/>
          <a:lstStyle/>
          <a:p>
            <a:pPr indent="0" marL="0">
              <a:buNone/>
            </a:pPr>
            <a:r>
              <a:rPr lang="en-US" sz="3800" b="1" dirty="0">
                <a:solidFill>
                  <a:srgbClr val="E4E4E4"/>
                </a:solidFill>
                <a:latin typeface="Open Sauce Bold" pitchFamily="34" charset="0"/>
                <a:ea typeface="Open Sauce Bold" pitchFamily="34" charset="-122"/>
                <a:cs typeface="Open Sauce Bold" pitchFamily="34" charset="-120"/>
              </a:rPr>
              <a:t>Nine in ten stolen taka are never recovered</a:t>
            </a:r>
            <a:endParaRPr lang="en-US" sz="3800" dirty="0"/>
          </a:p>
        </p:txBody>
      </p:sp>
      <p:sp>
        <p:nvSpPr>
          <p:cNvPr id="5" name="Subtitle"/>
          <p:cNvSpPr txBox="1"/>
          <p:nvPr/>
        </p:nvSpPr>
        <p:spPr>
          <a:xfrm>
            <a:off x="1097280" y="2286000"/>
            <a:ext cx="16093440" cy="868680"/>
          </a:xfrm>
          <a:prstGeom prst="rect">
            <a:avLst/>
          </a:prstGeom>
          <a:noFill/>
          <a:ln/>
        </p:spPr>
        <p:txBody>
          <a:bodyPr wrap="square" lIns="0" tIns="0" rIns="0" bIns="0" rtlCol="0" anchor="t"/>
          <a:lstStyle/>
          <a:p>
            <a:pPr indent="0" marL="0">
              <a:buNone/>
            </a:pPr>
            <a:r>
              <a:rPr lang="en-US" sz="2100" dirty="0">
                <a:solidFill>
                  <a:srgbClr val="A8A8A8"/>
                </a:solidFill>
                <a:latin typeface="Open Sauce" pitchFamily="34" charset="0"/>
                <a:ea typeface="Open Sauce" pitchFamily="34" charset="-122"/>
                <a:cs typeface="Open Sauce" pitchFamily="34" charset="-120"/>
              </a:rPr>
              <a:t>National evidence matrix: five independent signals, one conclusion. Fear of fraud is also holding back financial inclusion.</a:t>
            </a:r>
            <a:endParaRPr lang="en-US" sz="2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1097280" y="3520440"/>
          <a:ext cx="16093440" cy="914400"/>
        </p:xfrm>
        <a:graphic>
          <a:graphicData uri="http://schemas.openxmlformats.org/drawingml/2006/table">
            <a:tbl>
              <a:tblPr/>
              <a:tblGrid>
                <a:gridCol w="731520"/>
                <a:gridCol w="6766560"/>
                <a:gridCol w="3108960"/>
                <a:gridCol w="5486400"/>
              </a:tblGrid>
              <a:tr h="365760">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ID</a:t>
                      </a:r>
                      <a:endParaRPr lang="en-US" sz="1400" dirty="0">
                        <a:latin typeface="Open Sauce Bold" charset="0"/>
                        <a:ea typeface="Open Sauce Bold" charset="0"/>
                        <a:cs typeface="Open Sauce Bold"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E1E1E"/>
                    </a:solidFill>
                  </a:tcPr>
                </a:tc>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EVIDENCE</a:t>
                      </a:r>
                      <a:endParaRPr lang="en-US" sz="1400" dirty="0">
                        <a:latin typeface="Open Sauce Bold" charset="0"/>
                        <a:ea typeface="Open Sauce Bold" charset="0"/>
                        <a:cs typeface="Open Sauce Bold"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E1E1E"/>
                    </a:solidFill>
                  </a:tcPr>
                </a:tc>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SOURCE</a:t>
                      </a:r>
                      <a:endParaRPr lang="en-US" sz="1400" dirty="0">
                        <a:latin typeface="Open Sauce Bold" charset="0"/>
                        <a:ea typeface="Open Sauce Bold" charset="0"/>
                        <a:cs typeface="Open Sauce Bold"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E1E1E"/>
                    </a:solidFill>
                  </a:tcPr>
                </a:tc>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WHY IT MATTERS</a:t>
                      </a:r>
                      <a:endParaRPr lang="en-US" sz="1400" dirty="0">
                        <a:latin typeface="Open Sauce Bold" charset="0"/>
                        <a:ea typeface="Open Sauce Bold" charset="0"/>
                        <a:cs typeface="Open Sauce Bold"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E1E1E"/>
                    </a:solidFill>
                  </a:tcPr>
                </a:tc>
              </a:tr>
              <a:tr h="640080">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E1</a:t>
                      </a:r>
                      <a:endParaRPr lang="en-US" sz="1400" dirty="0">
                        <a:latin typeface="Open Sauce Bold" charset="0"/>
                        <a:ea typeface="Open Sauce Bold" charset="0"/>
                        <a:cs typeface="Open Sauce Bold"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81,423 official fraud cases; Tk 926M lost; only ~10.7% recovered</a:t>
                      </a:r>
                      <a:endParaRPr lang="en-US" sz="1400" dirty="0">
                        <a:latin typeface="Open Sauce" charset="0"/>
                        <a:ea typeface="Open Sauce" charset="0"/>
                        <a:cs typeface="Open Sauce"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A8A8A8"/>
                          </a:solidFill>
                          <a:latin typeface="Open Sauce" pitchFamily="34" charset="0"/>
                          <a:ea typeface="Open Sauce" pitchFamily="34" charset="-122"/>
                          <a:cs typeface="Open Sauce" pitchFamily="34" charset="-120"/>
                        </a:rPr>
                        <a:t>Bangladesh Bank, 2025</a:t>
                      </a:r>
                      <a:endParaRPr lang="en-US" sz="1400" dirty="0">
                        <a:latin typeface="Open Sauce" charset="0"/>
                        <a:ea typeface="Open Sauce" charset="0"/>
                        <a:cs typeface="Open Sauce"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Average case ≈ ৳11,373. About ৳827M is permanently lost.</a:t>
                      </a:r>
                      <a:endParaRPr lang="en-US" sz="1400" dirty="0">
                        <a:latin typeface="Open Sauce" charset="0"/>
                        <a:ea typeface="Open Sauce" charset="0"/>
                        <a:cs typeface="Open Sauce"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r h="640080">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E2</a:t>
                      </a:r>
                      <a:endParaRPr lang="en-US" sz="1400" dirty="0">
                        <a:latin typeface="Open Sauce Bold" charset="0"/>
                        <a:ea typeface="Open Sauce Bold" charset="0"/>
                        <a:cs typeface="Open Sauce Bold"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1 in 10 MFS users victimized; 30% of complaints never resolved</a:t>
                      </a:r>
                      <a:endParaRPr lang="en-US" sz="1400" dirty="0">
                        <a:latin typeface="Open Sauce" charset="0"/>
                        <a:ea typeface="Open Sauce" charset="0"/>
                        <a:cs typeface="Open Sauce"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A8A8A8"/>
                          </a:solidFill>
                          <a:latin typeface="Open Sauce" pitchFamily="34" charset="0"/>
                          <a:ea typeface="Open Sauce" pitchFamily="34" charset="-122"/>
                          <a:cs typeface="Open Sauce" pitchFamily="34" charset="-120"/>
                        </a:rPr>
                        <a:t>PRI survey</a:t>
                      </a:r>
                      <a:endParaRPr lang="en-US" sz="1400" dirty="0">
                        <a:latin typeface="Open Sauce" charset="0"/>
                        <a:ea typeface="Open Sauce" charset="0"/>
                        <a:cs typeface="Open Sauce"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Rural, lower-literacy users are hit hardest; trust erodes.</a:t>
                      </a:r>
                      <a:endParaRPr lang="en-US" sz="1400" dirty="0">
                        <a:latin typeface="Open Sauce" charset="0"/>
                        <a:ea typeface="Open Sauce" charset="0"/>
                        <a:cs typeface="Open Sauce"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r h="731520">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E3</a:t>
                      </a:r>
                      <a:endParaRPr lang="en-US" sz="1400" dirty="0">
                        <a:latin typeface="Open Sauce Bold" charset="0"/>
                        <a:ea typeface="Open Sauce Bold" charset="0"/>
                        <a:cs typeface="Open Sauce Bold"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45% of Bangladesh is unbanked; 32% of them cite fear of fraud as the main barrier</a:t>
                      </a:r>
                      <a:endParaRPr lang="en-US" sz="1400" dirty="0">
                        <a:latin typeface="Open Sauce" charset="0"/>
                        <a:ea typeface="Open Sauce" charset="0"/>
                        <a:cs typeface="Open Sauce"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A8A8A8"/>
                          </a:solidFill>
                          <a:latin typeface="Open Sauce" pitchFamily="34" charset="0"/>
                          <a:ea typeface="Open Sauce" pitchFamily="34" charset="-122"/>
                          <a:cs typeface="Open Sauce" pitchFamily="34" charset="-120"/>
                        </a:rPr>
                        <a:t>Financial-inclusion research</a:t>
                      </a:r>
                      <a:endParaRPr lang="en-US" sz="1400" dirty="0">
                        <a:latin typeface="Open Sauce" charset="0"/>
                        <a:ea typeface="Open Sauce" charset="0"/>
                        <a:cs typeface="Open Sauce"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Fraud defense directly drives customer acquisition.</a:t>
                      </a:r>
                      <a:endParaRPr lang="en-US" sz="1400" dirty="0">
                        <a:latin typeface="Open Sauce" charset="0"/>
                        <a:ea typeface="Open Sauce" charset="0"/>
                        <a:cs typeface="Open Sauce"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r h="640080">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E4</a:t>
                      </a:r>
                      <a:endParaRPr lang="en-US" sz="1400" dirty="0">
                        <a:latin typeface="Open Sauce Bold" charset="0"/>
                        <a:ea typeface="Open Sauce Bold" charset="0"/>
                        <a:cs typeface="Open Sauce Bold"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17% of MFS retail agents victimized or exploited by criminal rings</a:t>
                      </a:r>
                      <a:endParaRPr lang="en-US" sz="1400" dirty="0">
                        <a:latin typeface="Open Sauce" charset="0"/>
                        <a:ea typeface="Open Sauce" charset="0"/>
                        <a:cs typeface="Open Sauce"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A8A8A8"/>
                          </a:solidFill>
                          <a:latin typeface="Open Sauce" pitchFamily="34" charset="0"/>
                          <a:ea typeface="Open Sauce" pitchFamily="34" charset="-122"/>
                          <a:cs typeface="Open Sauce" pitchFamily="34" charset="-120"/>
                        </a:rPr>
                        <a:t>Transparency International Bangladesh</a:t>
                      </a:r>
                      <a:endParaRPr lang="en-US" sz="1400" dirty="0">
                        <a:latin typeface="Open Sauce" charset="0"/>
                        <a:ea typeface="Open Sauce" charset="0"/>
                        <a:cs typeface="Open Sauce"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Agents are targets and unwitting cash-out points.</a:t>
                      </a:r>
                      <a:endParaRPr lang="en-US" sz="1400" dirty="0">
                        <a:latin typeface="Open Sauce" charset="0"/>
                        <a:ea typeface="Open Sauce" charset="0"/>
                        <a:cs typeface="Open Sauce"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r h="777240">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E7</a:t>
                      </a:r>
                      <a:endParaRPr lang="en-US" sz="1400" dirty="0">
                        <a:latin typeface="Open Sauce Bold" charset="0"/>
                        <a:ea typeface="Open Sauce Bold" charset="0"/>
                        <a:cs typeface="Open Sauce Bold"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AI monitoring directive (Nov 2025); Gambling Prevention Act 2026 criminalizes ghost SIMs and fake wallets (from 1 Jul 2026)</a:t>
                      </a:r>
                      <a:endParaRPr lang="en-US" sz="1400" dirty="0">
                        <a:latin typeface="Open Sauce" charset="0"/>
                        <a:ea typeface="Open Sauce" charset="0"/>
                        <a:cs typeface="Open Sauce"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A8A8A8"/>
                          </a:solidFill>
                          <a:latin typeface="Open Sauce" pitchFamily="34" charset="0"/>
                          <a:ea typeface="Open Sauce" pitchFamily="34" charset="-122"/>
                          <a:cs typeface="Open Sauce" pitchFamily="34" charset="-120"/>
                        </a:rPr>
                        <a:t>Bangladesh Bank; Act 2026</a:t>
                      </a:r>
                      <a:endParaRPr lang="en-US" sz="1400" dirty="0">
                        <a:latin typeface="Open Sauce" charset="0"/>
                        <a:ea typeface="Open Sauce" charset="0"/>
                        <a:cs typeface="Open Sauce"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Regulatory pull: monitoring and audit are now expected.</a:t>
                      </a:r>
                      <a:endParaRPr lang="en-US" sz="1400" dirty="0">
                        <a:latin typeface="Open Sauce" charset="0"/>
                        <a:ea typeface="Open Sauce" charset="0"/>
                        <a:cs typeface="Open Sauce" charset="0"/>
                      </a:endParaRPr>
                    </a:p>
                  </a:txBody>
                  <a:tcPr marL="137160" marR="137160" marT="36576" marB="36576"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bl>
          </a:graphicData>
        </a:graphic>
      </p:graphicFrame>
      <p:sp>
        <p:nvSpPr>
          <p:cNvPr id="8" name="Shape 4"/>
          <p:cNvSpPr/>
          <p:nvPr/>
        </p:nvSpPr>
        <p:spPr>
          <a:xfrm>
            <a:off x="1097280" y="7818120"/>
            <a:ext cx="3851910" cy="1005840"/>
          </a:xfrm>
          <a:prstGeom prst="roundRect">
            <a:avLst>
              <a:gd name="adj" fmla="val 20000"/>
            </a:avLst>
          </a:prstGeom>
          <a:solidFill>
            <a:srgbClr val="1E1E1E"/>
          </a:solidFill>
          <a:ln w="12700">
            <a:solidFill>
              <a:srgbClr val="1E1E1E"/>
            </a:solidFill>
            <a:prstDash val="solid"/>
          </a:ln>
        </p:spPr>
      </p:sp>
      <p:sp>
        <p:nvSpPr>
          <p:cNvPr id="9" name="Text 5"/>
          <p:cNvSpPr txBox="1"/>
          <p:nvPr/>
        </p:nvSpPr>
        <p:spPr>
          <a:xfrm>
            <a:off x="137160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৳926M</a:t>
            </a:r>
            <a:endParaRPr lang="en-US" sz="3500" dirty="0"/>
          </a:p>
        </p:txBody>
      </p:sp>
      <p:sp>
        <p:nvSpPr>
          <p:cNvPr id="10" name="Text 6"/>
          <p:cNvSpPr txBox="1"/>
          <p:nvPr/>
        </p:nvSpPr>
        <p:spPr>
          <a:xfrm>
            <a:off x="137160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Reported losses in 2025</a:t>
            </a:r>
            <a:endParaRPr lang="en-US" sz="1400" dirty="0"/>
          </a:p>
        </p:txBody>
      </p:sp>
      <p:sp>
        <p:nvSpPr>
          <p:cNvPr id="11" name="Shape 7"/>
          <p:cNvSpPr/>
          <p:nvPr/>
        </p:nvSpPr>
        <p:spPr>
          <a:xfrm>
            <a:off x="5177790" y="7818120"/>
            <a:ext cx="3851910" cy="1005840"/>
          </a:xfrm>
          <a:prstGeom prst="roundRect">
            <a:avLst>
              <a:gd name="adj" fmla="val 20000"/>
            </a:avLst>
          </a:prstGeom>
          <a:solidFill>
            <a:srgbClr val="1E1E1E"/>
          </a:solidFill>
          <a:ln w="12700">
            <a:solidFill>
              <a:srgbClr val="1E1E1E"/>
            </a:solidFill>
            <a:prstDash val="solid"/>
          </a:ln>
        </p:spPr>
      </p:sp>
      <p:sp>
        <p:nvSpPr>
          <p:cNvPr id="12" name="Text 8"/>
          <p:cNvSpPr txBox="1"/>
          <p:nvPr/>
        </p:nvSpPr>
        <p:spPr>
          <a:xfrm>
            <a:off x="545211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~10.7%</a:t>
            </a:r>
            <a:endParaRPr lang="en-US" sz="3500" dirty="0"/>
          </a:p>
        </p:txBody>
      </p:sp>
      <p:sp>
        <p:nvSpPr>
          <p:cNvPr id="13" name="Text 9"/>
          <p:cNvSpPr txBox="1"/>
          <p:nvPr/>
        </p:nvSpPr>
        <p:spPr>
          <a:xfrm>
            <a:off x="545211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Share ever recovered</a:t>
            </a:r>
            <a:endParaRPr lang="en-US" sz="1400" dirty="0"/>
          </a:p>
        </p:txBody>
      </p:sp>
      <p:sp>
        <p:nvSpPr>
          <p:cNvPr id="14" name="Shape 10"/>
          <p:cNvSpPr/>
          <p:nvPr/>
        </p:nvSpPr>
        <p:spPr>
          <a:xfrm>
            <a:off x="9258300" y="7818120"/>
            <a:ext cx="3851910" cy="1005840"/>
          </a:xfrm>
          <a:prstGeom prst="roundRect">
            <a:avLst>
              <a:gd name="adj" fmla="val 20000"/>
            </a:avLst>
          </a:prstGeom>
          <a:solidFill>
            <a:srgbClr val="1E1E1E"/>
          </a:solidFill>
          <a:ln w="12700">
            <a:solidFill>
              <a:srgbClr val="1E1E1E"/>
            </a:solidFill>
            <a:prstDash val="solid"/>
          </a:ln>
        </p:spPr>
      </p:sp>
      <p:sp>
        <p:nvSpPr>
          <p:cNvPr id="15" name="Text 11"/>
          <p:cNvSpPr txBox="1"/>
          <p:nvPr/>
        </p:nvSpPr>
        <p:spPr>
          <a:xfrm>
            <a:off x="953262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1 in 10</a:t>
            </a:r>
            <a:endParaRPr lang="en-US" sz="3500" dirty="0"/>
          </a:p>
        </p:txBody>
      </p:sp>
      <p:sp>
        <p:nvSpPr>
          <p:cNvPr id="16" name="Text 12"/>
          <p:cNvSpPr txBox="1"/>
          <p:nvPr/>
        </p:nvSpPr>
        <p:spPr>
          <a:xfrm>
            <a:off x="953262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MFS users victimized</a:t>
            </a:r>
            <a:endParaRPr lang="en-US" sz="1400" dirty="0"/>
          </a:p>
        </p:txBody>
      </p:sp>
      <p:sp>
        <p:nvSpPr>
          <p:cNvPr id="17" name="Shape 13"/>
          <p:cNvSpPr/>
          <p:nvPr/>
        </p:nvSpPr>
        <p:spPr>
          <a:xfrm>
            <a:off x="13338810" y="7818120"/>
            <a:ext cx="3851910" cy="1005840"/>
          </a:xfrm>
          <a:prstGeom prst="roundRect">
            <a:avLst>
              <a:gd name="adj" fmla="val 20000"/>
            </a:avLst>
          </a:prstGeom>
          <a:solidFill>
            <a:srgbClr val="1E1E1E"/>
          </a:solidFill>
          <a:ln w="12700">
            <a:solidFill>
              <a:srgbClr val="1E1E1E"/>
            </a:solidFill>
            <a:prstDash val="solid"/>
          </a:ln>
        </p:spPr>
      </p:sp>
      <p:sp>
        <p:nvSpPr>
          <p:cNvPr id="18" name="Text 14"/>
          <p:cNvSpPr txBox="1"/>
          <p:nvPr/>
        </p:nvSpPr>
        <p:spPr>
          <a:xfrm>
            <a:off x="1361313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32%</a:t>
            </a:r>
            <a:endParaRPr lang="en-US" sz="3500" dirty="0"/>
          </a:p>
        </p:txBody>
      </p:sp>
      <p:sp>
        <p:nvSpPr>
          <p:cNvPr id="19" name="Text 15"/>
          <p:cNvSpPr txBox="1"/>
          <p:nvPr/>
        </p:nvSpPr>
        <p:spPr>
          <a:xfrm>
            <a:off x="1361313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Of the unbanked cite fraud fear</a:t>
            </a:r>
            <a:endParaRPr lang="en-US" sz="1400" dirty="0"/>
          </a:p>
        </p:txBody>
      </p:sp>
      <p:sp>
        <p:nvSpPr>
          <p:cNvPr id="25" name="Slide Number Placeholder 0"/>
          <p:cNvSpPr>
            <a:spLocks noGrp="1"/>
          </p:cNvSpPr>
          <p:nvPr>
            <p:ph type="sldNum" sz="quarter" idx="4294967295"/>
          </p:nvPr>
        </p:nvSpPr>
        <p:spPr>
          <a:xfrm>
            <a:off x="15361920" y="9418320"/>
            <a:ext cx="1828800" cy="320040"/>
          </a:xfrm>
          <a:prstGeom prst="rect">
            <a:avLst/>
          </a:prstGeom>
          <a:extLst>
            <a:ext uri="{C572A759-6A51-4108-AA02-DFA0A04FC94B}">
              <ma14:wrappingTextBoxFlag xmlns:ma14="http://schemas.microsoft.com/office/mac/drawingml/2011/main" val="0"/>
            </a:ext>
          </a:extLst>
        </p:spPr>
        <p:txBody>
          <a:bodyPr/>
          <a:lstStyle>
            <a:lvl1pPr>
              <a:defRPr sz="1600">
                <a:solidFill>
                  <a:srgbClr val="A8A8A8"/>
                </a:solidFill>
                <a:latin typeface="Open Sauce"/>
                <a:ea typeface="Open Sauce"/>
                <a:cs typeface="Open Sauce"/>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13295376" y="457200"/>
            <a:ext cx="3895344" cy="457200"/>
          </a:xfrm>
          <a:prstGeom prst="roundRect">
            <a:avLst>
              <a:gd name="adj" fmla="val 50000"/>
            </a:avLst>
          </a:prstGeom>
          <a:solidFill>
            <a:srgbClr val="FFFFFF"/>
          </a:solidFill>
          <a:ln w="12700">
            <a:solidFill>
              <a:srgbClr val="FFFFFF"/>
            </a:solidFill>
            <a:prstDash val="solid"/>
          </a:ln>
        </p:spPr>
      </p:sp>
      <p:sp>
        <p:nvSpPr>
          <p:cNvPr id="3" name="Text 1"/>
          <p:cNvSpPr txBox="1"/>
          <p:nvPr/>
        </p:nvSpPr>
        <p:spPr>
          <a:xfrm>
            <a:off x="13295376" y="457200"/>
            <a:ext cx="3895344" cy="457200"/>
          </a:xfrm>
          <a:prstGeom prst="rect">
            <a:avLst/>
          </a:prstGeom>
          <a:noFill/>
          <a:ln/>
        </p:spPr>
        <p:txBody>
          <a:bodyPr wrap="square" lIns="0" tIns="0" rIns="0" bIns="0" rtlCol="0" anchor="ctr"/>
          <a:lstStyle/>
          <a:p>
            <a:pPr algn="ctr" indent="0" marL="0">
              <a:buNone/>
            </a:pPr>
            <a:r>
              <a:rPr lang="en-US" sz="1700" dirty="0">
                <a:solidFill>
                  <a:srgbClr val="000000"/>
                </a:solidFill>
                <a:latin typeface="Open Sauce" pitchFamily="34" charset="0"/>
                <a:ea typeface="Open Sauce" pitchFamily="34" charset="-122"/>
                <a:cs typeface="Open Sauce" pitchFamily="34" charset="-120"/>
              </a:rPr>
              <a:t>04 · WHY LEGACY FAILS</a:t>
            </a:r>
            <a:endParaRPr lang="en-US" sz="1700" dirty="0"/>
          </a:p>
        </p:txBody>
      </p:sp>
      <p:sp>
        <p:nvSpPr>
          <p:cNvPr id="4" name="Title"/>
          <p:cNvSpPr txBox="1"/>
          <p:nvPr/>
        </p:nvSpPr>
        <p:spPr>
          <a:xfrm>
            <a:off x="1097280" y="1188720"/>
            <a:ext cx="16093440" cy="1005840"/>
          </a:xfrm>
          <a:prstGeom prst="rect">
            <a:avLst/>
          </a:prstGeom>
          <a:noFill/>
          <a:ln/>
        </p:spPr>
        <p:txBody>
          <a:bodyPr wrap="square" lIns="0" tIns="0" rIns="0" bIns="0" rtlCol="0" anchor="t"/>
          <a:lstStyle/>
          <a:p>
            <a:pPr indent="0" marL="0">
              <a:buNone/>
            </a:pPr>
            <a:r>
              <a:rPr lang="en-US" sz="3800" b="1" dirty="0">
                <a:solidFill>
                  <a:srgbClr val="E4E4E4"/>
                </a:solidFill>
                <a:latin typeface="Open Sauce Bold" pitchFamily="34" charset="0"/>
                <a:ea typeface="Open Sauce Bold" pitchFamily="34" charset="-122"/>
                <a:cs typeface="Open Sauce Bold" pitchFamily="34" charset="-120"/>
              </a:rPr>
              <a:t>Four structural blind spots in classical MFS anti-fraud</a:t>
            </a:r>
            <a:endParaRPr lang="en-US" sz="3800" dirty="0"/>
          </a:p>
        </p:txBody>
      </p:sp>
      <p:sp>
        <p:nvSpPr>
          <p:cNvPr id="5" name="Subtitle"/>
          <p:cNvSpPr txBox="1"/>
          <p:nvPr/>
        </p:nvSpPr>
        <p:spPr>
          <a:xfrm>
            <a:off x="1097280" y="2286000"/>
            <a:ext cx="16093440" cy="868680"/>
          </a:xfrm>
          <a:prstGeom prst="rect">
            <a:avLst/>
          </a:prstGeom>
          <a:noFill/>
          <a:ln/>
        </p:spPr>
        <p:txBody>
          <a:bodyPr wrap="square" lIns="0" tIns="0" rIns="0" bIns="0" rtlCol="0" anchor="t"/>
          <a:lstStyle/>
          <a:p>
            <a:pPr indent="0" marL="0">
              <a:buNone/>
            </a:pPr>
            <a:r>
              <a:rPr lang="en-US" sz="2100" dirty="0">
                <a:solidFill>
                  <a:srgbClr val="A8A8A8"/>
                </a:solidFill>
                <a:latin typeface="Open Sauce" pitchFamily="34" charset="0"/>
                <a:ea typeface="Open Sauce" pitchFamily="34" charset="-122"/>
                <a:cs typeface="Open Sauce" pitchFamily="34" charset="-120"/>
              </a:rPr>
              <a:t>Rule engines were built for card fraud and account takeover. They cannot see persuasion, networks, time, or seasonality.</a:t>
            </a:r>
            <a:endParaRPr lang="en-US" sz="2100" dirty="0"/>
          </a:p>
        </p:txBody>
      </p:sp>
      <p:sp>
        <p:nvSpPr>
          <p:cNvPr id="7" name="Shape 4"/>
          <p:cNvSpPr/>
          <p:nvPr/>
        </p:nvSpPr>
        <p:spPr>
          <a:xfrm>
            <a:off x="1097280" y="3520440"/>
            <a:ext cx="7932420" cy="2011680"/>
          </a:xfrm>
          <a:prstGeom prst="roundRect">
            <a:avLst>
              <a:gd name="adj" fmla="val 10000"/>
            </a:avLst>
          </a:prstGeom>
          <a:solidFill>
            <a:srgbClr val="1E1E1E"/>
          </a:solidFill>
          <a:ln w="12700">
            <a:solidFill>
              <a:srgbClr val="1E1E1E"/>
            </a:solidFill>
            <a:prstDash val="solid"/>
          </a:ln>
        </p:spPr>
      </p:sp>
      <p:sp>
        <p:nvSpPr>
          <p:cNvPr id="8" name="Shape 5"/>
          <p:cNvSpPr/>
          <p:nvPr/>
        </p:nvSpPr>
        <p:spPr>
          <a:xfrm>
            <a:off x="1371600" y="3749040"/>
            <a:ext cx="777240" cy="365760"/>
          </a:xfrm>
          <a:prstGeom prst="roundRect">
            <a:avLst>
              <a:gd name="adj" fmla="val 50000"/>
            </a:avLst>
          </a:prstGeom>
          <a:solidFill>
            <a:srgbClr val="F7761F"/>
          </a:solidFill>
          <a:ln w="12700">
            <a:solidFill>
              <a:srgbClr val="F7761F"/>
            </a:solidFill>
            <a:prstDash val="solid"/>
          </a:ln>
        </p:spPr>
      </p:sp>
      <p:sp>
        <p:nvSpPr>
          <p:cNvPr id="9" name="Text 6"/>
          <p:cNvSpPr txBox="1"/>
          <p:nvPr/>
        </p:nvSpPr>
        <p:spPr>
          <a:xfrm>
            <a:off x="1371600" y="3749040"/>
            <a:ext cx="777240" cy="365760"/>
          </a:xfrm>
          <a:prstGeom prst="rect">
            <a:avLst/>
          </a:prstGeom>
          <a:noFill/>
          <a:ln/>
        </p:spPr>
        <p:txBody>
          <a:bodyPr wrap="square" lIns="0" tIns="0" rIns="0" bIns="0" rtlCol="0" anchor="ctr"/>
          <a:lstStyle/>
          <a:p>
            <a:pPr algn="ctr" indent="0" marL="0">
              <a:buNone/>
            </a:pPr>
            <a:r>
              <a:rPr lang="en-US" sz="1600" b="1" dirty="0">
                <a:solidFill>
                  <a:srgbClr val="000000"/>
                </a:solidFill>
                <a:latin typeface="Open Sauce" pitchFamily="34" charset="0"/>
                <a:ea typeface="Open Sauce" pitchFamily="34" charset="-122"/>
                <a:cs typeface="Open Sauce" pitchFamily="34" charset="-120"/>
              </a:rPr>
              <a:t>FM1</a:t>
            </a:r>
            <a:endParaRPr lang="en-US" sz="1600" dirty="0"/>
          </a:p>
        </p:txBody>
      </p:sp>
      <p:sp>
        <p:nvSpPr>
          <p:cNvPr id="10" name="Text 7"/>
          <p:cNvSpPr txBox="1"/>
          <p:nvPr/>
        </p:nvSpPr>
        <p:spPr>
          <a:xfrm>
            <a:off x="2331720" y="3721608"/>
            <a:ext cx="6423660" cy="411480"/>
          </a:xfrm>
          <a:prstGeom prst="rect">
            <a:avLst/>
          </a:prstGeom>
          <a:noFill/>
          <a:ln/>
        </p:spPr>
        <p:txBody>
          <a:bodyPr wrap="square" lIns="0" tIns="0" rIns="0" bIns="0" rtlCol="0" anchor="ctr"/>
          <a:lstStyle/>
          <a:p>
            <a:pPr indent="0" marL="0">
              <a:buNone/>
            </a:pPr>
            <a:r>
              <a:rPr lang="en-US" sz="2500" b="1" dirty="0">
                <a:solidFill>
                  <a:srgbClr val="E4E4E4"/>
                </a:solidFill>
                <a:latin typeface="Open Sauce Bold" pitchFamily="34" charset="0"/>
                <a:ea typeface="Open Sauce Bold" pitchFamily="34" charset="-122"/>
                <a:cs typeface="Open Sauce Bold" pitchFamily="34" charset="-120"/>
              </a:rPr>
              <a:t>Confirmation blindness</a:t>
            </a:r>
            <a:endParaRPr lang="en-US" sz="2500" dirty="0"/>
          </a:p>
        </p:txBody>
      </p:sp>
      <p:sp>
        <p:nvSpPr>
          <p:cNvPr id="11" name="Text 8"/>
          <p:cNvSpPr txBox="1"/>
          <p:nvPr/>
        </p:nvSpPr>
        <p:spPr>
          <a:xfrm>
            <a:off x="1371600" y="4251960"/>
            <a:ext cx="7383780" cy="566928"/>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Rules check balance and daily limit. They are blind to a user on an active 15-minute coercion call with an impersonator.</a:t>
            </a:r>
            <a:endParaRPr lang="en-US" sz="1600" dirty="0"/>
          </a:p>
        </p:txBody>
      </p:sp>
      <p:sp>
        <p:nvSpPr>
          <p:cNvPr id="12" name="Text 9"/>
          <p:cNvSpPr txBox="1"/>
          <p:nvPr/>
        </p:nvSpPr>
        <p:spPr>
          <a:xfrm>
            <a:off x="1371600" y="4892040"/>
            <a:ext cx="7383780" cy="548640"/>
          </a:xfrm>
          <a:prstGeom prst="rect">
            <a:avLst/>
          </a:prstGeom>
          <a:noFill/>
          <a:ln/>
        </p:spPr>
        <p:txBody>
          <a:bodyPr wrap="square" lIns="0" tIns="0" rIns="0" bIns="0" rtlCol="0" anchor="t"/>
          <a:lstStyle/>
          <a:p>
            <a:pPr indent="0" marL="0">
              <a:buNone/>
            </a:pPr>
            <a:r>
              <a:rPr lang="en-US" sz="1400" b="1" dirty="0">
                <a:solidFill>
                  <a:srgbClr val="F7761F"/>
                </a:solidFill>
                <a:latin typeface="Open Sauce" pitchFamily="34" charset="0"/>
                <a:ea typeface="Open Sauce" pitchFamily="34" charset="-122"/>
                <a:cs typeface="Open Sauce" pitchFamily="34" charset="-120"/>
              </a:rPr>
              <a:t>ARCHITECTURAL FIX  </a:t>
            </a:r>
            <a:pPr indent="0" marL="0">
              <a:buNone/>
            </a:pPr>
            <a:r>
              <a:rPr lang="en-US" sz="1600" dirty="0">
                <a:solidFill>
                  <a:srgbClr val="E4E4E4"/>
                </a:solidFill>
                <a:latin typeface="Open Sauce" pitchFamily="34" charset="0"/>
                <a:ea typeface="Open Sauce" pitchFamily="34" charset="-122"/>
                <a:cs typeface="Open Sauce" pitchFamily="34" charset="-120"/>
              </a:rPr>
              <a:t>Pre-transfer Bangla NLP and a bilingual Pause &amp; Verify dialog before the confirm screen.</a:t>
            </a:r>
            <a:endParaRPr lang="en-US" sz="1600" dirty="0"/>
          </a:p>
        </p:txBody>
      </p:sp>
      <p:sp>
        <p:nvSpPr>
          <p:cNvPr id="13" name="Shape 10"/>
          <p:cNvSpPr/>
          <p:nvPr/>
        </p:nvSpPr>
        <p:spPr>
          <a:xfrm>
            <a:off x="9258300" y="3520440"/>
            <a:ext cx="7932420" cy="2011680"/>
          </a:xfrm>
          <a:prstGeom prst="roundRect">
            <a:avLst>
              <a:gd name="adj" fmla="val 10000"/>
            </a:avLst>
          </a:prstGeom>
          <a:solidFill>
            <a:srgbClr val="1E1E1E"/>
          </a:solidFill>
          <a:ln w="12700">
            <a:solidFill>
              <a:srgbClr val="1E1E1E"/>
            </a:solidFill>
            <a:prstDash val="solid"/>
          </a:ln>
        </p:spPr>
      </p:sp>
      <p:sp>
        <p:nvSpPr>
          <p:cNvPr id="14" name="Shape 11"/>
          <p:cNvSpPr/>
          <p:nvPr/>
        </p:nvSpPr>
        <p:spPr>
          <a:xfrm>
            <a:off x="9532620" y="3749040"/>
            <a:ext cx="777240" cy="365760"/>
          </a:xfrm>
          <a:prstGeom prst="roundRect">
            <a:avLst>
              <a:gd name="adj" fmla="val 50000"/>
            </a:avLst>
          </a:prstGeom>
          <a:solidFill>
            <a:srgbClr val="F7761F"/>
          </a:solidFill>
          <a:ln w="12700">
            <a:solidFill>
              <a:srgbClr val="F7761F"/>
            </a:solidFill>
            <a:prstDash val="solid"/>
          </a:ln>
        </p:spPr>
      </p:sp>
      <p:sp>
        <p:nvSpPr>
          <p:cNvPr id="15" name="Text 12"/>
          <p:cNvSpPr txBox="1"/>
          <p:nvPr/>
        </p:nvSpPr>
        <p:spPr>
          <a:xfrm>
            <a:off x="9532620" y="3749040"/>
            <a:ext cx="777240" cy="365760"/>
          </a:xfrm>
          <a:prstGeom prst="rect">
            <a:avLst/>
          </a:prstGeom>
          <a:noFill/>
          <a:ln/>
        </p:spPr>
        <p:txBody>
          <a:bodyPr wrap="square" lIns="0" tIns="0" rIns="0" bIns="0" rtlCol="0" anchor="ctr"/>
          <a:lstStyle/>
          <a:p>
            <a:pPr algn="ctr" indent="0" marL="0">
              <a:buNone/>
            </a:pPr>
            <a:r>
              <a:rPr lang="en-US" sz="1600" b="1" dirty="0">
                <a:solidFill>
                  <a:srgbClr val="000000"/>
                </a:solidFill>
                <a:latin typeface="Open Sauce" pitchFamily="34" charset="0"/>
                <a:ea typeface="Open Sauce" pitchFamily="34" charset="-122"/>
                <a:cs typeface="Open Sauce" pitchFamily="34" charset="-120"/>
              </a:rPr>
              <a:t>FM2</a:t>
            </a:r>
            <a:endParaRPr lang="en-US" sz="1600" dirty="0"/>
          </a:p>
        </p:txBody>
      </p:sp>
      <p:sp>
        <p:nvSpPr>
          <p:cNvPr id="16" name="Text 13"/>
          <p:cNvSpPr txBox="1"/>
          <p:nvPr/>
        </p:nvSpPr>
        <p:spPr>
          <a:xfrm>
            <a:off x="10492740" y="3721608"/>
            <a:ext cx="6423660" cy="411480"/>
          </a:xfrm>
          <a:prstGeom prst="rect">
            <a:avLst/>
          </a:prstGeom>
          <a:noFill/>
          <a:ln/>
        </p:spPr>
        <p:txBody>
          <a:bodyPr wrap="square" lIns="0" tIns="0" rIns="0" bIns="0" rtlCol="0" anchor="ctr"/>
          <a:lstStyle/>
          <a:p>
            <a:pPr indent="0" marL="0">
              <a:buNone/>
            </a:pPr>
            <a:r>
              <a:rPr lang="en-US" sz="2500" b="1" dirty="0">
                <a:solidFill>
                  <a:srgbClr val="E4E4E4"/>
                </a:solidFill>
                <a:latin typeface="Open Sauce Bold" pitchFamily="34" charset="0"/>
                <a:ea typeface="Open Sauce Bold" pitchFamily="34" charset="-122"/>
                <a:cs typeface="Open Sauce Bold" pitchFamily="34" charset="-120"/>
              </a:rPr>
              <a:t>Siloed accounts</a:t>
            </a:r>
            <a:endParaRPr lang="en-US" sz="2500" dirty="0"/>
          </a:p>
        </p:txBody>
      </p:sp>
      <p:sp>
        <p:nvSpPr>
          <p:cNvPr id="17" name="Text 14"/>
          <p:cNvSpPr txBox="1"/>
          <p:nvPr/>
        </p:nvSpPr>
        <p:spPr>
          <a:xfrm>
            <a:off x="9532620" y="4251960"/>
            <a:ext cx="7383780" cy="566928"/>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Each account is inspected alone, so 10-wallet mule splits of ৳10k–৳25k each pass every threshold.</a:t>
            </a:r>
            <a:endParaRPr lang="en-US" sz="1600" dirty="0"/>
          </a:p>
        </p:txBody>
      </p:sp>
      <p:sp>
        <p:nvSpPr>
          <p:cNvPr id="18" name="Text 15"/>
          <p:cNvSpPr txBox="1"/>
          <p:nvPr/>
        </p:nvSpPr>
        <p:spPr>
          <a:xfrm>
            <a:off x="9532620" y="4892040"/>
            <a:ext cx="7383780" cy="548640"/>
          </a:xfrm>
          <a:prstGeom prst="rect">
            <a:avLst/>
          </a:prstGeom>
          <a:noFill/>
          <a:ln/>
        </p:spPr>
        <p:txBody>
          <a:bodyPr wrap="square" lIns="0" tIns="0" rIns="0" bIns="0" rtlCol="0" anchor="t"/>
          <a:lstStyle/>
          <a:p>
            <a:pPr indent="0" marL="0">
              <a:buNone/>
            </a:pPr>
            <a:r>
              <a:rPr lang="en-US" sz="1400" b="1" dirty="0">
                <a:solidFill>
                  <a:srgbClr val="F7761F"/>
                </a:solidFill>
                <a:latin typeface="Open Sauce" pitchFamily="34" charset="0"/>
                <a:ea typeface="Open Sauce" pitchFamily="34" charset="-122"/>
                <a:cs typeface="Open Sauce" pitchFamily="34" charset="-120"/>
              </a:rPr>
              <a:t>ARCHITECTURAL FIX  </a:t>
            </a:r>
            <a:pPr indent="0" marL="0">
              <a:buNone/>
            </a:pPr>
            <a:r>
              <a:rPr lang="en-US" sz="1600" dirty="0">
                <a:solidFill>
                  <a:srgbClr val="E4E4E4"/>
                </a:solidFill>
                <a:latin typeface="Open Sauce" pitchFamily="34" charset="0"/>
                <a:ea typeface="Open Sauce" pitchFamily="34" charset="-122"/>
                <a:cs typeface="Open Sauce" pitchFamily="34" charset="-120"/>
              </a:rPr>
              <a:t>FastTree graph clustering across wallets, fan-in/fan-out and shared IMEI, in under 5 ms.</a:t>
            </a:r>
            <a:endParaRPr lang="en-US" sz="1600" dirty="0"/>
          </a:p>
        </p:txBody>
      </p:sp>
      <p:sp>
        <p:nvSpPr>
          <p:cNvPr id="19" name="Shape 16"/>
          <p:cNvSpPr/>
          <p:nvPr/>
        </p:nvSpPr>
        <p:spPr>
          <a:xfrm>
            <a:off x="1097280" y="5760720"/>
            <a:ext cx="7932420" cy="2011680"/>
          </a:xfrm>
          <a:prstGeom prst="roundRect">
            <a:avLst>
              <a:gd name="adj" fmla="val 10000"/>
            </a:avLst>
          </a:prstGeom>
          <a:solidFill>
            <a:srgbClr val="1E1E1E"/>
          </a:solidFill>
          <a:ln w="12700">
            <a:solidFill>
              <a:srgbClr val="1E1E1E"/>
            </a:solidFill>
            <a:prstDash val="solid"/>
          </a:ln>
        </p:spPr>
      </p:sp>
      <p:sp>
        <p:nvSpPr>
          <p:cNvPr id="20" name="Shape 17"/>
          <p:cNvSpPr/>
          <p:nvPr/>
        </p:nvSpPr>
        <p:spPr>
          <a:xfrm>
            <a:off x="1371600" y="5989320"/>
            <a:ext cx="777240" cy="365760"/>
          </a:xfrm>
          <a:prstGeom prst="roundRect">
            <a:avLst>
              <a:gd name="adj" fmla="val 50000"/>
            </a:avLst>
          </a:prstGeom>
          <a:solidFill>
            <a:srgbClr val="F7761F"/>
          </a:solidFill>
          <a:ln w="12700">
            <a:solidFill>
              <a:srgbClr val="F7761F"/>
            </a:solidFill>
            <a:prstDash val="solid"/>
          </a:ln>
        </p:spPr>
      </p:sp>
      <p:sp>
        <p:nvSpPr>
          <p:cNvPr id="21" name="Text 18"/>
          <p:cNvSpPr txBox="1"/>
          <p:nvPr/>
        </p:nvSpPr>
        <p:spPr>
          <a:xfrm>
            <a:off x="1371600" y="5989320"/>
            <a:ext cx="777240" cy="365760"/>
          </a:xfrm>
          <a:prstGeom prst="rect">
            <a:avLst/>
          </a:prstGeom>
          <a:noFill/>
          <a:ln/>
        </p:spPr>
        <p:txBody>
          <a:bodyPr wrap="square" lIns="0" tIns="0" rIns="0" bIns="0" rtlCol="0" anchor="ctr"/>
          <a:lstStyle/>
          <a:p>
            <a:pPr algn="ctr" indent="0" marL="0">
              <a:buNone/>
            </a:pPr>
            <a:r>
              <a:rPr lang="en-US" sz="1600" b="1" dirty="0">
                <a:solidFill>
                  <a:srgbClr val="000000"/>
                </a:solidFill>
                <a:latin typeface="Open Sauce" pitchFamily="34" charset="0"/>
                <a:ea typeface="Open Sauce" pitchFamily="34" charset="-122"/>
                <a:cs typeface="Open Sauce" pitchFamily="34" charset="-120"/>
              </a:rPr>
              <a:t>FM3</a:t>
            </a:r>
            <a:endParaRPr lang="en-US" sz="1600" dirty="0"/>
          </a:p>
        </p:txBody>
      </p:sp>
      <p:sp>
        <p:nvSpPr>
          <p:cNvPr id="22" name="Text 19"/>
          <p:cNvSpPr txBox="1"/>
          <p:nvPr/>
        </p:nvSpPr>
        <p:spPr>
          <a:xfrm>
            <a:off x="2331720" y="5961888"/>
            <a:ext cx="6423660" cy="411480"/>
          </a:xfrm>
          <a:prstGeom prst="rect">
            <a:avLst/>
          </a:prstGeom>
          <a:noFill/>
          <a:ln/>
        </p:spPr>
        <p:txBody>
          <a:bodyPr wrap="square" lIns="0" tIns="0" rIns="0" bIns="0" rtlCol="0" anchor="ctr"/>
          <a:lstStyle/>
          <a:p>
            <a:pPr indent="0" marL="0">
              <a:buNone/>
            </a:pPr>
            <a:r>
              <a:rPr lang="en-US" sz="2500" b="1" dirty="0">
                <a:solidFill>
                  <a:srgbClr val="E4E4E4"/>
                </a:solidFill>
                <a:latin typeface="Open Sauce Bold" pitchFamily="34" charset="0"/>
                <a:ea typeface="Open Sauce Bold" pitchFamily="34" charset="-122"/>
                <a:cs typeface="Open Sauce Bold" pitchFamily="34" charset="-120"/>
              </a:rPr>
              <a:t>72-hour post-mortem gap</a:t>
            </a:r>
            <a:endParaRPr lang="en-US" sz="2500" dirty="0"/>
          </a:p>
        </p:txBody>
      </p:sp>
      <p:sp>
        <p:nvSpPr>
          <p:cNvPr id="23" name="Text 20"/>
          <p:cNvSpPr txBox="1"/>
          <p:nvPr/>
        </p:nvSpPr>
        <p:spPr>
          <a:xfrm>
            <a:off x="1371600" y="6492240"/>
            <a:ext cx="7383780" cy="566928"/>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Victims report 1–3 days later. Syndicates cash out in 12.4 minutes on average, so recovery sits near 10.7%.</a:t>
            </a:r>
            <a:endParaRPr lang="en-US" sz="1600" dirty="0"/>
          </a:p>
        </p:txBody>
      </p:sp>
      <p:sp>
        <p:nvSpPr>
          <p:cNvPr id="24" name="Text 21"/>
          <p:cNvSpPr txBox="1"/>
          <p:nvPr/>
        </p:nvSpPr>
        <p:spPr>
          <a:xfrm>
            <a:off x="1371600" y="7132320"/>
            <a:ext cx="7383780" cy="548640"/>
          </a:xfrm>
          <a:prstGeom prst="rect">
            <a:avLst/>
          </a:prstGeom>
          <a:noFill/>
          <a:ln/>
        </p:spPr>
        <p:txBody>
          <a:bodyPr wrap="square" lIns="0" tIns="0" rIns="0" bIns="0" rtlCol="0" anchor="t"/>
          <a:lstStyle/>
          <a:p>
            <a:pPr indent="0" marL="0">
              <a:buNone/>
            </a:pPr>
            <a:r>
              <a:rPr lang="en-US" sz="1400" b="1" dirty="0">
                <a:solidFill>
                  <a:srgbClr val="F7761F"/>
                </a:solidFill>
                <a:latin typeface="Open Sauce" pitchFamily="34" charset="0"/>
                <a:ea typeface="Open Sauce" pitchFamily="34" charset="-122"/>
                <a:cs typeface="Open Sauce" pitchFamily="34" charset="-120"/>
              </a:rPr>
              <a:t>ARCHITECTURAL FIX  </a:t>
            </a:r>
            <a:pPr indent="0" marL="0">
              <a:buNone/>
            </a:pPr>
            <a:r>
              <a:rPr lang="en-US" sz="1600" dirty="0">
                <a:solidFill>
                  <a:srgbClr val="E4E4E4"/>
                </a:solidFill>
                <a:latin typeface="Open Sauce" pitchFamily="34" charset="0"/>
                <a:ea typeface="Open Sauce" pitchFamily="34" charset="-122"/>
                <a:cs typeface="Open Sauce" pitchFamily="34" charset="-120"/>
              </a:rPr>
              <a:t>Golden-hour optimizer: exponential time-decay routing and automated downstream freezes.</a:t>
            </a:r>
            <a:endParaRPr lang="en-US" sz="1600" dirty="0"/>
          </a:p>
        </p:txBody>
      </p:sp>
      <p:sp>
        <p:nvSpPr>
          <p:cNvPr id="25" name="Shape 22"/>
          <p:cNvSpPr/>
          <p:nvPr/>
        </p:nvSpPr>
        <p:spPr>
          <a:xfrm>
            <a:off x="9258300" y="5760720"/>
            <a:ext cx="7932420" cy="2011680"/>
          </a:xfrm>
          <a:prstGeom prst="roundRect">
            <a:avLst>
              <a:gd name="adj" fmla="val 10000"/>
            </a:avLst>
          </a:prstGeom>
          <a:solidFill>
            <a:srgbClr val="1E1E1E"/>
          </a:solidFill>
          <a:ln w="12700">
            <a:solidFill>
              <a:srgbClr val="1E1E1E"/>
            </a:solidFill>
            <a:prstDash val="solid"/>
          </a:ln>
        </p:spPr>
      </p:sp>
      <p:sp>
        <p:nvSpPr>
          <p:cNvPr id="26" name="Shape 23"/>
          <p:cNvSpPr/>
          <p:nvPr/>
        </p:nvSpPr>
        <p:spPr>
          <a:xfrm>
            <a:off x="9532620" y="5989320"/>
            <a:ext cx="777240" cy="365760"/>
          </a:xfrm>
          <a:prstGeom prst="roundRect">
            <a:avLst>
              <a:gd name="adj" fmla="val 50000"/>
            </a:avLst>
          </a:prstGeom>
          <a:solidFill>
            <a:srgbClr val="F7761F"/>
          </a:solidFill>
          <a:ln w="12700">
            <a:solidFill>
              <a:srgbClr val="F7761F"/>
            </a:solidFill>
            <a:prstDash val="solid"/>
          </a:ln>
        </p:spPr>
      </p:sp>
      <p:sp>
        <p:nvSpPr>
          <p:cNvPr id="27" name="Text 24"/>
          <p:cNvSpPr txBox="1"/>
          <p:nvPr/>
        </p:nvSpPr>
        <p:spPr>
          <a:xfrm>
            <a:off x="9532620" y="5989320"/>
            <a:ext cx="777240" cy="365760"/>
          </a:xfrm>
          <a:prstGeom prst="rect">
            <a:avLst/>
          </a:prstGeom>
          <a:noFill/>
          <a:ln/>
        </p:spPr>
        <p:txBody>
          <a:bodyPr wrap="square" lIns="0" tIns="0" rIns="0" bIns="0" rtlCol="0" anchor="ctr"/>
          <a:lstStyle/>
          <a:p>
            <a:pPr algn="ctr" indent="0" marL="0">
              <a:buNone/>
            </a:pPr>
            <a:r>
              <a:rPr lang="en-US" sz="1600" b="1" dirty="0">
                <a:solidFill>
                  <a:srgbClr val="000000"/>
                </a:solidFill>
                <a:latin typeface="Open Sauce" pitchFamily="34" charset="0"/>
                <a:ea typeface="Open Sauce" pitchFamily="34" charset="-122"/>
                <a:cs typeface="Open Sauce" pitchFamily="34" charset="-120"/>
              </a:rPr>
              <a:t>FM4</a:t>
            </a:r>
            <a:endParaRPr lang="en-US" sz="1600" dirty="0"/>
          </a:p>
        </p:txBody>
      </p:sp>
      <p:sp>
        <p:nvSpPr>
          <p:cNvPr id="28" name="Text 25"/>
          <p:cNvSpPr txBox="1"/>
          <p:nvPr/>
        </p:nvSpPr>
        <p:spPr>
          <a:xfrm>
            <a:off x="10492740" y="5961888"/>
            <a:ext cx="6423660" cy="411480"/>
          </a:xfrm>
          <a:prstGeom prst="rect">
            <a:avLst/>
          </a:prstGeom>
          <a:noFill/>
          <a:ln/>
        </p:spPr>
        <p:txBody>
          <a:bodyPr wrap="square" lIns="0" tIns="0" rIns="0" bIns="0" rtlCol="0" anchor="ctr"/>
          <a:lstStyle/>
          <a:p>
            <a:pPr indent="0" marL="0">
              <a:buNone/>
            </a:pPr>
            <a:r>
              <a:rPr lang="en-US" sz="2500" b="1" dirty="0">
                <a:solidFill>
                  <a:srgbClr val="E4E4E4"/>
                </a:solidFill>
                <a:latin typeface="Open Sauce Bold" pitchFamily="34" charset="0"/>
                <a:ea typeface="Open Sauce Bold" pitchFamily="34" charset="-122"/>
                <a:cs typeface="Open Sauce Bold" pitchFamily="34" charset="-120"/>
              </a:rPr>
              <a:t>Liquidity paralysis</a:t>
            </a:r>
            <a:endParaRPr lang="en-US" sz="2500" dirty="0"/>
          </a:p>
        </p:txBody>
      </p:sp>
      <p:sp>
        <p:nvSpPr>
          <p:cNvPr id="29" name="Text 26"/>
          <p:cNvSpPr txBox="1"/>
          <p:nvPr/>
        </p:nvSpPr>
        <p:spPr>
          <a:xfrm>
            <a:off x="9532620" y="6492240"/>
            <a:ext cx="7383780" cy="566928"/>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Static volume caps lock out innocent agents during Eid and salary surges, when float demand is legitimately highest.</a:t>
            </a:r>
            <a:endParaRPr lang="en-US" sz="1600" dirty="0"/>
          </a:p>
        </p:txBody>
      </p:sp>
      <p:sp>
        <p:nvSpPr>
          <p:cNvPr id="30" name="Text 27"/>
          <p:cNvSpPr txBox="1"/>
          <p:nvPr/>
        </p:nvSpPr>
        <p:spPr>
          <a:xfrm>
            <a:off x="9532620" y="7132320"/>
            <a:ext cx="7383780" cy="548640"/>
          </a:xfrm>
          <a:prstGeom prst="rect">
            <a:avLst/>
          </a:prstGeom>
          <a:noFill/>
          <a:ln/>
        </p:spPr>
        <p:txBody>
          <a:bodyPr wrap="square" lIns="0" tIns="0" rIns="0" bIns="0" rtlCol="0" anchor="t"/>
          <a:lstStyle/>
          <a:p>
            <a:pPr indent="0" marL="0">
              <a:buNone/>
            </a:pPr>
            <a:r>
              <a:rPr lang="en-US" sz="1400" b="1" dirty="0">
                <a:solidFill>
                  <a:srgbClr val="F7761F"/>
                </a:solidFill>
                <a:latin typeface="Open Sauce" pitchFamily="34" charset="0"/>
                <a:ea typeface="Open Sauce" pitchFamily="34" charset="-122"/>
                <a:cs typeface="Open Sauce" pitchFamily="34" charset="-120"/>
              </a:rPr>
              <a:t>ARCHITECTURAL FIX  </a:t>
            </a:r>
            <a:pPr indent="0" marL="0">
              <a:buNone/>
            </a:pPr>
            <a:r>
              <a:rPr lang="en-US" sz="1600" dirty="0">
                <a:solidFill>
                  <a:srgbClr val="E4E4E4"/>
                </a:solidFill>
                <a:latin typeface="Open Sauce" pitchFamily="34" charset="0"/>
                <a:ea typeface="Open Sauce" pitchFamily="34" charset="-122"/>
                <a:cs typeface="Open Sauce" pitchFamily="34" charset="-120"/>
              </a:rPr>
              <a:t>Dual-score Agent Guard: operational pressure is scored apart from fraud complicity.</a:t>
            </a:r>
            <a:endParaRPr lang="en-US" sz="1600" dirty="0"/>
          </a:p>
        </p:txBody>
      </p:sp>
      <p:sp>
        <p:nvSpPr>
          <p:cNvPr id="31" name="Shape 28"/>
          <p:cNvSpPr/>
          <p:nvPr/>
        </p:nvSpPr>
        <p:spPr>
          <a:xfrm>
            <a:off x="1097280" y="7818120"/>
            <a:ext cx="3851910" cy="1005840"/>
          </a:xfrm>
          <a:prstGeom prst="roundRect">
            <a:avLst>
              <a:gd name="adj" fmla="val 20000"/>
            </a:avLst>
          </a:prstGeom>
          <a:solidFill>
            <a:srgbClr val="1E1E1E"/>
          </a:solidFill>
          <a:ln w="12700">
            <a:solidFill>
              <a:srgbClr val="1E1E1E"/>
            </a:solidFill>
            <a:prstDash val="solid"/>
          </a:ln>
        </p:spPr>
      </p:sp>
      <p:sp>
        <p:nvSpPr>
          <p:cNvPr id="32" name="Text 29"/>
          <p:cNvSpPr txBox="1"/>
          <p:nvPr/>
        </p:nvSpPr>
        <p:spPr>
          <a:xfrm>
            <a:off x="137160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85%+</a:t>
            </a:r>
            <a:endParaRPr lang="en-US" sz="3500" dirty="0"/>
          </a:p>
        </p:txBody>
      </p:sp>
      <p:sp>
        <p:nvSpPr>
          <p:cNvPr id="33" name="Text 30"/>
          <p:cNvSpPr txBox="1"/>
          <p:nvPr/>
        </p:nvSpPr>
        <p:spPr>
          <a:xfrm>
            <a:off x="137160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Of fraud is social engineering</a:t>
            </a:r>
            <a:endParaRPr lang="en-US" sz="1400" dirty="0"/>
          </a:p>
        </p:txBody>
      </p:sp>
      <p:sp>
        <p:nvSpPr>
          <p:cNvPr id="34" name="Shape 31"/>
          <p:cNvSpPr/>
          <p:nvPr/>
        </p:nvSpPr>
        <p:spPr>
          <a:xfrm>
            <a:off x="5177790" y="7818120"/>
            <a:ext cx="3851910" cy="1005840"/>
          </a:xfrm>
          <a:prstGeom prst="roundRect">
            <a:avLst>
              <a:gd name="adj" fmla="val 20000"/>
            </a:avLst>
          </a:prstGeom>
          <a:solidFill>
            <a:srgbClr val="1E1E1E"/>
          </a:solidFill>
          <a:ln w="12700">
            <a:solidFill>
              <a:srgbClr val="1E1E1E"/>
            </a:solidFill>
            <a:prstDash val="solid"/>
          </a:ln>
        </p:spPr>
      </p:sp>
      <p:sp>
        <p:nvSpPr>
          <p:cNvPr id="35" name="Text 32"/>
          <p:cNvSpPr txBox="1"/>
          <p:nvPr/>
        </p:nvSpPr>
        <p:spPr>
          <a:xfrm>
            <a:off x="545211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12.4 min</a:t>
            </a:r>
            <a:endParaRPr lang="en-US" sz="3500" dirty="0"/>
          </a:p>
        </p:txBody>
      </p:sp>
      <p:sp>
        <p:nvSpPr>
          <p:cNvPr id="36" name="Text 33"/>
          <p:cNvSpPr txBox="1"/>
          <p:nvPr/>
        </p:nvSpPr>
        <p:spPr>
          <a:xfrm>
            <a:off x="545211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Average syndicate cash-out time</a:t>
            </a:r>
            <a:endParaRPr lang="en-US" sz="1400" dirty="0"/>
          </a:p>
        </p:txBody>
      </p:sp>
      <p:sp>
        <p:nvSpPr>
          <p:cNvPr id="37" name="Shape 34"/>
          <p:cNvSpPr/>
          <p:nvPr/>
        </p:nvSpPr>
        <p:spPr>
          <a:xfrm>
            <a:off x="9258300" y="7818120"/>
            <a:ext cx="3851910" cy="1005840"/>
          </a:xfrm>
          <a:prstGeom prst="roundRect">
            <a:avLst>
              <a:gd name="adj" fmla="val 20000"/>
            </a:avLst>
          </a:prstGeom>
          <a:solidFill>
            <a:srgbClr val="1E1E1E"/>
          </a:solidFill>
          <a:ln w="12700">
            <a:solidFill>
              <a:srgbClr val="1E1E1E"/>
            </a:solidFill>
            <a:prstDash val="solid"/>
          </a:ln>
        </p:spPr>
      </p:sp>
      <p:sp>
        <p:nvSpPr>
          <p:cNvPr id="38" name="Text 35"/>
          <p:cNvSpPr txBox="1"/>
          <p:nvPr/>
        </p:nvSpPr>
        <p:spPr>
          <a:xfrm>
            <a:off x="953262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5+</a:t>
            </a:r>
            <a:endParaRPr lang="en-US" sz="3500" dirty="0"/>
          </a:p>
        </p:txBody>
      </p:sp>
      <p:sp>
        <p:nvSpPr>
          <p:cNvPr id="39" name="Text 36"/>
          <p:cNvSpPr txBox="1"/>
          <p:nvPr/>
        </p:nvSpPr>
        <p:spPr>
          <a:xfrm>
            <a:off x="953262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Proxy accounts layered per split</a:t>
            </a:r>
            <a:endParaRPr lang="en-US" sz="1400" dirty="0"/>
          </a:p>
        </p:txBody>
      </p:sp>
      <p:sp>
        <p:nvSpPr>
          <p:cNvPr id="40" name="Shape 37"/>
          <p:cNvSpPr/>
          <p:nvPr/>
        </p:nvSpPr>
        <p:spPr>
          <a:xfrm>
            <a:off x="13338810" y="7818120"/>
            <a:ext cx="3851910" cy="1005840"/>
          </a:xfrm>
          <a:prstGeom prst="roundRect">
            <a:avLst>
              <a:gd name="adj" fmla="val 20000"/>
            </a:avLst>
          </a:prstGeom>
          <a:solidFill>
            <a:srgbClr val="1E1E1E"/>
          </a:solidFill>
          <a:ln w="12700">
            <a:solidFill>
              <a:srgbClr val="1E1E1E"/>
            </a:solidFill>
            <a:prstDash val="solid"/>
          </a:ln>
        </p:spPr>
      </p:sp>
      <p:sp>
        <p:nvSpPr>
          <p:cNvPr id="41" name="Text 38"/>
          <p:cNvSpPr txBox="1"/>
          <p:nvPr/>
        </p:nvSpPr>
        <p:spPr>
          <a:xfrm>
            <a:off x="1361313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72 h</a:t>
            </a:r>
            <a:endParaRPr lang="en-US" sz="3500" dirty="0"/>
          </a:p>
        </p:txBody>
      </p:sp>
      <p:sp>
        <p:nvSpPr>
          <p:cNvPr id="42" name="Text 39"/>
          <p:cNvSpPr txBox="1"/>
          <p:nvPr/>
        </p:nvSpPr>
        <p:spPr>
          <a:xfrm>
            <a:off x="1361313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Typical report-to-action gap</a:t>
            </a:r>
            <a:endParaRPr lang="en-US" sz="1400" dirty="0"/>
          </a:p>
        </p:txBody>
      </p:sp>
      <p:sp>
        <p:nvSpPr>
          <p:cNvPr id="25" name="Slide Number Placeholder 0"/>
          <p:cNvSpPr>
            <a:spLocks noGrp="1"/>
          </p:cNvSpPr>
          <p:nvPr>
            <p:ph type="sldNum" sz="quarter" idx="4294967295"/>
          </p:nvPr>
        </p:nvSpPr>
        <p:spPr>
          <a:xfrm>
            <a:off x="15361920" y="9418320"/>
            <a:ext cx="1828800" cy="320040"/>
          </a:xfrm>
          <a:prstGeom prst="rect">
            <a:avLst/>
          </a:prstGeom>
          <a:extLst>
            <a:ext uri="{C572A759-6A51-4108-AA02-DFA0A04FC94B}">
              <ma14:wrappingTextBoxFlag xmlns:ma14="http://schemas.microsoft.com/office/mac/drawingml/2011/main" val="0"/>
            </a:ext>
          </a:extLst>
        </p:spPr>
        <p:txBody>
          <a:bodyPr/>
          <a:lstStyle>
            <a:lvl1pPr>
              <a:defRPr sz="1600">
                <a:solidFill>
                  <a:srgbClr val="A8A8A8"/>
                </a:solidFill>
                <a:latin typeface="Open Sauce"/>
                <a:ea typeface="Open Sauce"/>
                <a:cs typeface="Open Sauce"/>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13880592" y="457200"/>
            <a:ext cx="3310128" cy="457200"/>
          </a:xfrm>
          <a:prstGeom prst="roundRect">
            <a:avLst>
              <a:gd name="adj" fmla="val 50000"/>
            </a:avLst>
          </a:prstGeom>
          <a:solidFill>
            <a:srgbClr val="FFFFFF"/>
          </a:solidFill>
          <a:ln w="12700">
            <a:solidFill>
              <a:srgbClr val="FFFFFF"/>
            </a:solidFill>
            <a:prstDash val="solid"/>
          </a:ln>
        </p:spPr>
      </p:sp>
      <p:sp>
        <p:nvSpPr>
          <p:cNvPr id="3" name="Text 1"/>
          <p:cNvSpPr txBox="1"/>
          <p:nvPr/>
        </p:nvSpPr>
        <p:spPr>
          <a:xfrm>
            <a:off x="13880592" y="457200"/>
            <a:ext cx="3310128" cy="457200"/>
          </a:xfrm>
          <a:prstGeom prst="rect">
            <a:avLst/>
          </a:prstGeom>
          <a:noFill/>
          <a:ln/>
        </p:spPr>
        <p:txBody>
          <a:bodyPr wrap="square" lIns="0" tIns="0" rIns="0" bIns="0" rtlCol="0" anchor="ctr"/>
          <a:lstStyle/>
          <a:p>
            <a:pPr algn="ctr" indent="0" marL="0">
              <a:buNone/>
            </a:pPr>
            <a:r>
              <a:rPr lang="en-US" sz="1700" dirty="0">
                <a:solidFill>
                  <a:srgbClr val="000000"/>
                </a:solidFill>
                <a:latin typeface="Open Sauce" pitchFamily="34" charset="0"/>
                <a:ea typeface="Open Sauce" pitchFamily="34" charset="-122"/>
                <a:cs typeface="Open Sauce" pitchFamily="34" charset="-120"/>
              </a:rPr>
              <a:t>05 · ARCHITECTURE</a:t>
            </a:r>
            <a:endParaRPr lang="en-US" sz="1700" dirty="0"/>
          </a:p>
        </p:txBody>
      </p:sp>
      <p:sp>
        <p:nvSpPr>
          <p:cNvPr id="4" name="Title"/>
          <p:cNvSpPr txBox="1"/>
          <p:nvPr/>
        </p:nvSpPr>
        <p:spPr>
          <a:xfrm>
            <a:off x="1097280" y="1188720"/>
            <a:ext cx="16093440" cy="1005840"/>
          </a:xfrm>
          <a:prstGeom prst="rect">
            <a:avLst/>
          </a:prstGeom>
          <a:noFill/>
          <a:ln/>
        </p:spPr>
        <p:txBody>
          <a:bodyPr wrap="square" lIns="0" tIns="0" rIns="0" bIns="0" rtlCol="0" anchor="t"/>
          <a:lstStyle/>
          <a:p>
            <a:pPr indent="0" marL="0">
              <a:buNone/>
            </a:pPr>
            <a:r>
              <a:rPr lang="en-US" sz="3800" b="1" dirty="0">
                <a:solidFill>
                  <a:srgbClr val="E4E4E4"/>
                </a:solidFill>
                <a:latin typeface="Open Sauce Bold" pitchFamily="34" charset="0"/>
                <a:ea typeface="Open Sauce Bold" pitchFamily="34" charset="-122"/>
                <a:cs typeface="Open Sauce Bold" pitchFamily="34" charset="-120"/>
              </a:rPr>
              <a:t>A four-tier sidecar that decides in under 18 ms</a:t>
            </a:r>
            <a:endParaRPr lang="en-US" sz="3800" dirty="0"/>
          </a:p>
        </p:txBody>
      </p:sp>
      <p:sp>
        <p:nvSpPr>
          <p:cNvPr id="5" name="Subtitle"/>
          <p:cNvSpPr txBox="1"/>
          <p:nvPr/>
        </p:nvSpPr>
        <p:spPr>
          <a:xfrm>
            <a:off x="1097280" y="2286000"/>
            <a:ext cx="16093440" cy="868680"/>
          </a:xfrm>
          <a:prstGeom prst="rect">
            <a:avLst/>
          </a:prstGeom>
          <a:noFill/>
          <a:ln/>
        </p:spPr>
        <p:txBody>
          <a:bodyPr wrap="square" lIns="0" tIns="0" rIns="0" bIns="0" rtlCol="0" anchor="t"/>
          <a:lstStyle/>
          <a:p>
            <a:pPr indent="0" marL="0">
              <a:buNone/>
            </a:pPr>
            <a:r>
              <a:rPr lang="en-US" sz="2100" dirty="0">
                <a:solidFill>
                  <a:srgbClr val="A8A8A8"/>
                </a:solidFill>
                <a:latin typeface="Open Sauce" pitchFamily="34" charset="0"/>
                <a:ea typeface="Open Sauce" pitchFamily="34" charset="-122"/>
                <a:cs typeface="Open Sauce" pitchFamily="34" charset="-120"/>
              </a:rPr>
              <a:t>Deployed beside the core wallet engines over REST webhooks. Nothing in the existing transaction path is replaced.</a:t>
            </a:r>
            <a:endParaRPr lang="en-US" sz="2100" dirty="0"/>
          </a:p>
        </p:txBody>
      </p:sp>
      <p:sp>
        <p:nvSpPr>
          <p:cNvPr id="7" name="Shape 4"/>
          <p:cNvSpPr/>
          <p:nvPr/>
        </p:nvSpPr>
        <p:spPr>
          <a:xfrm>
            <a:off x="1097280" y="3520440"/>
            <a:ext cx="3851910" cy="2697480"/>
          </a:xfrm>
          <a:prstGeom prst="roundRect">
            <a:avLst>
              <a:gd name="adj" fmla="val 7458"/>
            </a:avLst>
          </a:prstGeom>
          <a:solidFill>
            <a:srgbClr val="1E1E1E"/>
          </a:solidFill>
          <a:ln w="12700">
            <a:solidFill>
              <a:srgbClr val="1E1E1E"/>
            </a:solidFill>
            <a:prstDash val="solid"/>
          </a:ln>
        </p:spPr>
      </p:sp>
      <p:sp>
        <p:nvSpPr>
          <p:cNvPr id="8" name="Text 5"/>
          <p:cNvSpPr txBox="1"/>
          <p:nvPr/>
        </p:nvSpPr>
        <p:spPr>
          <a:xfrm>
            <a:off x="1371600" y="3657600"/>
            <a:ext cx="330327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TIER 1</a:t>
            </a:r>
            <a:endParaRPr lang="en-US" sz="1500" dirty="0"/>
          </a:p>
        </p:txBody>
      </p:sp>
      <p:sp>
        <p:nvSpPr>
          <p:cNvPr id="9" name="Text 6"/>
          <p:cNvSpPr txBox="1"/>
          <p:nvPr/>
        </p:nvSpPr>
        <p:spPr>
          <a:xfrm>
            <a:off x="1371600" y="3977640"/>
            <a:ext cx="3303270" cy="411480"/>
          </a:xfrm>
          <a:prstGeom prst="rect">
            <a:avLst/>
          </a:prstGeom>
          <a:noFill/>
          <a:ln/>
        </p:spPr>
        <p:txBody>
          <a:bodyPr wrap="square" lIns="0" tIns="0" rIns="0" bIns="0" rtlCol="0" anchor="t"/>
          <a:lstStyle/>
          <a:p>
            <a:pPr indent="0" marL="0">
              <a:buNone/>
            </a:pPr>
            <a:r>
              <a:rPr lang="en-US" sz="1800" b="1" dirty="0">
                <a:solidFill>
                  <a:srgbClr val="E4E4E4"/>
                </a:solidFill>
                <a:latin typeface="Open Sauce Bold" pitchFamily="34" charset="0"/>
                <a:ea typeface="Open Sauce Bold" pitchFamily="34" charset="-122"/>
                <a:cs typeface="Open Sauce Bold" pitchFamily="34" charset="-120"/>
              </a:rPr>
              <a:t>Ingress</a:t>
            </a:r>
            <a:endParaRPr lang="en-US" sz="1800" dirty="0"/>
          </a:p>
        </p:txBody>
      </p:sp>
      <p:sp>
        <p:nvSpPr>
          <p:cNvPr id="10" name="Text 7"/>
          <p:cNvSpPr txBox="1"/>
          <p:nvPr/>
        </p:nvSpPr>
        <p:spPr>
          <a:xfrm>
            <a:off x="1371600" y="4526280"/>
            <a:ext cx="3303270" cy="1645920"/>
          </a:xfrm>
          <a:prstGeom prst="rect">
            <a:avLst/>
          </a:prstGeom>
          <a:noFill/>
          <a:ln/>
        </p:spPr>
        <p:txBody>
          <a:bodyPr wrap="square" lIns="0" tIns="0" rIns="0" bIns="0" rtlCol="0" anchor="t"/>
          <a:lstStyle/>
          <a:p>
            <a:pPr indent="0" marL="0">
              <a:spcAft>
                <a:spcPts val="600"/>
              </a:spcAft>
              <a:buNone/>
            </a:pPr>
            <a:r>
              <a:rPr lang="en-US" sz="1600" dirty="0">
                <a:solidFill>
                  <a:srgbClr val="A8A8A8"/>
                </a:solidFill>
                <a:latin typeface="Open Sauce" pitchFamily="34" charset="0"/>
                <a:ea typeface="Open Sauce" pitchFamily="34" charset="-122"/>
                <a:cs typeface="Open Sauce" pitchFamily="34" charset="-120"/>
              </a:rPr>
              <a:t>Webhook in, decision out</a:t>
            </a:r>
            <a:endParaRPr lang="en-US" sz="1700" dirty="0"/>
          </a:p>
          <a:p>
            <a:pPr marL="203200" indent="-203200">
              <a:spcAft>
                <a:spcPts val="500"/>
              </a:spcAft>
              <a:buSzPct val="100000"/>
              <a:buChar char="•"/>
            </a:pPr>
            <a:r>
              <a:rPr lang="en-US" sz="1700" dirty="0">
                <a:solidFill>
                  <a:srgbClr val="E4E4E4"/>
                </a:solidFill>
                <a:latin typeface="Open Sauce" pitchFamily="34" charset="0"/>
                <a:ea typeface="Open Sauce" pitchFamily="34" charset="-122"/>
                <a:cs typeface="Open Sauce" pitchFamily="34" charset="-120"/>
              </a:rPr>
              <a:t>Smartphone app</a:t>
            </a:r>
            <a:endParaRPr lang="en-US" sz="1700" dirty="0"/>
          </a:p>
          <a:p>
            <a:pPr marL="203200" indent="-203200">
              <a:spcAft>
                <a:spcPts val="500"/>
              </a:spcAft>
              <a:buSzPct val="100000"/>
              <a:buChar char="•"/>
            </a:pPr>
            <a:r>
              <a:rPr lang="en-US" sz="1700" dirty="0">
                <a:solidFill>
                  <a:srgbClr val="E4E4E4"/>
                </a:solidFill>
                <a:latin typeface="Open Sauce" pitchFamily="34" charset="0"/>
                <a:ea typeface="Open Sauce" pitchFamily="34" charset="-122"/>
                <a:cs typeface="Open Sauce" pitchFamily="34" charset="-120"/>
              </a:rPr>
              <a:t>USSD *268# feature phones</a:t>
            </a:r>
            <a:endParaRPr lang="en-US" sz="1700" dirty="0"/>
          </a:p>
          <a:p>
            <a:pPr marL="203200" indent="-203200">
              <a:spcAft>
                <a:spcPts val="500"/>
              </a:spcAft>
              <a:buSzPct val="100000"/>
              <a:buChar char="•"/>
            </a:pPr>
            <a:r>
              <a:rPr lang="en-US" sz="1700" dirty="0">
                <a:solidFill>
                  <a:srgbClr val="E4E4E4"/>
                </a:solidFill>
                <a:latin typeface="Open Sauce" pitchFamily="34" charset="0"/>
                <a:ea typeface="Open Sauce" pitchFamily="34" charset="-122"/>
                <a:cs typeface="Open Sauce" pitchFamily="34" charset="-120"/>
              </a:rPr>
              <a:t>Agent POS</a:t>
            </a:r>
            <a:endParaRPr lang="en-US" sz="1700" dirty="0"/>
          </a:p>
          <a:p>
            <a:pPr marL="203200" indent="-203200">
              <a:spcAft>
                <a:spcPts val="500"/>
              </a:spcAft>
              <a:buSzPct val="100000"/>
              <a:buChar char="•"/>
            </a:pPr>
            <a:r>
              <a:rPr lang="en-US" sz="1700" dirty="0">
                <a:solidFill>
                  <a:srgbClr val="E4E4E4"/>
                </a:solidFill>
                <a:latin typeface="Open Sauce" pitchFamily="34" charset="0"/>
                <a:ea typeface="Open Sauce" pitchFamily="34" charset="-122"/>
                <a:cs typeface="Open Sauce" pitchFamily="34" charset="-120"/>
              </a:rPr>
              <a:t>Merchant dynamic QR</a:t>
            </a:r>
            <a:endParaRPr lang="en-US" sz="1700" dirty="0"/>
          </a:p>
        </p:txBody>
      </p:sp>
      <p:sp>
        <p:nvSpPr>
          <p:cNvPr id="11" name="Text 8"/>
          <p:cNvSpPr txBox="1"/>
          <p:nvPr/>
        </p:nvSpPr>
        <p:spPr>
          <a:xfrm>
            <a:off x="4930902" y="4572000"/>
            <a:ext cx="265176" cy="457200"/>
          </a:xfrm>
          <a:prstGeom prst="rect">
            <a:avLst/>
          </a:prstGeom>
          <a:noFill/>
          <a:ln/>
        </p:spPr>
        <p:txBody>
          <a:bodyPr wrap="square" lIns="0" tIns="0" rIns="0" bIns="0" rtlCol="0" anchor="t"/>
          <a:lstStyle/>
          <a:p>
            <a:pPr algn="ctr" indent="0" marL="0">
              <a:buNone/>
            </a:pPr>
            <a:r>
              <a:rPr lang="en-US" sz="2500" b="1" dirty="0">
                <a:solidFill>
                  <a:srgbClr val="F7761F"/>
                </a:solidFill>
                <a:latin typeface="Open Sauce" pitchFamily="34" charset="0"/>
                <a:ea typeface="Open Sauce" pitchFamily="34" charset="-122"/>
                <a:cs typeface="Open Sauce" pitchFamily="34" charset="-120"/>
              </a:rPr>
              <a:t>›</a:t>
            </a:r>
            <a:endParaRPr lang="en-US" sz="2500" dirty="0"/>
          </a:p>
        </p:txBody>
      </p:sp>
      <p:sp>
        <p:nvSpPr>
          <p:cNvPr id="12" name="Shape 9"/>
          <p:cNvSpPr/>
          <p:nvPr/>
        </p:nvSpPr>
        <p:spPr>
          <a:xfrm>
            <a:off x="5177790" y="3520440"/>
            <a:ext cx="3851910" cy="2697480"/>
          </a:xfrm>
          <a:prstGeom prst="roundRect">
            <a:avLst>
              <a:gd name="adj" fmla="val 7458"/>
            </a:avLst>
          </a:prstGeom>
          <a:solidFill>
            <a:srgbClr val="1E1E1E"/>
          </a:solidFill>
          <a:ln w="12700">
            <a:solidFill>
              <a:srgbClr val="1E1E1E"/>
            </a:solidFill>
            <a:prstDash val="solid"/>
          </a:ln>
        </p:spPr>
      </p:sp>
      <p:sp>
        <p:nvSpPr>
          <p:cNvPr id="13" name="Text 10"/>
          <p:cNvSpPr txBox="1"/>
          <p:nvPr/>
        </p:nvSpPr>
        <p:spPr>
          <a:xfrm>
            <a:off x="5452110" y="3657600"/>
            <a:ext cx="330327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TIER 2</a:t>
            </a:r>
            <a:endParaRPr lang="en-US" sz="1500" dirty="0"/>
          </a:p>
        </p:txBody>
      </p:sp>
      <p:sp>
        <p:nvSpPr>
          <p:cNvPr id="14" name="Text 11"/>
          <p:cNvSpPr txBox="1"/>
          <p:nvPr/>
        </p:nvSpPr>
        <p:spPr>
          <a:xfrm>
            <a:off x="5452110" y="3977640"/>
            <a:ext cx="3303270" cy="411480"/>
          </a:xfrm>
          <a:prstGeom prst="rect">
            <a:avLst/>
          </a:prstGeom>
          <a:noFill/>
          <a:ln/>
        </p:spPr>
        <p:txBody>
          <a:bodyPr wrap="square" lIns="0" tIns="0" rIns="0" bIns="0" rtlCol="0" anchor="t"/>
          <a:lstStyle/>
          <a:p>
            <a:pPr indent="0" marL="0">
              <a:buNone/>
            </a:pPr>
            <a:r>
              <a:rPr lang="en-US" sz="1800" b="1" dirty="0">
                <a:solidFill>
                  <a:srgbClr val="E4E4E4"/>
                </a:solidFill>
                <a:latin typeface="Open Sauce Bold" pitchFamily="34" charset="0"/>
                <a:ea typeface="Open Sauce Bold" pitchFamily="34" charset="-122"/>
                <a:cs typeface="Open Sauce Bold" pitchFamily="34" charset="-120"/>
              </a:rPr>
              <a:t>Real-time decisioning</a:t>
            </a:r>
            <a:endParaRPr lang="en-US" sz="1800" dirty="0"/>
          </a:p>
        </p:txBody>
      </p:sp>
      <p:sp>
        <p:nvSpPr>
          <p:cNvPr id="15" name="Text 12"/>
          <p:cNvSpPr txBox="1"/>
          <p:nvPr/>
        </p:nvSpPr>
        <p:spPr>
          <a:xfrm>
            <a:off x="5452110" y="4526280"/>
            <a:ext cx="3303270" cy="1645920"/>
          </a:xfrm>
          <a:prstGeom prst="rect">
            <a:avLst/>
          </a:prstGeom>
          <a:noFill/>
          <a:ln/>
        </p:spPr>
        <p:txBody>
          <a:bodyPr wrap="square" lIns="0" tIns="0" rIns="0" bIns="0" rtlCol="0" anchor="t"/>
          <a:lstStyle/>
          <a:p>
            <a:pPr marL="203200" indent="-203200">
              <a:spcAft>
                <a:spcPts val="500"/>
              </a:spcAft>
              <a:buSzPct val="100000"/>
              <a:buChar char="•"/>
            </a:pPr>
            <a:r>
              <a:rPr lang="en-US" sz="1700" dirty="0">
                <a:solidFill>
                  <a:srgbClr val="E4E4E4"/>
                </a:solidFill>
                <a:latin typeface="Open Sauce" pitchFamily="34" charset="0"/>
                <a:ea typeface="Open Sauce" pitchFamily="34" charset="-122"/>
                <a:cs typeface="Open Sauce" pitchFamily="34" charset="-120"/>
              </a:rPr>
              <a:t>Bangla scam NLP</a:t>
            </a:r>
            <a:endParaRPr lang="en-US" sz="1700" dirty="0"/>
          </a:p>
          <a:p>
            <a:pPr marL="203200" indent="-203200">
              <a:spcAft>
                <a:spcPts val="500"/>
              </a:spcAft>
              <a:buSzPct val="100000"/>
              <a:buChar char="•"/>
            </a:pPr>
            <a:r>
              <a:rPr lang="en-US" sz="1700" dirty="0">
                <a:solidFill>
                  <a:srgbClr val="E4E4E4"/>
                </a:solidFill>
                <a:latin typeface="Open Sauce" pitchFamily="34" charset="0"/>
                <a:ea typeface="Open Sauce" pitchFamily="34" charset="-122"/>
                <a:cs typeface="Open Sauce" pitchFamily="34" charset="-120"/>
              </a:rPr>
              <a:t>Behavioral ATO signal store</a:t>
            </a:r>
            <a:endParaRPr lang="en-US" sz="1700" dirty="0"/>
          </a:p>
          <a:p>
            <a:pPr marL="203200" indent="-203200">
              <a:spcAft>
                <a:spcPts val="500"/>
              </a:spcAft>
              <a:buSzPct val="100000"/>
              <a:buChar char="•"/>
            </a:pPr>
            <a:r>
              <a:rPr lang="en-US" sz="1700" dirty="0">
                <a:solidFill>
                  <a:srgbClr val="E4E4E4"/>
                </a:solidFill>
                <a:latin typeface="Open Sauce" pitchFamily="34" charset="0"/>
                <a:ea typeface="Open Sauce" pitchFamily="34" charset="-122"/>
                <a:cs typeface="Open Sauce" pitchFamily="34" charset="-120"/>
              </a:rPr>
              <a:t>Micro-velocity scoring</a:t>
            </a:r>
            <a:endParaRPr lang="en-US" sz="1700" dirty="0"/>
          </a:p>
        </p:txBody>
      </p:sp>
      <p:sp>
        <p:nvSpPr>
          <p:cNvPr id="16" name="Text 13"/>
          <p:cNvSpPr txBox="1"/>
          <p:nvPr/>
        </p:nvSpPr>
        <p:spPr>
          <a:xfrm>
            <a:off x="9011412" y="4572000"/>
            <a:ext cx="265176" cy="457200"/>
          </a:xfrm>
          <a:prstGeom prst="rect">
            <a:avLst/>
          </a:prstGeom>
          <a:noFill/>
          <a:ln/>
        </p:spPr>
        <p:txBody>
          <a:bodyPr wrap="square" lIns="0" tIns="0" rIns="0" bIns="0" rtlCol="0" anchor="t"/>
          <a:lstStyle/>
          <a:p>
            <a:pPr algn="ctr" indent="0" marL="0">
              <a:buNone/>
            </a:pPr>
            <a:r>
              <a:rPr lang="en-US" sz="2500" b="1" dirty="0">
                <a:solidFill>
                  <a:srgbClr val="F7761F"/>
                </a:solidFill>
                <a:latin typeface="Open Sauce" pitchFamily="34" charset="0"/>
                <a:ea typeface="Open Sauce" pitchFamily="34" charset="-122"/>
                <a:cs typeface="Open Sauce" pitchFamily="34" charset="-120"/>
              </a:rPr>
              <a:t>›</a:t>
            </a:r>
            <a:endParaRPr lang="en-US" sz="2500" dirty="0"/>
          </a:p>
        </p:txBody>
      </p:sp>
      <p:sp>
        <p:nvSpPr>
          <p:cNvPr id="17" name="Shape 14"/>
          <p:cNvSpPr/>
          <p:nvPr/>
        </p:nvSpPr>
        <p:spPr>
          <a:xfrm>
            <a:off x="9258300" y="3520440"/>
            <a:ext cx="3851910" cy="2697480"/>
          </a:xfrm>
          <a:prstGeom prst="roundRect">
            <a:avLst>
              <a:gd name="adj" fmla="val 7458"/>
            </a:avLst>
          </a:prstGeom>
          <a:solidFill>
            <a:srgbClr val="1E1E1E"/>
          </a:solidFill>
          <a:ln w="12700">
            <a:solidFill>
              <a:srgbClr val="1E1E1E"/>
            </a:solidFill>
            <a:prstDash val="solid"/>
          </a:ln>
        </p:spPr>
      </p:sp>
      <p:sp>
        <p:nvSpPr>
          <p:cNvPr id="18" name="Text 15"/>
          <p:cNvSpPr txBox="1"/>
          <p:nvPr/>
        </p:nvSpPr>
        <p:spPr>
          <a:xfrm>
            <a:off x="9532620" y="3657600"/>
            <a:ext cx="330327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TIER 3</a:t>
            </a:r>
            <a:endParaRPr lang="en-US" sz="1500" dirty="0"/>
          </a:p>
        </p:txBody>
      </p:sp>
      <p:sp>
        <p:nvSpPr>
          <p:cNvPr id="19" name="Text 16"/>
          <p:cNvSpPr txBox="1"/>
          <p:nvPr/>
        </p:nvSpPr>
        <p:spPr>
          <a:xfrm>
            <a:off x="9532620" y="3977640"/>
            <a:ext cx="3303270" cy="411480"/>
          </a:xfrm>
          <a:prstGeom prst="rect">
            <a:avLst/>
          </a:prstGeom>
          <a:noFill/>
          <a:ln/>
        </p:spPr>
        <p:txBody>
          <a:bodyPr wrap="square" lIns="0" tIns="0" rIns="0" bIns="0" rtlCol="0" anchor="t"/>
          <a:lstStyle/>
          <a:p>
            <a:pPr indent="0" marL="0">
              <a:buNone/>
            </a:pPr>
            <a:r>
              <a:rPr lang="en-US" sz="1800" b="1" dirty="0">
                <a:solidFill>
                  <a:srgbClr val="E4E4E4"/>
                </a:solidFill>
                <a:latin typeface="Open Sauce Bold" pitchFamily="34" charset="0"/>
                <a:ea typeface="Open Sauce Bold" pitchFamily="34" charset="-122"/>
                <a:cs typeface="Open Sauce Bold" pitchFamily="34" charset="-120"/>
              </a:rPr>
              <a:t>Graph AI</a:t>
            </a:r>
            <a:endParaRPr lang="en-US" sz="1800" dirty="0"/>
          </a:p>
        </p:txBody>
      </p:sp>
      <p:sp>
        <p:nvSpPr>
          <p:cNvPr id="20" name="Text 17"/>
          <p:cNvSpPr txBox="1"/>
          <p:nvPr/>
        </p:nvSpPr>
        <p:spPr>
          <a:xfrm>
            <a:off x="9532620" y="4526280"/>
            <a:ext cx="3303270" cy="1645920"/>
          </a:xfrm>
          <a:prstGeom prst="rect">
            <a:avLst/>
          </a:prstGeom>
          <a:noFill/>
          <a:ln/>
        </p:spPr>
        <p:txBody>
          <a:bodyPr wrap="square" lIns="0" tIns="0" rIns="0" bIns="0" rtlCol="0" anchor="t"/>
          <a:lstStyle/>
          <a:p>
            <a:pPr marL="203200" indent="-203200">
              <a:spcAft>
                <a:spcPts val="500"/>
              </a:spcAft>
              <a:buSzPct val="100000"/>
              <a:buChar char="•"/>
            </a:pPr>
            <a:r>
              <a:rPr lang="en-US" sz="1700" dirty="0">
                <a:solidFill>
                  <a:srgbClr val="E4E4E4"/>
                </a:solidFill>
                <a:latin typeface="Open Sauce" pitchFamily="34" charset="0"/>
                <a:ea typeface="Open Sauce" pitchFamily="34" charset="-122"/>
                <a:cs typeface="Open Sauce" pitchFamily="34" charset="-120"/>
              </a:rPr>
              <a:t>FastTree mule rings (&lt;5 ms)</a:t>
            </a:r>
            <a:endParaRPr lang="en-US" sz="1700" dirty="0"/>
          </a:p>
          <a:p>
            <a:pPr marL="203200" indent="-203200">
              <a:spcAft>
                <a:spcPts val="500"/>
              </a:spcAft>
              <a:buSzPct val="100000"/>
              <a:buChar char="•"/>
            </a:pPr>
            <a:r>
              <a:rPr lang="en-US" sz="1700" dirty="0">
                <a:solidFill>
                  <a:srgbClr val="E4E4E4"/>
                </a:solidFill>
                <a:latin typeface="Open Sauce" pitchFamily="34" charset="0"/>
                <a:ea typeface="Open Sauce" pitchFamily="34" charset="-122"/>
                <a:cs typeface="Open Sauce" pitchFamily="34" charset="-120"/>
              </a:rPr>
              <a:t>Fan-in / fan-out topology</a:t>
            </a:r>
            <a:endParaRPr lang="en-US" sz="1700" dirty="0"/>
          </a:p>
          <a:p>
            <a:pPr marL="203200" indent="-203200">
              <a:spcAft>
                <a:spcPts val="500"/>
              </a:spcAft>
              <a:buSzPct val="100000"/>
              <a:buChar char="•"/>
            </a:pPr>
            <a:r>
              <a:rPr lang="en-US" sz="1700" dirty="0">
                <a:solidFill>
                  <a:srgbClr val="E4E4E4"/>
                </a:solidFill>
                <a:latin typeface="Open Sauce" pitchFamily="34" charset="0"/>
                <a:ea typeface="Open Sauce" pitchFamily="34" charset="-122"/>
                <a:cs typeface="Open Sauce" pitchFamily="34" charset="-120"/>
              </a:rPr>
              <a:t>Hardware IMEI collision graph</a:t>
            </a:r>
            <a:endParaRPr lang="en-US" sz="1700" dirty="0"/>
          </a:p>
        </p:txBody>
      </p:sp>
      <p:sp>
        <p:nvSpPr>
          <p:cNvPr id="21" name="Text 18"/>
          <p:cNvSpPr txBox="1"/>
          <p:nvPr/>
        </p:nvSpPr>
        <p:spPr>
          <a:xfrm>
            <a:off x="13091922" y="4572000"/>
            <a:ext cx="265176" cy="457200"/>
          </a:xfrm>
          <a:prstGeom prst="rect">
            <a:avLst/>
          </a:prstGeom>
          <a:noFill/>
          <a:ln/>
        </p:spPr>
        <p:txBody>
          <a:bodyPr wrap="square" lIns="0" tIns="0" rIns="0" bIns="0" rtlCol="0" anchor="t"/>
          <a:lstStyle/>
          <a:p>
            <a:pPr algn="ctr" indent="0" marL="0">
              <a:buNone/>
            </a:pPr>
            <a:r>
              <a:rPr lang="en-US" sz="2500" b="1" dirty="0">
                <a:solidFill>
                  <a:srgbClr val="F7761F"/>
                </a:solidFill>
                <a:latin typeface="Open Sauce" pitchFamily="34" charset="0"/>
                <a:ea typeface="Open Sauce" pitchFamily="34" charset="-122"/>
                <a:cs typeface="Open Sauce" pitchFamily="34" charset="-120"/>
              </a:rPr>
              <a:t>›</a:t>
            </a:r>
            <a:endParaRPr lang="en-US" sz="2500" dirty="0"/>
          </a:p>
        </p:txBody>
      </p:sp>
      <p:sp>
        <p:nvSpPr>
          <p:cNvPr id="22" name="Shape 19"/>
          <p:cNvSpPr/>
          <p:nvPr/>
        </p:nvSpPr>
        <p:spPr>
          <a:xfrm>
            <a:off x="13338810" y="3520440"/>
            <a:ext cx="3851910" cy="2697480"/>
          </a:xfrm>
          <a:prstGeom prst="roundRect">
            <a:avLst>
              <a:gd name="adj" fmla="val 7458"/>
            </a:avLst>
          </a:prstGeom>
          <a:solidFill>
            <a:srgbClr val="1E1E1E"/>
          </a:solidFill>
          <a:ln w="12700">
            <a:solidFill>
              <a:srgbClr val="1E1E1E"/>
            </a:solidFill>
            <a:prstDash val="solid"/>
          </a:ln>
        </p:spPr>
      </p:sp>
      <p:sp>
        <p:nvSpPr>
          <p:cNvPr id="23" name="Text 20"/>
          <p:cNvSpPr txBox="1"/>
          <p:nvPr/>
        </p:nvSpPr>
        <p:spPr>
          <a:xfrm>
            <a:off x="13613130" y="3657600"/>
            <a:ext cx="330327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TIER 4</a:t>
            </a:r>
            <a:endParaRPr lang="en-US" sz="1500" dirty="0"/>
          </a:p>
        </p:txBody>
      </p:sp>
      <p:sp>
        <p:nvSpPr>
          <p:cNvPr id="24" name="Text 21"/>
          <p:cNvSpPr txBox="1"/>
          <p:nvPr/>
        </p:nvSpPr>
        <p:spPr>
          <a:xfrm>
            <a:off x="13613130" y="3977640"/>
            <a:ext cx="3303270" cy="411480"/>
          </a:xfrm>
          <a:prstGeom prst="rect">
            <a:avLst/>
          </a:prstGeom>
          <a:noFill/>
          <a:ln/>
        </p:spPr>
        <p:txBody>
          <a:bodyPr wrap="square" lIns="0" tIns="0" rIns="0" bIns="0" rtlCol="0" anchor="t"/>
          <a:lstStyle/>
          <a:p>
            <a:pPr indent="0" marL="0">
              <a:buNone/>
            </a:pPr>
            <a:r>
              <a:rPr lang="en-US" sz="1800" b="1" dirty="0">
                <a:solidFill>
                  <a:srgbClr val="E4E4E4"/>
                </a:solidFill>
                <a:latin typeface="Open Sauce Bold" pitchFamily="34" charset="0"/>
                <a:ea typeface="Open Sauce Bold" pitchFamily="34" charset="-122"/>
                <a:cs typeface="Open Sauce Bold" pitchFamily="34" charset="-120"/>
              </a:rPr>
              <a:t>Operations &amp; recovery</a:t>
            </a:r>
            <a:endParaRPr lang="en-US" sz="1800" dirty="0"/>
          </a:p>
        </p:txBody>
      </p:sp>
      <p:sp>
        <p:nvSpPr>
          <p:cNvPr id="25" name="Text 22"/>
          <p:cNvSpPr txBox="1"/>
          <p:nvPr/>
        </p:nvSpPr>
        <p:spPr>
          <a:xfrm>
            <a:off x="13613130" y="4526280"/>
            <a:ext cx="3303270" cy="1645920"/>
          </a:xfrm>
          <a:prstGeom prst="rect">
            <a:avLst/>
          </a:prstGeom>
          <a:noFill/>
          <a:ln/>
        </p:spPr>
        <p:txBody>
          <a:bodyPr wrap="square" lIns="0" tIns="0" rIns="0" bIns="0" rtlCol="0" anchor="t"/>
          <a:lstStyle/>
          <a:p>
            <a:pPr marL="203200" indent="-203200">
              <a:spcAft>
                <a:spcPts val="500"/>
              </a:spcAft>
              <a:buSzPct val="100000"/>
              <a:buChar char="•"/>
            </a:pPr>
            <a:r>
              <a:rPr lang="en-US" sz="1700" dirty="0">
                <a:solidFill>
                  <a:srgbClr val="E4E4E4"/>
                </a:solidFill>
                <a:latin typeface="Open Sauce" pitchFamily="34" charset="0"/>
                <a:ea typeface="Open Sauce" pitchFamily="34" charset="-122"/>
                <a:cs typeface="Open Sauce" pitchFamily="34" charset="-120"/>
              </a:rPr>
              <a:t>Grounded investigation copilot</a:t>
            </a:r>
            <a:endParaRPr lang="en-US" sz="1700" dirty="0"/>
          </a:p>
          <a:p>
            <a:pPr marL="203200" indent="-203200">
              <a:spcAft>
                <a:spcPts val="500"/>
              </a:spcAft>
              <a:buSzPct val="100000"/>
              <a:buChar char="•"/>
            </a:pPr>
            <a:r>
              <a:rPr lang="en-US" sz="1700" dirty="0">
                <a:solidFill>
                  <a:srgbClr val="E4E4E4"/>
                </a:solidFill>
                <a:latin typeface="Open Sauce" pitchFamily="34" charset="0"/>
                <a:ea typeface="Open Sauce" pitchFamily="34" charset="-122"/>
                <a:cs typeface="Open Sauce" pitchFamily="34" charset="-120"/>
              </a:rPr>
              <a:t>Golden-hour route optimizer</a:t>
            </a:r>
            <a:endParaRPr lang="en-US" sz="1700" dirty="0"/>
          </a:p>
          <a:p>
            <a:pPr marL="203200" indent="-203200">
              <a:spcAft>
                <a:spcPts val="500"/>
              </a:spcAft>
              <a:buSzPct val="100000"/>
              <a:buChar char="•"/>
            </a:pPr>
            <a:r>
              <a:rPr lang="en-US" sz="1700" dirty="0">
                <a:solidFill>
                  <a:srgbClr val="E4E4E4"/>
                </a:solidFill>
                <a:latin typeface="Open Sauce" pitchFamily="34" charset="0"/>
                <a:ea typeface="Open Sauce" pitchFamily="34" charset="-122"/>
                <a:cs typeface="Open Sauce" pitchFamily="34" charset="-120"/>
              </a:rPr>
              <a:t>SHA-256 tamper-evident ledger</a:t>
            </a:r>
            <a:endParaRPr lang="en-US" sz="1700" dirty="0"/>
          </a:p>
        </p:txBody>
      </p:sp>
      <p:sp>
        <p:nvSpPr>
          <p:cNvPr id="26" name="Shape 23"/>
          <p:cNvSpPr/>
          <p:nvPr/>
        </p:nvSpPr>
        <p:spPr>
          <a:xfrm>
            <a:off x="1097280" y="6355080"/>
            <a:ext cx="3566160" cy="1325880"/>
          </a:xfrm>
          <a:prstGeom prst="roundRect">
            <a:avLst>
              <a:gd name="adj" fmla="val 15172"/>
            </a:avLst>
          </a:prstGeom>
          <a:solidFill>
            <a:srgbClr val="F7761F"/>
          </a:solidFill>
          <a:ln w="12700">
            <a:solidFill>
              <a:srgbClr val="F7761F"/>
            </a:solidFill>
            <a:prstDash val="solid"/>
          </a:ln>
        </p:spPr>
      </p:sp>
      <p:sp>
        <p:nvSpPr>
          <p:cNvPr id="27" name="Text 24"/>
          <p:cNvSpPr txBox="1"/>
          <p:nvPr/>
        </p:nvSpPr>
        <p:spPr>
          <a:xfrm>
            <a:off x="1371600" y="6492240"/>
            <a:ext cx="3017520" cy="731520"/>
          </a:xfrm>
          <a:prstGeom prst="rect">
            <a:avLst/>
          </a:prstGeom>
          <a:noFill/>
          <a:ln/>
        </p:spPr>
        <p:txBody>
          <a:bodyPr wrap="square" lIns="0" tIns="0" rIns="0" bIns="0" rtlCol="0" anchor="ctr"/>
          <a:lstStyle/>
          <a:p>
            <a:pPr indent="0" marL="0">
              <a:buNone/>
            </a:pPr>
            <a:r>
              <a:rPr lang="en-US" sz="5100" b="1" dirty="0">
                <a:solidFill>
                  <a:srgbClr val="000000"/>
                </a:solidFill>
                <a:latin typeface="Open Sauce Bold" pitchFamily="34" charset="0"/>
                <a:ea typeface="Open Sauce Bold" pitchFamily="34" charset="-122"/>
                <a:cs typeface="Open Sauce Bold" pitchFamily="34" charset="-120"/>
              </a:rPr>
              <a:t>&lt;18 ms</a:t>
            </a:r>
            <a:endParaRPr lang="en-US" sz="5100" dirty="0"/>
          </a:p>
        </p:txBody>
      </p:sp>
      <p:sp>
        <p:nvSpPr>
          <p:cNvPr id="28" name="Text 25"/>
          <p:cNvSpPr txBox="1"/>
          <p:nvPr/>
        </p:nvSpPr>
        <p:spPr>
          <a:xfrm>
            <a:off x="1371600" y="7223760"/>
            <a:ext cx="3017520" cy="320040"/>
          </a:xfrm>
          <a:prstGeom prst="rect">
            <a:avLst/>
          </a:prstGeom>
          <a:noFill/>
          <a:ln/>
        </p:spPr>
        <p:txBody>
          <a:bodyPr wrap="square" lIns="0" tIns="0" rIns="0" bIns="0" rtlCol="0" anchor="t"/>
          <a:lstStyle/>
          <a:p>
            <a:pPr indent="0" marL="0">
              <a:buNone/>
            </a:pPr>
            <a:r>
              <a:rPr lang="en-US" sz="1600" b="1" dirty="0">
                <a:solidFill>
                  <a:srgbClr val="000000"/>
                </a:solidFill>
                <a:latin typeface="Open Sauce" pitchFamily="34" charset="0"/>
                <a:ea typeface="Open Sauce" pitchFamily="34" charset="-122"/>
                <a:cs typeface="Open Sauce" pitchFamily="34" charset="-120"/>
              </a:rPr>
              <a:t>DECISION SLA</a:t>
            </a:r>
            <a:endParaRPr lang="en-US" sz="1600" dirty="0"/>
          </a:p>
        </p:txBody>
      </p:sp>
      <p:sp>
        <p:nvSpPr>
          <p:cNvPr id="29" name="Shape 26"/>
          <p:cNvSpPr/>
          <p:nvPr/>
        </p:nvSpPr>
        <p:spPr>
          <a:xfrm>
            <a:off x="4892040" y="6355080"/>
            <a:ext cx="5669280" cy="1325880"/>
          </a:xfrm>
          <a:prstGeom prst="roundRect">
            <a:avLst>
              <a:gd name="adj" fmla="val 15172"/>
            </a:avLst>
          </a:prstGeom>
          <a:solidFill>
            <a:srgbClr val="141414"/>
          </a:solidFill>
          <a:ln w="12700">
            <a:solidFill>
              <a:srgbClr val="141414"/>
            </a:solidFill>
            <a:prstDash val="solid"/>
          </a:ln>
        </p:spPr>
      </p:sp>
      <p:sp>
        <p:nvSpPr>
          <p:cNvPr id="30" name="Text 27"/>
          <p:cNvSpPr txBox="1"/>
          <p:nvPr/>
        </p:nvSpPr>
        <p:spPr>
          <a:xfrm>
            <a:off x="5166360" y="6492240"/>
            <a:ext cx="512064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ACTION LADDER</a:t>
            </a:r>
            <a:endParaRPr lang="en-US" sz="1500" dirty="0"/>
          </a:p>
        </p:txBody>
      </p:sp>
      <p:sp>
        <p:nvSpPr>
          <p:cNvPr id="31" name="Text 28"/>
          <p:cNvSpPr txBox="1"/>
          <p:nvPr/>
        </p:nvSpPr>
        <p:spPr>
          <a:xfrm>
            <a:off x="5166360" y="6858000"/>
            <a:ext cx="5212080" cy="685800"/>
          </a:xfrm>
          <a:prstGeom prst="rect">
            <a:avLst/>
          </a:prstGeom>
          <a:noFill/>
          <a:ln/>
        </p:spPr>
        <p:txBody>
          <a:bodyPr wrap="square" lIns="0" tIns="0" rIns="0" bIns="0" rtlCol="0" anchor="t"/>
          <a:lstStyle/>
          <a:p>
            <a:pPr indent="0" marL="0">
              <a:buNone/>
            </a:pPr>
            <a:r>
              <a:rPr lang="en-US" sz="2100" b="1" dirty="0">
                <a:solidFill>
                  <a:srgbClr val="E4E4E4"/>
                </a:solidFill>
                <a:latin typeface="Open Sauce" pitchFamily="34" charset="0"/>
                <a:ea typeface="Open Sauce" pitchFamily="34" charset="-122"/>
                <a:cs typeface="Open Sauce" pitchFamily="34" charset="-120"/>
              </a:rPr>
              <a:t>ALLOW · WARN · PAUSE_VERIFY · HOLD_ASSIST · BLOCK</a:t>
            </a:r>
            <a:endParaRPr lang="en-US" sz="2100" dirty="0"/>
          </a:p>
        </p:txBody>
      </p:sp>
      <p:sp>
        <p:nvSpPr>
          <p:cNvPr id="32" name="Shape 29"/>
          <p:cNvSpPr/>
          <p:nvPr/>
        </p:nvSpPr>
        <p:spPr>
          <a:xfrm>
            <a:off x="10789920" y="6355080"/>
            <a:ext cx="6400800" cy="1325880"/>
          </a:xfrm>
          <a:prstGeom prst="roundRect">
            <a:avLst>
              <a:gd name="adj" fmla="val 15172"/>
            </a:avLst>
          </a:prstGeom>
          <a:solidFill>
            <a:srgbClr val="141414"/>
          </a:solidFill>
          <a:ln w="12700">
            <a:solidFill>
              <a:srgbClr val="141414"/>
            </a:solidFill>
            <a:prstDash val="solid"/>
          </a:ln>
        </p:spPr>
      </p:sp>
      <p:sp>
        <p:nvSpPr>
          <p:cNvPr id="33" name="Text 30"/>
          <p:cNvSpPr txBox="1"/>
          <p:nvPr/>
        </p:nvSpPr>
        <p:spPr>
          <a:xfrm>
            <a:off x="11064240" y="6492240"/>
            <a:ext cx="457200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TECH STACK</a:t>
            </a:r>
            <a:endParaRPr lang="en-US" sz="1500" dirty="0"/>
          </a:p>
        </p:txBody>
      </p:sp>
      <p:sp>
        <p:nvSpPr>
          <p:cNvPr id="34" name="Text 31"/>
          <p:cNvSpPr txBox="1"/>
          <p:nvPr/>
        </p:nvSpPr>
        <p:spPr>
          <a:xfrm>
            <a:off x="11064240" y="6812280"/>
            <a:ext cx="5852160" cy="822960"/>
          </a:xfrm>
          <a:prstGeom prst="rect">
            <a:avLst/>
          </a:prstGeom>
          <a:noFill/>
          <a:ln/>
        </p:spPr>
        <p:txBody>
          <a:bodyPr wrap="square" lIns="0" tIns="0" rIns="0" bIns="0" rtlCol="0" anchor="t"/>
          <a:lstStyle/>
          <a:p>
            <a:pPr indent="0" marL="0">
              <a:buNone/>
            </a:pPr>
            <a:r>
              <a:rPr lang="en-US" sz="1600" dirty="0">
                <a:solidFill>
                  <a:srgbClr val="E4E4E4"/>
                </a:solidFill>
                <a:latin typeface="Open Sauce" pitchFamily="34" charset="0"/>
                <a:ea typeface="Open Sauce" pitchFamily="34" charset="-122"/>
                <a:cs typeface="Open Sauce" pitchFamily="34" charset="-120"/>
              </a:rPr>
              <a:t>Next.js 15 · React 19 · TypeScript · Express</a:t>
            </a:r>
            <a:endParaRPr lang="en-US" sz="1600" dirty="0"/>
          </a:p>
          <a:p>
            <a:pPr indent="0" marL="0">
              <a:buNone/>
            </a:pPr>
            <a:r>
              <a:rPr lang="en-US" sz="1600" dirty="0">
                <a:solidFill>
                  <a:srgbClr val="E4E4E4"/>
                </a:solidFill>
                <a:latin typeface="Open Sauce" pitchFamily="34" charset="0"/>
                <a:ea typeface="Open Sauce" pitchFamily="34" charset="-122"/>
                <a:cs typeface="Open Sauce" pitchFamily="34" charset="-120"/>
              </a:rPr>
              <a:t>Neon serverless PostgreSQL with pooling</a:t>
            </a:r>
            <a:endParaRPr lang="en-US" sz="1600" dirty="0"/>
          </a:p>
          <a:p>
            <a:pPr indent="0" marL="0">
              <a:buNone/>
            </a:pPr>
            <a:r>
              <a:rPr lang="en-US" sz="1600" dirty="0">
                <a:solidFill>
                  <a:srgbClr val="E4E4E4"/>
                </a:solidFill>
                <a:latin typeface="Open Sauce" pitchFamily="34" charset="0"/>
                <a:ea typeface="Open Sauce" pitchFamily="34" charset="-122"/>
                <a:cs typeface="Open Sauce" pitchFamily="34" charset="-120"/>
              </a:rPr>
              <a:t>REST webhook sidecar · 151 / 151 Vitest suites passing</a:t>
            </a:r>
            <a:endParaRPr lang="en-US" sz="1600" dirty="0"/>
          </a:p>
        </p:txBody>
      </p:sp>
      <p:sp>
        <p:nvSpPr>
          <p:cNvPr id="35" name="Shape 32"/>
          <p:cNvSpPr/>
          <p:nvPr/>
        </p:nvSpPr>
        <p:spPr>
          <a:xfrm>
            <a:off x="1097280" y="7818120"/>
            <a:ext cx="3851910" cy="1005840"/>
          </a:xfrm>
          <a:prstGeom prst="roundRect">
            <a:avLst>
              <a:gd name="adj" fmla="val 20000"/>
            </a:avLst>
          </a:prstGeom>
          <a:solidFill>
            <a:srgbClr val="1E1E1E"/>
          </a:solidFill>
          <a:ln w="12700">
            <a:solidFill>
              <a:srgbClr val="1E1E1E"/>
            </a:solidFill>
            <a:prstDash val="solid"/>
          </a:ln>
        </p:spPr>
      </p:sp>
      <p:sp>
        <p:nvSpPr>
          <p:cNvPr id="36" name="Text 33"/>
          <p:cNvSpPr txBox="1"/>
          <p:nvPr/>
        </p:nvSpPr>
        <p:spPr>
          <a:xfrm>
            <a:off x="137160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4</a:t>
            </a:r>
            <a:endParaRPr lang="en-US" sz="3500" dirty="0"/>
          </a:p>
        </p:txBody>
      </p:sp>
      <p:sp>
        <p:nvSpPr>
          <p:cNvPr id="37" name="Text 34"/>
          <p:cNvSpPr txBox="1"/>
          <p:nvPr/>
        </p:nvSpPr>
        <p:spPr>
          <a:xfrm>
            <a:off x="137160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Tiers, one decision path</a:t>
            </a:r>
            <a:endParaRPr lang="en-US" sz="1400" dirty="0"/>
          </a:p>
        </p:txBody>
      </p:sp>
      <p:sp>
        <p:nvSpPr>
          <p:cNvPr id="38" name="Shape 35"/>
          <p:cNvSpPr/>
          <p:nvPr/>
        </p:nvSpPr>
        <p:spPr>
          <a:xfrm>
            <a:off x="5177790" y="7818120"/>
            <a:ext cx="3851910" cy="1005840"/>
          </a:xfrm>
          <a:prstGeom prst="roundRect">
            <a:avLst>
              <a:gd name="adj" fmla="val 20000"/>
            </a:avLst>
          </a:prstGeom>
          <a:solidFill>
            <a:srgbClr val="1E1E1E"/>
          </a:solidFill>
          <a:ln w="12700">
            <a:solidFill>
              <a:srgbClr val="1E1E1E"/>
            </a:solidFill>
            <a:prstDash val="solid"/>
          </a:ln>
        </p:spPr>
      </p:sp>
      <p:sp>
        <p:nvSpPr>
          <p:cNvPr id="39" name="Text 36"/>
          <p:cNvSpPr txBox="1"/>
          <p:nvPr/>
        </p:nvSpPr>
        <p:spPr>
          <a:xfrm>
            <a:off x="545211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5</a:t>
            </a:r>
            <a:endParaRPr lang="en-US" sz="3500" dirty="0"/>
          </a:p>
        </p:txBody>
      </p:sp>
      <p:sp>
        <p:nvSpPr>
          <p:cNvPr id="40" name="Text 37"/>
          <p:cNvSpPr txBox="1"/>
          <p:nvPr/>
        </p:nvSpPr>
        <p:spPr>
          <a:xfrm>
            <a:off x="545211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Actions, from ALLOW to BLOCK</a:t>
            </a:r>
            <a:endParaRPr lang="en-US" sz="1400" dirty="0"/>
          </a:p>
        </p:txBody>
      </p:sp>
      <p:sp>
        <p:nvSpPr>
          <p:cNvPr id="41" name="Shape 38"/>
          <p:cNvSpPr/>
          <p:nvPr/>
        </p:nvSpPr>
        <p:spPr>
          <a:xfrm>
            <a:off x="9258300" y="7818120"/>
            <a:ext cx="3851910" cy="1005840"/>
          </a:xfrm>
          <a:prstGeom prst="roundRect">
            <a:avLst>
              <a:gd name="adj" fmla="val 20000"/>
            </a:avLst>
          </a:prstGeom>
          <a:solidFill>
            <a:srgbClr val="1E1E1E"/>
          </a:solidFill>
          <a:ln w="12700">
            <a:solidFill>
              <a:srgbClr val="1E1E1E"/>
            </a:solidFill>
            <a:prstDash val="solid"/>
          </a:ln>
        </p:spPr>
      </p:sp>
      <p:sp>
        <p:nvSpPr>
          <p:cNvPr id="42" name="Text 39"/>
          <p:cNvSpPr txBox="1"/>
          <p:nvPr/>
        </p:nvSpPr>
        <p:spPr>
          <a:xfrm>
            <a:off x="953262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&lt;5 ms</a:t>
            </a:r>
            <a:endParaRPr lang="en-US" sz="3500" dirty="0"/>
          </a:p>
        </p:txBody>
      </p:sp>
      <p:sp>
        <p:nvSpPr>
          <p:cNvPr id="43" name="Text 40"/>
          <p:cNvSpPr txBox="1"/>
          <p:nvPr/>
        </p:nvSpPr>
        <p:spPr>
          <a:xfrm>
            <a:off x="953262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Mule-ring clustering</a:t>
            </a:r>
            <a:endParaRPr lang="en-US" sz="1400" dirty="0"/>
          </a:p>
        </p:txBody>
      </p:sp>
      <p:sp>
        <p:nvSpPr>
          <p:cNvPr id="44" name="Shape 41"/>
          <p:cNvSpPr/>
          <p:nvPr/>
        </p:nvSpPr>
        <p:spPr>
          <a:xfrm>
            <a:off x="13338810" y="7818120"/>
            <a:ext cx="3851910" cy="1005840"/>
          </a:xfrm>
          <a:prstGeom prst="roundRect">
            <a:avLst>
              <a:gd name="adj" fmla="val 20000"/>
            </a:avLst>
          </a:prstGeom>
          <a:solidFill>
            <a:srgbClr val="1E1E1E"/>
          </a:solidFill>
          <a:ln w="12700">
            <a:solidFill>
              <a:srgbClr val="1E1E1E"/>
            </a:solidFill>
            <a:prstDash val="solid"/>
          </a:ln>
        </p:spPr>
      </p:sp>
      <p:sp>
        <p:nvSpPr>
          <p:cNvPr id="45" name="Text 42"/>
          <p:cNvSpPr txBox="1"/>
          <p:nvPr/>
        </p:nvSpPr>
        <p:spPr>
          <a:xfrm>
            <a:off x="1361313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151/151</a:t>
            </a:r>
            <a:endParaRPr lang="en-US" sz="3500" dirty="0"/>
          </a:p>
        </p:txBody>
      </p:sp>
      <p:sp>
        <p:nvSpPr>
          <p:cNvPr id="46" name="Text 43"/>
          <p:cNvSpPr txBox="1"/>
          <p:nvPr/>
        </p:nvSpPr>
        <p:spPr>
          <a:xfrm>
            <a:off x="1361313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Vitest suites passing</a:t>
            </a:r>
            <a:endParaRPr lang="en-US" sz="1400" dirty="0"/>
          </a:p>
        </p:txBody>
      </p:sp>
      <p:sp>
        <p:nvSpPr>
          <p:cNvPr id="25" name="Slide Number Placeholder 0"/>
          <p:cNvSpPr>
            <a:spLocks noGrp="1"/>
          </p:cNvSpPr>
          <p:nvPr>
            <p:ph type="sldNum" sz="quarter" idx="4294967295"/>
          </p:nvPr>
        </p:nvSpPr>
        <p:spPr>
          <a:xfrm>
            <a:off x="15361920" y="9418320"/>
            <a:ext cx="1828800" cy="320040"/>
          </a:xfrm>
          <a:prstGeom prst="rect">
            <a:avLst/>
          </a:prstGeom>
          <a:extLst>
            <a:ext uri="{C572A759-6A51-4108-AA02-DFA0A04FC94B}">
              <ma14:wrappingTextBoxFlag xmlns:ma14="http://schemas.microsoft.com/office/mac/drawingml/2011/main" val="0"/>
            </a:ext>
          </a:extLst>
        </p:spPr>
        <p:txBody>
          <a:bodyPr/>
          <a:lstStyle>
            <a:lvl1pPr>
              <a:defRPr sz="1600">
                <a:solidFill>
                  <a:srgbClr val="A8A8A8"/>
                </a:solidFill>
                <a:latin typeface="Open Sauce"/>
                <a:ea typeface="Open Sauce"/>
                <a:cs typeface="Open Sauce"/>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11686032" y="457200"/>
            <a:ext cx="5504688" cy="457200"/>
          </a:xfrm>
          <a:prstGeom prst="roundRect">
            <a:avLst>
              <a:gd name="adj" fmla="val 50000"/>
            </a:avLst>
          </a:prstGeom>
          <a:solidFill>
            <a:srgbClr val="FFFFFF"/>
          </a:solidFill>
          <a:ln w="12700">
            <a:solidFill>
              <a:srgbClr val="FFFFFF"/>
            </a:solidFill>
            <a:prstDash val="solid"/>
          </a:ln>
        </p:spPr>
      </p:sp>
      <p:sp>
        <p:nvSpPr>
          <p:cNvPr id="3" name="Text 1"/>
          <p:cNvSpPr txBox="1"/>
          <p:nvPr/>
        </p:nvSpPr>
        <p:spPr>
          <a:xfrm>
            <a:off x="11686032" y="457200"/>
            <a:ext cx="5504688" cy="457200"/>
          </a:xfrm>
          <a:prstGeom prst="rect">
            <a:avLst/>
          </a:prstGeom>
          <a:noFill/>
          <a:ln/>
        </p:spPr>
        <p:txBody>
          <a:bodyPr wrap="square" lIns="0" tIns="0" rIns="0" bIns="0" rtlCol="0" anchor="ctr"/>
          <a:lstStyle/>
          <a:p>
            <a:pPr algn="ctr" indent="0" marL="0">
              <a:buNone/>
            </a:pPr>
            <a:r>
              <a:rPr lang="en-US" sz="1700" dirty="0">
                <a:solidFill>
                  <a:srgbClr val="000000"/>
                </a:solidFill>
                <a:latin typeface="Open Sauce" pitchFamily="34" charset="0"/>
                <a:ea typeface="Open Sauce" pitchFamily="34" charset="-122"/>
                <a:cs typeface="Open Sauce" pitchFamily="34" charset="-120"/>
              </a:rPr>
              <a:t>06 · PILLAR I · PRE-TRANSFER NLP</a:t>
            </a:r>
            <a:endParaRPr lang="en-US" sz="1700" dirty="0"/>
          </a:p>
        </p:txBody>
      </p:sp>
      <p:sp>
        <p:nvSpPr>
          <p:cNvPr id="4" name="Title"/>
          <p:cNvSpPr txBox="1"/>
          <p:nvPr/>
        </p:nvSpPr>
        <p:spPr>
          <a:xfrm>
            <a:off x="1097280" y="1188720"/>
            <a:ext cx="16093440" cy="1005840"/>
          </a:xfrm>
          <a:prstGeom prst="rect">
            <a:avLst/>
          </a:prstGeom>
          <a:noFill/>
          <a:ln/>
        </p:spPr>
        <p:txBody>
          <a:bodyPr wrap="square" lIns="0" tIns="0" rIns="0" bIns="0" rtlCol="0" anchor="t"/>
          <a:lstStyle/>
          <a:p>
            <a:pPr indent="0" marL="0">
              <a:buNone/>
            </a:pPr>
            <a:r>
              <a:rPr lang="en-US" sz="3800" b="1" dirty="0">
                <a:solidFill>
                  <a:srgbClr val="E4E4E4"/>
                </a:solidFill>
                <a:latin typeface="Open Sauce Bold" pitchFamily="34" charset="0"/>
                <a:ea typeface="Open Sauce Bold" pitchFamily="34" charset="-122"/>
                <a:cs typeface="Open Sauce Bold" pitchFamily="34" charset="-120"/>
              </a:rPr>
              <a:t>Catch the scam script while the victim is on the call</a:t>
            </a:r>
            <a:endParaRPr lang="en-US" sz="3800" dirty="0"/>
          </a:p>
        </p:txBody>
      </p:sp>
      <p:sp>
        <p:nvSpPr>
          <p:cNvPr id="5" name="Subtitle"/>
          <p:cNvSpPr txBox="1"/>
          <p:nvPr/>
        </p:nvSpPr>
        <p:spPr>
          <a:xfrm>
            <a:off x="1097280" y="2286000"/>
            <a:ext cx="16093440" cy="868680"/>
          </a:xfrm>
          <a:prstGeom prst="rect">
            <a:avLst/>
          </a:prstGeom>
          <a:noFill/>
          <a:ln/>
        </p:spPr>
        <p:txBody>
          <a:bodyPr wrap="square" lIns="0" tIns="0" rIns="0" bIns="0" rtlCol="0" anchor="t"/>
          <a:lstStyle/>
          <a:p>
            <a:pPr indent="0" marL="0">
              <a:buNone/>
            </a:pPr>
            <a:r>
              <a:rPr lang="en-US" sz="2100" dirty="0">
                <a:solidFill>
                  <a:srgbClr val="A8A8A8"/>
                </a:solidFill>
                <a:latin typeface="Open Sauce" pitchFamily="34" charset="0"/>
                <a:ea typeface="Open Sauce" pitchFamily="34" charset="-122"/>
                <a:cs typeface="Open Sauce" pitchFamily="34" charset="-120"/>
              </a:rPr>
              <a:t>A deterministic rule floor plus an LLM failover chain reads code-switched Bangla and Banglish, and can never be talked down.</a:t>
            </a:r>
            <a:endParaRPr lang="en-US" sz="2100" dirty="0"/>
          </a:p>
        </p:txBody>
      </p:sp>
      <p:sp>
        <p:nvSpPr>
          <p:cNvPr id="7" name="Shape 4"/>
          <p:cNvSpPr/>
          <p:nvPr/>
        </p:nvSpPr>
        <p:spPr>
          <a:xfrm>
            <a:off x="1097280" y="3520440"/>
            <a:ext cx="7132320" cy="960120"/>
          </a:xfrm>
          <a:prstGeom prst="roundRect">
            <a:avLst>
              <a:gd name="adj" fmla="val 20952"/>
            </a:avLst>
          </a:prstGeom>
          <a:solidFill>
            <a:srgbClr val="1E1E1E"/>
          </a:solidFill>
          <a:ln w="12700">
            <a:solidFill>
              <a:srgbClr val="1E1E1E"/>
            </a:solidFill>
            <a:prstDash val="solid"/>
          </a:ln>
        </p:spPr>
      </p:sp>
      <p:sp>
        <p:nvSpPr>
          <p:cNvPr id="8" name="Shape 5"/>
          <p:cNvSpPr/>
          <p:nvPr/>
        </p:nvSpPr>
        <p:spPr>
          <a:xfrm>
            <a:off x="1325880" y="3739896"/>
            <a:ext cx="530352" cy="530352"/>
          </a:xfrm>
          <a:prstGeom prst="ellipse">
            <a:avLst/>
          </a:prstGeom>
          <a:solidFill>
            <a:srgbClr val="F7761F"/>
          </a:solidFill>
          <a:ln w="12700">
            <a:solidFill>
              <a:srgbClr val="F7761F"/>
            </a:solidFill>
            <a:prstDash val="solid"/>
          </a:ln>
        </p:spPr>
      </p:sp>
      <p:sp>
        <p:nvSpPr>
          <p:cNvPr id="9" name="Text 6"/>
          <p:cNvSpPr txBox="1"/>
          <p:nvPr/>
        </p:nvSpPr>
        <p:spPr>
          <a:xfrm>
            <a:off x="1325880" y="3739896"/>
            <a:ext cx="530352" cy="530352"/>
          </a:xfrm>
          <a:prstGeom prst="rect">
            <a:avLst/>
          </a:prstGeom>
          <a:noFill/>
          <a:ln/>
        </p:spPr>
        <p:txBody>
          <a:bodyPr wrap="square" lIns="0" tIns="0" rIns="0" bIns="0" rtlCol="0" anchor="ctr"/>
          <a:lstStyle/>
          <a:p>
            <a:pPr algn="ctr" indent="0" marL="0">
              <a:buNone/>
            </a:pPr>
            <a:r>
              <a:rPr lang="en-US" sz="2100" b="1" dirty="0">
                <a:solidFill>
                  <a:srgbClr val="000000"/>
                </a:solidFill>
                <a:latin typeface="Open Sauce Bold" pitchFamily="34" charset="0"/>
                <a:ea typeface="Open Sauce Bold" pitchFamily="34" charset="-122"/>
                <a:cs typeface="Open Sauce Bold" pitchFamily="34" charset="-120"/>
              </a:rPr>
              <a:t>1</a:t>
            </a:r>
            <a:endParaRPr lang="en-US" sz="2100" dirty="0"/>
          </a:p>
        </p:txBody>
      </p:sp>
      <p:sp>
        <p:nvSpPr>
          <p:cNvPr id="10" name="Text 7"/>
          <p:cNvSpPr txBox="1"/>
          <p:nvPr/>
        </p:nvSpPr>
        <p:spPr>
          <a:xfrm>
            <a:off x="2103120" y="3611880"/>
            <a:ext cx="5989320" cy="822960"/>
          </a:xfrm>
          <a:prstGeom prst="rect">
            <a:avLst/>
          </a:prstGeom>
          <a:noFill/>
          <a:ln/>
        </p:spPr>
        <p:txBody>
          <a:bodyPr wrap="square" lIns="0" tIns="0" rIns="0" bIns="0" rtlCol="0" anchor="ctr"/>
          <a:lstStyle/>
          <a:p>
            <a:pPr indent="0" marL="0">
              <a:buNone/>
            </a:pPr>
            <a:r>
              <a:rPr lang="en-US" sz="2100" b="1" dirty="0">
                <a:solidFill>
                  <a:srgbClr val="E4E4E4"/>
                </a:solidFill>
                <a:latin typeface="Open Sauce Bold" pitchFamily="34" charset="0"/>
                <a:ea typeface="Open Sauce Bold" pitchFamily="34" charset="-122"/>
                <a:cs typeface="Open Sauce Bold" pitchFamily="34" charset="-120"/>
              </a:rPr>
              <a:t>Deterministic rule floor</a:t>
            </a:r>
            <a:endParaRPr lang="en-US" sz="1600" dirty="0"/>
          </a:p>
          <a:p>
            <a:pPr indent="0" marL="0">
              <a:buNone/>
            </a:pPr>
            <a:r>
              <a:rPr lang="en-US" sz="1600" dirty="0">
                <a:solidFill>
                  <a:srgbClr val="A8A8A8"/>
                </a:solidFill>
                <a:latin typeface="Open Sauce" pitchFamily="34" charset="0"/>
                <a:ea typeface="Open Sauce" pitchFamily="34" charset="-122"/>
                <a:cs typeface="Open Sauce" pitchFamily="34" charset="-120"/>
              </a:rPr>
              <a:t>Sub-1 ms rules for authority impersonation, OTP requests and urgency.</a:t>
            </a:r>
            <a:endParaRPr lang="en-US" sz="1600" dirty="0"/>
          </a:p>
        </p:txBody>
      </p:sp>
      <p:sp>
        <p:nvSpPr>
          <p:cNvPr id="11" name="Shape 8"/>
          <p:cNvSpPr/>
          <p:nvPr/>
        </p:nvSpPr>
        <p:spPr>
          <a:xfrm>
            <a:off x="1097280" y="4590288"/>
            <a:ext cx="7132320" cy="960120"/>
          </a:xfrm>
          <a:prstGeom prst="roundRect">
            <a:avLst>
              <a:gd name="adj" fmla="val 20952"/>
            </a:avLst>
          </a:prstGeom>
          <a:solidFill>
            <a:srgbClr val="1E1E1E"/>
          </a:solidFill>
          <a:ln w="12700">
            <a:solidFill>
              <a:srgbClr val="1E1E1E"/>
            </a:solidFill>
            <a:prstDash val="solid"/>
          </a:ln>
        </p:spPr>
      </p:sp>
      <p:sp>
        <p:nvSpPr>
          <p:cNvPr id="12" name="Shape 9"/>
          <p:cNvSpPr/>
          <p:nvPr/>
        </p:nvSpPr>
        <p:spPr>
          <a:xfrm>
            <a:off x="1325880" y="4809744"/>
            <a:ext cx="530352" cy="530352"/>
          </a:xfrm>
          <a:prstGeom prst="ellipse">
            <a:avLst/>
          </a:prstGeom>
          <a:solidFill>
            <a:srgbClr val="F7761F"/>
          </a:solidFill>
          <a:ln w="12700">
            <a:solidFill>
              <a:srgbClr val="F7761F"/>
            </a:solidFill>
            <a:prstDash val="solid"/>
          </a:ln>
        </p:spPr>
      </p:sp>
      <p:sp>
        <p:nvSpPr>
          <p:cNvPr id="13" name="Text 10"/>
          <p:cNvSpPr txBox="1"/>
          <p:nvPr/>
        </p:nvSpPr>
        <p:spPr>
          <a:xfrm>
            <a:off x="1325880" y="4809744"/>
            <a:ext cx="530352" cy="530352"/>
          </a:xfrm>
          <a:prstGeom prst="rect">
            <a:avLst/>
          </a:prstGeom>
          <a:noFill/>
          <a:ln/>
        </p:spPr>
        <p:txBody>
          <a:bodyPr wrap="square" lIns="0" tIns="0" rIns="0" bIns="0" rtlCol="0" anchor="ctr"/>
          <a:lstStyle/>
          <a:p>
            <a:pPr algn="ctr" indent="0" marL="0">
              <a:buNone/>
            </a:pPr>
            <a:r>
              <a:rPr lang="en-US" sz="2100" b="1" dirty="0">
                <a:solidFill>
                  <a:srgbClr val="000000"/>
                </a:solidFill>
                <a:latin typeface="Open Sauce Bold" pitchFamily="34" charset="0"/>
                <a:ea typeface="Open Sauce Bold" pitchFamily="34" charset="-122"/>
                <a:cs typeface="Open Sauce Bold" pitchFamily="34" charset="-120"/>
              </a:rPr>
              <a:t>2</a:t>
            </a:r>
            <a:endParaRPr lang="en-US" sz="2100" dirty="0"/>
          </a:p>
        </p:txBody>
      </p:sp>
      <p:sp>
        <p:nvSpPr>
          <p:cNvPr id="14" name="Text 11"/>
          <p:cNvSpPr txBox="1"/>
          <p:nvPr/>
        </p:nvSpPr>
        <p:spPr>
          <a:xfrm>
            <a:off x="2103120" y="4681728"/>
            <a:ext cx="5989320" cy="822960"/>
          </a:xfrm>
          <a:prstGeom prst="rect">
            <a:avLst/>
          </a:prstGeom>
          <a:noFill/>
          <a:ln/>
        </p:spPr>
        <p:txBody>
          <a:bodyPr wrap="square" lIns="0" tIns="0" rIns="0" bIns="0" rtlCol="0" anchor="ctr"/>
          <a:lstStyle/>
          <a:p>
            <a:pPr indent="0" marL="0">
              <a:buNone/>
            </a:pPr>
            <a:r>
              <a:rPr lang="en-US" sz="2100" b="1" dirty="0">
                <a:solidFill>
                  <a:srgbClr val="E4E4E4"/>
                </a:solidFill>
                <a:latin typeface="Open Sauce Bold" pitchFamily="34" charset="0"/>
                <a:ea typeface="Open Sauce Bold" pitchFamily="34" charset="-122"/>
                <a:cs typeface="Open Sauce Bold" pitchFamily="34" charset="-120"/>
              </a:rPr>
              <a:t>LLM failover chain</a:t>
            </a:r>
            <a:endParaRPr lang="en-US" sz="1600" dirty="0"/>
          </a:p>
          <a:p>
            <a:pPr indent="0" marL="0">
              <a:buNone/>
            </a:pPr>
            <a:r>
              <a:rPr lang="en-US" sz="1600" dirty="0">
                <a:solidFill>
                  <a:srgbClr val="A8A8A8"/>
                </a:solidFill>
                <a:latin typeface="Open Sauce" pitchFamily="34" charset="0"/>
                <a:ea typeface="Open Sauce" pitchFamily="34" charset="-122"/>
                <a:cs typeface="Open Sauce" pitchFamily="34" charset="-120"/>
              </a:rPr>
              <a:t>Gemini 3.5 Flash with GPT-5.6 failover for code-switched Bangla / Banglish context.</a:t>
            </a:r>
            <a:endParaRPr lang="en-US" sz="1600" dirty="0"/>
          </a:p>
        </p:txBody>
      </p:sp>
      <p:sp>
        <p:nvSpPr>
          <p:cNvPr id="15" name="Shape 12"/>
          <p:cNvSpPr/>
          <p:nvPr/>
        </p:nvSpPr>
        <p:spPr>
          <a:xfrm>
            <a:off x="1097280" y="5660136"/>
            <a:ext cx="7132320" cy="960120"/>
          </a:xfrm>
          <a:prstGeom prst="roundRect">
            <a:avLst>
              <a:gd name="adj" fmla="val 20952"/>
            </a:avLst>
          </a:prstGeom>
          <a:solidFill>
            <a:srgbClr val="1E1E1E"/>
          </a:solidFill>
          <a:ln w="12700">
            <a:solidFill>
              <a:srgbClr val="1E1E1E"/>
            </a:solidFill>
            <a:prstDash val="solid"/>
          </a:ln>
        </p:spPr>
      </p:sp>
      <p:sp>
        <p:nvSpPr>
          <p:cNvPr id="16" name="Shape 13"/>
          <p:cNvSpPr/>
          <p:nvPr/>
        </p:nvSpPr>
        <p:spPr>
          <a:xfrm>
            <a:off x="1325880" y="5879592"/>
            <a:ext cx="530352" cy="530352"/>
          </a:xfrm>
          <a:prstGeom prst="ellipse">
            <a:avLst/>
          </a:prstGeom>
          <a:solidFill>
            <a:srgbClr val="F7761F"/>
          </a:solidFill>
          <a:ln w="12700">
            <a:solidFill>
              <a:srgbClr val="F7761F"/>
            </a:solidFill>
            <a:prstDash val="solid"/>
          </a:ln>
        </p:spPr>
      </p:sp>
      <p:sp>
        <p:nvSpPr>
          <p:cNvPr id="17" name="Text 14"/>
          <p:cNvSpPr txBox="1"/>
          <p:nvPr/>
        </p:nvSpPr>
        <p:spPr>
          <a:xfrm>
            <a:off x="1325880" y="5879592"/>
            <a:ext cx="530352" cy="530352"/>
          </a:xfrm>
          <a:prstGeom prst="rect">
            <a:avLst/>
          </a:prstGeom>
          <a:noFill/>
          <a:ln/>
        </p:spPr>
        <p:txBody>
          <a:bodyPr wrap="square" lIns="0" tIns="0" rIns="0" bIns="0" rtlCol="0" anchor="ctr"/>
          <a:lstStyle/>
          <a:p>
            <a:pPr algn="ctr" indent="0" marL="0">
              <a:buNone/>
            </a:pPr>
            <a:r>
              <a:rPr lang="en-US" sz="2100" b="1" dirty="0">
                <a:solidFill>
                  <a:srgbClr val="000000"/>
                </a:solidFill>
                <a:latin typeface="Open Sauce Bold" pitchFamily="34" charset="0"/>
                <a:ea typeface="Open Sauce Bold" pitchFamily="34" charset="-122"/>
                <a:cs typeface="Open Sauce Bold" pitchFamily="34" charset="-120"/>
              </a:rPr>
              <a:t>3</a:t>
            </a:r>
            <a:endParaRPr lang="en-US" sz="2100" dirty="0"/>
          </a:p>
        </p:txBody>
      </p:sp>
      <p:sp>
        <p:nvSpPr>
          <p:cNvPr id="18" name="Text 15"/>
          <p:cNvSpPr txBox="1"/>
          <p:nvPr/>
        </p:nvSpPr>
        <p:spPr>
          <a:xfrm>
            <a:off x="2103120" y="5751576"/>
            <a:ext cx="5989320" cy="822960"/>
          </a:xfrm>
          <a:prstGeom prst="rect">
            <a:avLst/>
          </a:prstGeom>
          <a:noFill/>
          <a:ln/>
        </p:spPr>
        <p:txBody>
          <a:bodyPr wrap="square" lIns="0" tIns="0" rIns="0" bIns="0" rtlCol="0" anchor="ctr"/>
          <a:lstStyle/>
          <a:p>
            <a:pPr indent="0" marL="0">
              <a:buNone/>
            </a:pPr>
            <a:r>
              <a:rPr lang="en-US" sz="2100" b="1" dirty="0">
                <a:solidFill>
                  <a:srgbClr val="E4E4E4"/>
                </a:solidFill>
                <a:latin typeface="Open Sauce Bold" pitchFamily="34" charset="0"/>
                <a:ea typeface="Open Sauce Bold" pitchFamily="34" charset="-122"/>
                <a:cs typeface="Open Sauce Bold" pitchFamily="34" charset="-120"/>
              </a:rPr>
              <a:t>Monotonic risk merge</a:t>
            </a:r>
            <a:endParaRPr lang="en-US" sz="1600" dirty="0"/>
          </a:p>
          <a:p>
            <a:pPr indent="0" marL="0">
              <a:buNone/>
            </a:pPr>
            <a:r>
              <a:rPr lang="en-US" sz="1600" dirty="0">
                <a:solidFill>
                  <a:srgbClr val="A8A8A8"/>
                </a:solidFill>
                <a:latin typeface="Open Sauce" pitchFamily="34" charset="0"/>
                <a:ea typeface="Open Sauce" pitchFamily="34" charset="-122"/>
                <a:cs typeface="Open Sauce" pitchFamily="34" charset="-120"/>
              </a:rPr>
              <a:t>risk_final = max(risk_rules, risk_LLM). An LLM can never lower a detected hard risk.</a:t>
            </a:r>
            <a:endParaRPr lang="en-US" sz="1600" dirty="0"/>
          </a:p>
        </p:txBody>
      </p:sp>
      <p:sp>
        <p:nvSpPr>
          <p:cNvPr id="19" name="Shape 16"/>
          <p:cNvSpPr/>
          <p:nvPr/>
        </p:nvSpPr>
        <p:spPr>
          <a:xfrm>
            <a:off x="1097280" y="6729984"/>
            <a:ext cx="7132320" cy="960120"/>
          </a:xfrm>
          <a:prstGeom prst="roundRect">
            <a:avLst>
              <a:gd name="adj" fmla="val 20952"/>
            </a:avLst>
          </a:prstGeom>
          <a:solidFill>
            <a:srgbClr val="1E1E1E"/>
          </a:solidFill>
          <a:ln w="12700">
            <a:solidFill>
              <a:srgbClr val="1E1E1E"/>
            </a:solidFill>
            <a:prstDash val="solid"/>
          </a:ln>
        </p:spPr>
      </p:sp>
      <p:sp>
        <p:nvSpPr>
          <p:cNvPr id="20" name="Shape 17"/>
          <p:cNvSpPr/>
          <p:nvPr/>
        </p:nvSpPr>
        <p:spPr>
          <a:xfrm>
            <a:off x="1325880" y="6949440"/>
            <a:ext cx="530352" cy="530352"/>
          </a:xfrm>
          <a:prstGeom prst="ellipse">
            <a:avLst/>
          </a:prstGeom>
          <a:solidFill>
            <a:srgbClr val="F7761F"/>
          </a:solidFill>
          <a:ln w="12700">
            <a:solidFill>
              <a:srgbClr val="F7761F"/>
            </a:solidFill>
            <a:prstDash val="solid"/>
          </a:ln>
        </p:spPr>
      </p:sp>
      <p:sp>
        <p:nvSpPr>
          <p:cNvPr id="21" name="Text 18"/>
          <p:cNvSpPr txBox="1"/>
          <p:nvPr/>
        </p:nvSpPr>
        <p:spPr>
          <a:xfrm>
            <a:off x="1325880" y="6949440"/>
            <a:ext cx="530352" cy="530352"/>
          </a:xfrm>
          <a:prstGeom prst="rect">
            <a:avLst/>
          </a:prstGeom>
          <a:noFill/>
          <a:ln/>
        </p:spPr>
        <p:txBody>
          <a:bodyPr wrap="square" lIns="0" tIns="0" rIns="0" bIns="0" rtlCol="0" anchor="ctr"/>
          <a:lstStyle/>
          <a:p>
            <a:pPr algn="ctr" indent="0" marL="0">
              <a:buNone/>
            </a:pPr>
            <a:r>
              <a:rPr lang="en-US" sz="2100" b="1" dirty="0">
                <a:solidFill>
                  <a:srgbClr val="000000"/>
                </a:solidFill>
                <a:latin typeface="Open Sauce Bold" pitchFamily="34" charset="0"/>
                <a:ea typeface="Open Sauce Bold" pitchFamily="34" charset="-122"/>
                <a:cs typeface="Open Sauce Bold" pitchFamily="34" charset="-120"/>
              </a:rPr>
              <a:t>4</a:t>
            </a:r>
            <a:endParaRPr lang="en-US" sz="2100" dirty="0"/>
          </a:p>
        </p:txBody>
      </p:sp>
      <p:sp>
        <p:nvSpPr>
          <p:cNvPr id="22" name="Text 19"/>
          <p:cNvSpPr txBox="1"/>
          <p:nvPr/>
        </p:nvSpPr>
        <p:spPr>
          <a:xfrm>
            <a:off x="2103120" y="6821424"/>
            <a:ext cx="5989320" cy="822960"/>
          </a:xfrm>
          <a:prstGeom prst="rect">
            <a:avLst/>
          </a:prstGeom>
          <a:noFill/>
          <a:ln/>
        </p:spPr>
        <p:txBody>
          <a:bodyPr wrap="square" lIns="0" tIns="0" rIns="0" bIns="0" rtlCol="0" anchor="ctr"/>
          <a:lstStyle/>
          <a:p>
            <a:pPr indent="0" marL="0">
              <a:buNone/>
            </a:pPr>
            <a:r>
              <a:rPr lang="en-US" sz="2100" b="1" dirty="0">
                <a:solidFill>
                  <a:srgbClr val="E4E4E4"/>
                </a:solidFill>
                <a:latin typeface="Open Sauce Bold" pitchFamily="34" charset="0"/>
                <a:ea typeface="Open Sauce Bold" pitchFamily="34" charset="-122"/>
                <a:cs typeface="Open Sauce Bold" pitchFamily="34" charset="-120"/>
              </a:rPr>
              <a:t>Automatic redaction</a:t>
            </a:r>
            <a:endParaRPr lang="en-US" sz="1600" dirty="0"/>
          </a:p>
          <a:p>
            <a:pPr indent="0" marL="0">
              <a:buNone/>
            </a:pPr>
            <a:r>
              <a:rPr lang="en-US" sz="1600" dirty="0">
                <a:solidFill>
                  <a:srgbClr val="A8A8A8"/>
                </a:solidFill>
                <a:latin typeface="Open Sauce" pitchFamily="34" charset="0"/>
                <a:ea typeface="Open Sauce" pitchFamily="34" charset="-122"/>
                <a:cs typeface="Open Sauce" pitchFamily="34" charset="-120"/>
              </a:rPr>
              <a:t>PINs and OTPs are stripped before storage or any model call.</a:t>
            </a:r>
            <a:endParaRPr lang="en-US" sz="1600" dirty="0"/>
          </a:p>
        </p:txBody>
      </p:sp>
      <p:sp>
        <p:nvSpPr>
          <p:cNvPr id="23" name="Shape 20"/>
          <p:cNvSpPr/>
          <p:nvPr/>
        </p:nvSpPr>
        <p:spPr>
          <a:xfrm>
            <a:off x="8458200" y="3520440"/>
            <a:ext cx="8732520" cy="4160520"/>
          </a:xfrm>
          <a:prstGeom prst="roundRect">
            <a:avLst>
              <a:gd name="adj" fmla="val 4835"/>
            </a:avLst>
          </a:prstGeom>
          <a:solidFill>
            <a:srgbClr val="141414"/>
          </a:solidFill>
          <a:ln w="12700">
            <a:solidFill>
              <a:srgbClr val="141414"/>
            </a:solidFill>
            <a:prstDash val="solid"/>
          </a:ln>
        </p:spPr>
      </p:sp>
      <p:sp>
        <p:nvSpPr>
          <p:cNvPr id="24" name="Text 21"/>
          <p:cNvSpPr txBox="1"/>
          <p:nvPr/>
        </p:nvSpPr>
        <p:spPr>
          <a:xfrm>
            <a:off x="8732520" y="3657600"/>
            <a:ext cx="818388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SAMPLE INTERCEPTION · ILLUSTRATIVE</a:t>
            </a:r>
            <a:endParaRPr lang="en-US" sz="1500" dirty="0"/>
          </a:p>
        </p:txBody>
      </p:sp>
      <p:sp>
        <p:nvSpPr>
          <p:cNvPr id="25" name="Text 22"/>
          <p:cNvSpPr txBox="1"/>
          <p:nvPr/>
        </p:nvSpPr>
        <p:spPr>
          <a:xfrm>
            <a:off x="8732520" y="4005072"/>
            <a:ext cx="8183880" cy="274320"/>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INCOMING CALL SCRIPT (TRANSCRIBED)</a:t>
            </a:r>
            <a:endParaRPr lang="en-US" sz="1400" dirty="0"/>
          </a:p>
        </p:txBody>
      </p:sp>
      <p:sp>
        <p:nvSpPr>
          <p:cNvPr id="26" name="Text 23"/>
          <p:cNvSpPr txBox="1"/>
          <p:nvPr/>
        </p:nvSpPr>
        <p:spPr>
          <a:xfrm>
            <a:off x="8732520" y="4297680"/>
            <a:ext cx="8183880" cy="594360"/>
          </a:xfrm>
          <a:prstGeom prst="rect">
            <a:avLst/>
          </a:prstGeom>
          <a:noFill/>
          <a:ln/>
        </p:spPr>
        <p:txBody>
          <a:bodyPr wrap="square" lIns="0" tIns="0" rIns="0" bIns="0" rtlCol="0" anchor="t"/>
          <a:lstStyle/>
          <a:p>
            <a:pPr indent="0" marL="0">
              <a:buNone/>
            </a:pPr>
            <a:r>
              <a:rPr lang="en-US" sz="1800" i="1" dirty="0">
                <a:solidFill>
                  <a:srgbClr val="E4E4E4"/>
                </a:solidFill>
                <a:latin typeface="Open Sauce" pitchFamily="34" charset="0"/>
                <a:ea typeface="Open Sauce" pitchFamily="34" charset="-122"/>
                <a:cs typeface="Open Sauce" pitchFamily="34" charset="-120"/>
              </a:rPr>
              <a:t>"আমি কাস্টমার কেয়ার থেকে বলছি। আপনার একাউন্ট বন্ধ হয়ে যাবে। এখনই OTP •••••• বলুন।"</a:t>
            </a:r>
            <a:endParaRPr lang="en-US" sz="1800" dirty="0"/>
          </a:p>
        </p:txBody>
      </p:sp>
      <p:sp>
        <p:nvSpPr>
          <p:cNvPr id="27" name="Shape 24"/>
          <p:cNvSpPr/>
          <p:nvPr/>
        </p:nvSpPr>
        <p:spPr>
          <a:xfrm>
            <a:off x="8732520" y="4983480"/>
            <a:ext cx="3063240" cy="329184"/>
          </a:xfrm>
          <a:prstGeom prst="roundRect">
            <a:avLst>
              <a:gd name="adj" fmla="val 50000"/>
            </a:avLst>
          </a:prstGeom>
          <a:solidFill>
            <a:srgbClr val="3A1D0A"/>
          </a:solidFill>
          <a:ln w="12700">
            <a:solidFill>
              <a:srgbClr val="F7761F"/>
            </a:solidFill>
            <a:prstDash val="solid"/>
          </a:ln>
        </p:spPr>
      </p:sp>
      <p:sp>
        <p:nvSpPr>
          <p:cNvPr id="28" name="Text 25"/>
          <p:cNvSpPr txBox="1"/>
          <p:nvPr/>
        </p:nvSpPr>
        <p:spPr>
          <a:xfrm>
            <a:off x="8732520" y="4983480"/>
            <a:ext cx="3063240" cy="329184"/>
          </a:xfrm>
          <a:prstGeom prst="rect">
            <a:avLst/>
          </a:prstGeom>
          <a:noFill/>
          <a:ln/>
        </p:spPr>
        <p:txBody>
          <a:bodyPr wrap="square" lIns="0" tIns="0" rIns="0" bIns="0" rtlCol="0" anchor="ctr"/>
          <a:lstStyle/>
          <a:p>
            <a:pPr algn="ctr" indent="0" marL="0">
              <a:buNone/>
            </a:pPr>
            <a:r>
              <a:rPr lang="en-US" sz="1300" b="1" dirty="0">
                <a:solidFill>
                  <a:srgbClr val="FF9A4D"/>
                </a:solidFill>
                <a:latin typeface="Open Sauce" pitchFamily="34" charset="0"/>
                <a:ea typeface="Open Sauce" pitchFamily="34" charset="-122"/>
                <a:cs typeface="Open Sauce" pitchFamily="34" charset="-120"/>
              </a:rPr>
              <a:t>AUTHORITY IMPERSONATION</a:t>
            </a:r>
            <a:endParaRPr lang="en-US" sz="1300" dirty="0"/>
          </a:p>
        </p:txBody>
      </p:sp>
      <p:sp>
        <p:nvSpPr>
          <p:cNvPr id="29" name="Shape 26"/>
          <p:cNvSpPr/>
          <p:nvPr/>
        </p:nvSpPr>
        <p:spPr>
          <a:xfrm>
            <a:off x="11932920" y="4983480"/>
            <a:ext cx="1920240" cy="329184"/>
          </a:xfrm>
          <a:prstGeom prst="roundRect">
            <a:avLst>
              <a:gd name="adj" fmla="val 50000"/>
            </a:avLst>
          </a:prstGeom>
          <a:solidFill>
            <a:srgbClr val="3A1D0A"/>
          </a:solidFill>
          <a:ln w="12700">
            <a:solidFill>
              <a:srgbClr val="F7761F"/>
            </a:solidFill>
            <a:prstDash val="solid"/>
          </a:ln>
        </p:spPr>
      </p:sp>
      <p:sp>
        <p:nvSpPr>
          <p:cNvPr id="30" name="Text 27"/>
          <p:cNvSpPr txBox="1"/>
          <p:nvPr/>
        </p:nvSpPr>
        <p:spPr>
          <a:xfrm>
            <a:off x="11932920" y="4983480"/>
            <a:ext cx="1920240" cy="329184"/>
          </a:xfrm>
          <a:prstGeom prst="rect">
            <a:avLst/>
          </a:prstGeom>
          <a:noFill/>
          <a:ln/>
        </p:spPr>
        <p:txBody>
          <a:bodyPr wrap="square" lIns="0" tIns="0" rIns="0" bIns="0" rtlCol="0" anchor="ctr"/>
          <a:lstStyle/>
          <a:p>
            <a:pPr algn="ctr" indent="0" marL="0">
              <a:buNone/>
            </a:pPr>
            <a:r>
              <a:rPr lang="en-US" sz="1300" b="1" dirty="0">
                <a:solidFill>
                  <a:srgbClr val="FF9A4D"/>
                </a:solidFill>
                <a:latin typeface="Open Sauce" pitchFamily="34" charset="0"/>
                <a:ea typeface="Open Sauce" pitchFamily="34" charset="-122"/>
                <a:cs typeface="Open Sauce" pitchFamily="34" charset="-120"/>
              </a:rPr>
              <a:t>OTP REQUEST</a:t>
            </a:r>
            <a:endParaRPr lang="en-US" sz="1300" dirty="0"/>
          </a:p>
        </p:txBody>
      </p:sp>
      <p:sp>
        <p:nvSpPr>
          <p:cNvPr id="31" name="Shape 28"/>
          <p:cNvSpPr/>
          <p:nvPr/>
        </p:nvSpPr>
        <p:spPr>
          <a:xfrm>
            <a:off x="13990320" y="4983480"/>
            <a:ext cx="1463040" cy="329184"/>
          </a:xfrm>
          <a:prstGeom prst="roundRect">
            <a:avLst>
              <a:gd name="adj" fmla="val 50000"/>
            </a:avLst>
          </a:prstGeom>
          <a:solidFill>
            <a:srgbClr val="3A1D0A"/>
          </a:solidFill>
          <a:ln w="12700">
            <a:solidFill>
              <a:srgbClr val="F7761F"/>
            </a:solidFill>
            <a:prstDash val="solid"/>
          </a:ln>
        </p:spPr>
      </p:sp>
      <p:sp>
        <p:nvSpPr>
          <p:cNvPr id="32" name="Text 29"/>
          <p:cNvSpPr txBox="1"/>
          <p:nvPr/>
        </p:nvSpPr>
        <p:spPr>
          <a:xfrm>
            <a:off x="13990320" y="4983480"/>
            <a:ext cx="1463040" cy="329184"/>
          </a:xfrm>
          <a:prstGeom prst="rect">
            <a:avLst/>
          </a:prstGeom>
          <a:noFill/>
          <a:ln/>
        </p:spPr>
        <p:txBody>
          <a:bodyPr wrap="square" lIns="0" tIns="0" rIns="0" bIns="0" rtlCol="0" anchor="ctr"/>
          <a:lstStyle/>
          <a:p>
            <a:pPr algn="ctr" indent="0" marL="0">
              <a:buNone/>
            </a:pPr>
            <a:r>
              <a:rPr lang="en-US" sz="1300" b="1" dirty="0">
                <a:solidFill>
                  <a:srgbClr val="FF9A4D"/>
                </a:solidFill>
                <a:latin typeface="Open Sauce" pitchFamily="34" charset="0"/>
                <a:ea typeface="Open Sauce" pitchFamily="34" charset="-122"/>
                <a:cs typeface="Open Sauce" pitchFamily="34" charset="-120"/>
              </a:rPr>
              <a:t>URGENCY</a:t>
            </a:r>
            <a:endParaRPr lang="en-US" sz="1300" dirty="0"/>
          </a:p>
        </p:txBody>
      </p:sp>
      <p:sp>
        <p:nvSpPr>
          <p:cNvPr id="33" name="Shape 30"/>
          <p:cNvSpPr/>
          <p:nvPr/>
        </p:nvSpPr>
        <p:spPr>
          <a:xfrm>
            <a:off x="8732520" y="5486400"/>
            <a:ext cx="8183880" cy="1371600"/>
          </a:xfrm>
          <a:prstGeom prst="roundRect">
            <a:avLst>
              <a:gd name="adj" fmla="val 14667"/>
            </a:avLst>
          </a:prstGeom>
          <a:solidFill>
            <a:srgbClr val="1E1E1E"/>
          </a:solidFill>
          <a:ln w="12700">
            <a:solidFill>
              <a:srgbClr val="1E1E1E"/>
            </a:solidFill>
            <a:prstDash val="solid"/>
          </a:ln>
        </p:spPr>
      </p:sp>
      <p:sp>
        <p:nvSpPr>
          <p:cNvPr id="34" name="Text 31"/>
          <p:cNvSpPr txBox="1"/>
          <p:nvPr/>
        </p:nvSpPr>
        <p:spPr>
          <a:xfrm>
            <a:off x="8915400" y="5577840"/>
            <a:ext cx="7818120" cy="256032"/>
          </a:xfrm>
          <a:prstGeom prst="rect">
            <a:avLst/>
          </a:prstGeom>
          <a:noFill/>
          <a:ln/>
        </p:spPr>
        <p:txBody>
          <a:bodyPr wrap="square" lIns="0" tIns="0" rIns="0" bIns="0" rtlCol="0" anchor="t"/>
          <a:lstStyle/>
          <a:p>
            <a:pPr indent="0" marL="0">
              <a:buNone/>
            </a:pPr>
            <a:r>
              <a:rPr lang="en-US" sz="1400" b="1" dirty="0">
                <a:solidFill>
                  <a:srgbClr val="F7761F"/>
                </a:solidFill>
                <a:latin typeface="Open Sauce" pitchFamily="34" charset="0"/>
                <a:ea typeface="Open Sauce" pitchFamily="34" charset="-122"/>
                <a:cs typeface="Open Sauce" pitchFamily="34" charset="-120"/>
              </a:rPr>
              <a:t>PAUSE &amp; VERIFY · BEFORE CONFIRM</a:t>
            </a:r>
            <a:endParaRPr lang="en-US" sz="1400" dirty="0"/>
          </a:p>
        </p:txBody>
      </p:sp>
      <p:sp>
        <p:nvSpPr>
          <p:cNvPr id="35" name="Text 32"/>
          <p:cNvSpPr txBox="1"/>
          <p:nvPr/>
        </p:nvSpPr>
        <p:spPr>
          <a:xfrm>
            <a:off x="8915400" y="5852160"/>
            <a:ext cx="7818120" cy="292608"/>
          </a:xfrm>
          <a:prstGeom prst="rect">
            <a:avLst/>
          </a:prstGeom>
          <a:noFill/>
          <a:ln/>
        </p:spPr>
        <p:txBody>
          <a:bodyPr wrap="square" lIns="0" tIns="0" rIns="0" bIns="0" rtlCol="0" anchor="t"/>
          <a:lstStyle/>
          <a:p>
            <a:pPr indent="0" marL="0">
              <a:buNone/>
            </a:pPr>
            <a:r>
              <a:rPr lang="en-US" sz="1700" b="1" dirty="0">
                <a:solidFill>
                  <a:srgbClr val="E4E4E4"/>
                </a:solidFill>
                <a:latin typeface="Open Sauce" pitchFamily="34" charset="0"/>
                <a:ea typeface="Open Sauce" pitchFamily="34" charset="-122"/>
                <a:cs typeface="Open Sauce" pitchFamily="34" charset="-120"/>
              </a:rPr>
              <a:t>থামুন! কেউ কি আপনাকে ফোনে টাকা পাঠাতে বলছে?</a:t>
            </a:r>
            <a:endParaRPr lang="en-US" sz="1700" dirty="0"/>
          </a:p>
        </p:txBody>
      </p:sp>
      <p:sp>
        <p:nvSpPr>
          <p:cNvPr id="36" name="Text 33"/>
          <p:cNvSpPr txBox="1"/>
          <p:nvPr/>
        </p:nvSpPr>
        <p:spPr>
          <a:xfrm>
            <a:off x="8915400" y="6144768"/>
            <a:ext cx="7818120" cy="274320"/>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Stop. Is someone on the phone telling you to send money?</a:t>
            </a:r>
            <a:endParaRPr lang="en-US" sz="1600" dirty="0"/>
          </a:p>
        </p:txBody>
      </p:sp>
      <p:sp>
        <p:nvSpPr>
          <p:cNvPr id="37" name="Shape 34"/>
          <p:cNvSpPr/>
          <p:nvPr/>
        </p:nvSpPr>
        <p:spPr>
          <a:xfrm>
            <a:off x="8915400" y="6464808"/>
            <a:ext cx="2651760" cy="310896"/>
          </a:xfrm>
          <a:prstGeom prst="roundRect">
            <a:avLst>
              <a:gd name="adj" fmla="val 50000"/>
            </a:avLst>
          </a:prstGeom>
          <a:solidFill>
            <a:srgbClr val="F7761F"/>
          </a:solidFill>
          <a:ln w="12700">
            <a:solidFill>
              <a:srgbClr val="F7761F"/>
            </a:solidFill>
            <a:prstDash val="solid"/>
          </a:ln>
        </p:spPr>
      </p:sp>
      <p:sp>
        <p:nvSpPr>
          <p:cNvPr id="38" name="Text 35"/>
          <p:cNvSpPr txBox="1"/>
          <p:nvPr/>
        </p:nvSpPr>
        <p:spPr>
          <a:xfrm>
            <a:off x="8915400" y="6464808"/>
            <a:ext cx="2651760" cy="310896"/>
          </a:xfrm>
          <a:prstGeom prst="rect">
            <a:avLst/>
          </a:prstGeom>
          <a:noFill/>
          <a:ln/>
        </p:spPr>
        <p:txBody>
          <a:bodyPr wrap="square" lIns="0" tIns="0" rIns="0" bIns="0" rtlCol="0" anchor="ctr"/>
          <a:lstStyle/>
          <a:p>
            <a:pPr algn="ctr" indent="0" marL="0">
              <a:buNone/>
            </a:pPr>
            <a:r>
              <a:rPr lang="en-US" sz="1300" b="1" dirty="0">
                <a:solidFill>
                  <a:srgbClr val="000000"/>
                </a:solidFill>
                <a:latin typeface="Open Sauce" pitchFamily="34" charset="0"/>
                <a:ea typeface="Open Sauce" pitchFamily="34" charset="-122"/>
                <a:cs typeface="Open Sauce" pitchFamily="34" charset="-120"/>
              </a:rPr>
              <a:t>CANCEL TRANSFER</a:t>
            </a:r>
            <a:endParaRPr lang="en-US" sz="1300" dirty="0"/>
          </a:p>
        </p:txBody>
      </p:sp>
      <p:sp>
        <p:nvSpPr>
          <p:cNvPr id="39" name="Shape 36"/>
          <p:cNvSpPr/>
          <p:nvPr/>
        </p:nvSpPr>
        <p:spPr>
          <a:xfrm>
            <a:off x="11704320" y="6464808"/>
            <a:ext cx="2651760" cy="310896"/>
          </a:xfrm>
          <a:prstGeom prst="roundRect">
            <a:avLst>
              <a:gd name="adj" fmla="val 50000"/>
            </a:avLst>
          </a:prstGeom>
          <a:solidFill>
            <a:srgbClr val="1E1E1E"/>
          </a:solidFill>
          <a:ln w="12700">
            <a:solidFill>
              <a:srgbClr val="A8A8A8"/>
            </a:solidFill>
            <a:prstDash val="solid"/>
          </a:ln>
        </p:spPr>
      </p:sp>
      <p:sp>
        <p:nvSpPr>
          <p:cNvPr id="40" name="Text 37"/>
          <p:cNvSpPr txBox="1"/>
          <p:nvPr/>
        </p:nvSpPr>
        <p:spPr>
          <a:xfrm>
            <a:off x="11704320" y="6464808"/>
            <a:ext cx="2651760" cy="310896"/>
          </a:xfrm>
          <a:prstGeom prst="rect">
            <a:avLst/>
          </a:prstGeom>
          <a:noFill/>
          <a:ln/>
        </p:spPr>
        <p:txBody>
          <a:bodyPr wrap="square" lIns="0" tIns="0" rIns="0" bIns="0" rtlCol="0" anchor="ctr"/>
          <a:lstStyle/>
          <a:p>
            <a:pPr algn="ctr" indent="0" marL="0">
              <a:buNone/>
            </a:pPr>
            <a:r>
              <a:rPr lang="en-US" sz="1300" b="1" dirty="0">
                <a:solidFill>
                  <a:srgbClr val="E4E4E4"/>
                </a:solidFill>
                <a:latin typeface="Open Sauce" pitchFamily="34" charset="0"/>
                <a:ea typeface="Open Sauce" pitchFamily="34" charset="-122"/>
                <a:cs typeface="Open Sauce" pitchFamily="34" charset="-120"/>
              </a:rPr>
              <a:t>I KNOW THIS PERSON</a:t>
            </a:r>
            <a:endParaRPr lang="en-US" sz="1300" dirty="0"/>
          </a:p>
        </p:txBody>
      </p:sp>
      <p:sp>
        <p:nvSpPr>
          <p:cNvPr id="41" name="Text 38"/>
          <p:cNvSpPr txBox="1"/>
          <p:nvPr/>
        </p:nvSpPr>
        <p:spPr>
          <a:xfrm>
            <a:off x="8732520" y="7040880"/>
            <a:ext cx="2011680" cy="457200"/>
          </a:xfrm>
          <a:prstGeom prst="rect">
            <a:avLst/>
          </a:prstGeom>
          <a:noFill/>
          <a:ln/>
        </p:spPr>
        <p:txBody>
          <a:bodyPr wrap="square" lIns="0" tIns="0" rIns="0" bIns="0" rtlCol="0" anchor="ctr"/>
          <a:lstStyle/>
          <a:p>
            <a:pPr indent="0" marL="0">
              <a:buNone/>
            </a:pPr>
            <a:r>
              <a:rPr lang="en-US" sz="1400" b="1" dirty="0">
                <a:solidFill>
                  <a:srgbClr val="F7761F"/>
                </a:solidFill>
                <a:latin typeface="Open Sauce" pitchFamily="34" charset="0"/>
                <a:ea typeface="Open Sauce" pitchFamily="34" charset="-122"/>
                <a:cs typeface="Open Sauce" pitchFamily="34" charset="-120"/>
              </a:rPr>
              <a:t>ACTION LADDER</a:t>
            </a:r>
            <a:endParaRPr lang="en-US" sz="1400" dirty="0"/>
          </a:p>
        </p:txBody>
      </p:sp>
      <p:sp>
        <p:nvSpPr>
          <p:cNvPr id="42" name="Shape 39"/>
          <p:cNvSpPr/>
          <p:nvPr/>
        </p:nvSpPr>
        <p:spPr>
          <a:xfrm>
            <a:off x="10561320" y="7077456"/>
            <a:ext cx="914400" cy="384048"/>
          </a:xfrm>
          <a:prstGeom prst="roundRect">
            <a:avLst>
              <a:gd name="adj" fmla="val 50000"/>
            </a:avLst>
          </a:prstGeom>
          <a:solidFill>
            <a:srgbClr val="1E1E1E"/>
          </a:solidFill>
          <a:ln w="9525">
            <a:solidFill>
              <a:srgbClr val="A8A8A8"/>
            </a:solidFill>
            <a:prstDash val="solid"/>
          </a:ln>
        </p:spPr>
      </p:sp>
      <p:sp>
        <p:nvSpPr>
          <p:cNvPr id="43" name="Text 40"/>
          <p:cNvSpPr txBox="1"/>
          <p:nvPr/>
        </p:nvSpPr>
        <p:spPr>
          <a:xfrm>
            <a:off x="10561320" y="7077456"/>
            <a:ext cx="914400" cy="384048"/>
          </a:xfrm>
          <a:prstGeom prst="rect">
            <a:avLst/>
          </a:prstGeom>
          <a:noFill/>
          <a:ln/>
        </p:spPr>
        <p:txBody>
          <a:bodyPr wrap="square" lIns="0" tIns="0" rIns="0" bIns="0" rtlCol="0" anchor="ctr"/>
          <a:lstStyle/>
          <a:p>
            <a:pPr algn="ctr" indent="0" marL="0">
              <a:buNone/>
            </a:pPr>
            <a:r>
              <a:rPr lang="en-US" sz="1200" b="1" dirty="0">
                <a:solidFill>
                  <a:srgbClr val="E4E4E4"/>
                </a:solidFill>
                <a:latin typeface="Open Sauce" pitchFamily="34" charset="0"/>
                <a:ea typeface="Open Sauce" pitchFamily="34" charset="-122"/>
                <a:cs typeface="Open Sauce" pitchFamily="34" charset="-120"/>
              </a:rPr>
              <a:t>ALLOW</a:t>
            </a:r>
            <a:endParaRPr lang="en-US" sz="1200" dirty="0"/>
          </a:p>
        </p:txBody>
      </p:sp>
      <p:sp>
        <p:nvSpPr>
          <p:cNvPr id="44" name="Shape 41"/>
          <p:cNvSpPr/>
          <p:nvPr/>
        </p:nvSpPr>
        <p:spPr>
          <a:xfrm>
            <a:off x="11567160" y="7077456"/>
            <a:ext cx="868680" cy="384048"/>
          </a:xfrm>
          <a:prstGeom prst="roundRect">
            <a:avLst>
              <a:gd name="adj" fmla="val 50000"/>
            </a:avLst>
          </a:prstGeom>
          <a:solidFill>
            <a:srgbClr val="1E1E1E"/>
          </a:solidFill>
          <a:ln w="9525">
            <a:solidFill>
              <a:srgbClr val="A8A8A8"/>
            </a:solidFill>
            <a:prstDash val="solid"/>
          </a:ln>
        </p:spPr>
      </p:sp>
      <p:sp>
        <p:nvSpPr>
          <p:cNvPr id="45" name="Text 42"/>
          <p:cNvSpPr txBox="1"/>
          <p:nvPr/>
        </p:nvSpPr>
        <p:spPr>
          <a:xfrm>
            <a:off x="11567160" y="7077456"/>
            <a:ext cx="868680" cy="384048"/>
          </a:xfrm>
          <a:prstGeom prst="rect">
            <a:avLst/>
          </a:prstGeom>
          <a:noFill/>
          <a:ln/>
        </p:spPr>
        <p:txBody>
          <a:bodyPr wrap="square" lIns="0" tIns="0" rIns="0" bIns="0" rtlCol="0" anchor="ctr"/>
          <a:lstStyle/>
          <a:p>
            <a:pPr algn="ctr" indent="0" marL="0">
              <a:buNone/>
            </a:pPr>
            <a:r>
              <a:rPr lang="en-US" sz="1200" b="1" dirty="0">
                <a:solidFill>
                  <a:srgbClr val="E4E4E4"/>
                </a:solidFill>
                <a:latin typeface="Open Sauce" pitchFamily="34" charset="0"/>
                <a:ea typeface="Open Sauce" pitchFamily="34" charset="-122"/>
                <a:cs typeface="Open Sauce" pitchFamily="34" charset="-120"/>
              </a:rPr>
              <a:t>WARN</a:t>
            </a:r>
            <a:endParaRPr lang="en-US" sz="1200" dirty="0"/>
          </a:p>
        </p:txBody>
      </p:sp>
      <p:sp>
        <p:nvSpPr>
          <p:cNvPr id="46" name="Shape 43"/>
          <p:cNvSpPr/>
          <p:nvPr/>
        </p:nvSpPr>
        <p:spPr>
          <a:xfrm>
            <a:off x="12573000" y="7077456"/>
            <a:ext cx="1508760" cy="384048"/>
          </a:xfrm>
          <a:prstGeom prst="roundRect">
            <a:avLst>
              <a:gd name="adj" fmla="val 50000"/>
            </a:avLst>
          </a:prstGeom>
          <a:solidFill>
            <a:srgbClr val="6B3414"/>
          </a:solidFill>
          <a:ln w="9525">
            <a:solidFill>
              <a:srgbClr val="F7761F"/>
            </a:solidFill>
            <a:prstDash val="solid"/>
          </a:ln>
        </p:spPr>
      </p:sp>
      <p:sp>
        <p:nvSpPr>
          <p:cNvPr id="47" name="Text 44"/>
          <p:cNvSpPr txBox="1"/>
          <p:nvPr/>
        </p:nvSpPr>
        <p:spPr>
          <a:xfrm>
            <a:off x="12573000" y="7077456"/>
            <a:ext cx="1508760" cy="384048"/>
          </a:xfrm>
          <a:prstGeom prst="rect">
            <a:avLst/>
          </a:prstGeom>
          <a:noFill/>
          <a:ln/>
        </p:spPr>
        <p:txBody>
          <a:bodyPr wrap="square" lIns="0" tIns="0" rIns="0" bIns="0" rtlCol="0" anchor="ctr"/>
          <a:lstStyle/>
          <a:p>
            <a:pPr algn="ctr" indent="0" marL="0">
              <a:buNone/>
            </a:pPr>
            <a:r>
              <a:rPr lang="en-US" sz="1200" b="1" dirty="0">
                <a:solidFill>
                  <a:srgbClr val="E4E4E4"/>
                </a:solidFill>
                <a:latin typeface="Open Sauce" pitchFamily="34" charset="0"/>
                <a:ea typeface="Open Sauce" pitchFamily="34" charset="-122"/>
                <a:cs typeface="Open Sauce" pitchFamily="34" charset="-120"/>
              </a:rPr>
              <a:t>PAUSE_VERIFY</a:t>
            </a:r>
            <a:endParaRPr lang="en-US" sz="1200" dirty="0"/>
          </a:p>
        </p:txBody>
      </p:sp>
      <p:sp>
        <p:nvSpPr>
          <p:cNvPr id="48" name="Shape 45"/>
          <p:cNvSpPr/>
          <p:nvPr/>
        </p:nvSpPr>
        <p:spPr>
          <a:xfrm>
            <a:off x="14218920" y="7077456"/>
            <a:ext cx="1463040" cy="384048"/>
          </a:xfrm>
          <a:prstGeom prst="roundRect">
            <a:avLst>
              <a:gd name="adj" fmla="val 50000"/>
            </a:avLst>
          </a:prstGeom>
          <a:solidFill>
            <a:srgbClr val="6B3414"/>
          </a:solidFill>
          <a:ln w="9525">
            <a:solidFill>
              <a:srgbClr val="F7761F"/>
            </a:solidFill>
            <a:prstDash val="solid"/>
          </a:ln>
        </p:spPr>
      </p:sp>
      <p:sp>
        <p:nvSpPr>
          <p:cNvPr id="49" name="Text 46"/>
          <p:cNvSpPr txBox="1"/>
          <p:nvPr/>
        </p:nvSpPr>
        <p:spPr>
          <a:xfrm>
            <a:off x="14218920" y="7077456"/>
            <a:ext cx="1463040" cy="384048"/>
          </a:xfrm>
          <a:prstGeom prst="rect">
            <a:avLst/>
          </a:prstGeom>
          <a:noFill/>
          <a:ln/>
        </p:spPr>
        <p:txBody>
          <a:bodyPr wrap="square" lIns="0" tIns="0" rIns="0" bIns="0" rtlCol="0" anchor="ctr"/>
          <a:lstStyle/>
          <a:p>
            <a:pPr algn="ctr" indent="0" marL="0">
              <a:buNone/>
            </a:pPr>
            <a:r>
              <a:rPr lang="en-US" sz="1200" b="1" dirty="0">
                <a:solidFill>
                  <a:srgbClr val="E4E4E4"/>
                </a:solidFill>
                <a:latin typeface="Open Sauce" pitchFamily="34" charset="0"/>
                <a:ea typeface="Open Sauce" pitchFamily="34" charset="-122"/>
                <a:cs typeface="Open Sauce" pitchFamily="34" charset="-120"/>
              </a:rPr>
              <a:t>HOLD_ASSIST</a:t>
            </a:r>
            <a:endParaRPr lang="en-US" sz="1200" dirty="0"/>
          </a:p>
        </p:txBody>
      </p:sp>
      <p:sp>
        <p:nvSpPr>
          <p:cNvPr id="50" name="Shape 47"/>
          <p:cNvSpPr/>
          <p:nvPr/>
        </p:nvSpPr>
        <p:spPr>
          <a:xfrm>
            <a:off x="15819120" y="7077456"/>
            <a:ext cx="868680" cy="384048"/>
          </a:xfrm>
          <a:prstGeom prst="roundRect">
            <a:avLst>
              <a:gd name="adj" fmla="val 50000"/>
            </a:avLst>
          </a:prstGeom>
          <a:solidFill>
            <a:srgbClr val="F7761F"/>
          </a:solidFill>
          <a:ln w="9525">
            <a:solidFill>
              <a:srgbClr val="F7761F"/>
            </a:solidFill>
            <a:prstDash val="solid"/>
          </a:ln>
        </p:spPr>
      </p:sp>
      <p:sp>
        <p:nvSpPr>
          <p:cNvPr id="51" name="Text 48"/>
          <p:cNvSpPr txBox="1"/>
          <p:nvPr/>
        </p:nvSpPr>
        <p:spPr>
          <a:xfrm>
            <a:off x="15819120" y="7077456"/>
            <a:ext cx="868680" cy="384048"/>
          </a:xfrm>
          <a:prstGeom prst="rect">
            <a:avLst/>
          </a:prstGeom>
          <a:noFill/>
          <a:ln/>
        </p:spPr>
        <p:txBody>
          <a:bodyPr wrap="square" lIns="0" tIns="0" rIns="0" bIns="0" rtlCol="0" anchor="ctr"/>
          <a:lstStyle/>
          <a:p>
            <a:pPr algn="ctr" indent="0" marL="0">
              <a:buNone/>
            </a:pPr>
            <a:r>
              <a:rPr lang="en-US" sz="1200" b="1" dirty="0">
                <a:solidFill>
                  <a:srgbClr val="000000"/>
                </a:solidFill>
                <a:latin typeface="Open Sauce" pitchFamily="34" charset="0"/>
                <a:ea typeface="Open Sauce" pitchFamily="34" charset="-122"/>
                <a:cs typeface="Open Sauce" pitchFamily="34" charset="-120"/>
              </a:rPr>
              <a:t>BLOCK</a:t>
            </a:r>
            <a:endParaRPr lang="en-US" sz="1200" dirty="0"/>
          </a:p>
        </p:txBody>
      </p:sp>
      <p:sp>
        <p:nvSpPr>
          <p:cNvPr id="52" name="Shape 49"/>
          <p:cNvSpPr/>
          <p:nvPr/>
        </p:nvSpPr>
        <p:spPr>
          <a:xfrm>
            <a:off x="1097280" y="7818120"/>
            <a:ext cx="3851910" cy="1005840"/>
          </a:xfrm>
          <a:prstGeom prst="roundRect">
            <a:avLst>
              <a:gd name="adj" fmla="val 20000"/>
            </a:avLst>
          </a:prstGeom>
          <a:solidFill>
            <a:srgbClr val="1E1E1E"/>
          </a:solidFill>
          <a:ln w="12700">
            <a:solidFill>
              <a:srgbClr val="1E1E1E"/>
            </a:solidFill>
            <a:prstDash val="solid"/>
          </a:ln>
        </p:spPr>
      </p:sp>
      <p:sp>
        <p:nvSpPr>
          <p:cNvPr id="53" name="Text 50"/>
          <p:cNvSpPr txBox="1"/>
          <p:nvPr/>
        </p:nvSpPr>
        <p:spPr>
          <a:xfrm>
            <a:off x="137160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78.2%</a:t>
            </a:r>
            <a:endParaRPr lang="en-US" sz="3500" dirty="0"/>
          </a:p>
        </p:txBody>
      </p:sp>
      <p:sp>
        <p:nvSpPr>
          <p:cNvPr id="54" name="Text 51"/>
          <p:cNvSpPr txBox="1"/>
          <p:nvPr/>
        </p:nvSpPr>
        <p:spPr>
          <a:xfrm>
            <a:off x="137160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Reduction in victim compliance</a:t>
            </a:r>
            <a:endParaRPr lang="en-US" sz="1400" dirty="0"/>
          </a:p>
        </p:txBody>
      </p:sp>
      <p:sp>
        <p:nvSpPr>
          <p:cNvPr id="55" name="Shape 52"/>
          <p:cNvSpPr/>
          <p:nvPr/>
        </p:nvSpPr>
        <p:spPr>
          <a:xfrm>
            <a:off x="5177790" y="7818120"/>
            <a:ext cx="3851910" cy="1005840"/>
          </a:xfrm>
          <a:prstGeom prst="roundRect">
            <a:avLst>
              <a:gd name="adj" fmla="val 20000"/>
            </a:avLst>
          </a:prstGeom>
          <a:solidFill>
            <a:srgbClr val="1E1E1E"/>
          </a:solidFill>
          <a:ln w="12700">
            <a:solidFill>
              <a:srgbClr val="1E1E1E"/>
            </a:solidFill>
            <a:prstDash val="solid"/>
          </a:ln>
        </p:spPr>
      </p:sp>
      <p:sp>
        <p:nvSpPr>
          <p:cNvPr id="56" name="Text 53"/>
          <p:cNvSpPr txBox="1"/>
          <p:nvPr/>
        </p:nvSpPr>
        <p:spPr>
          <a:xfrm>
            <a:off x="545211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&lt;1 ms</a:t>
            </a:r>
            <a:endParaRPr lang="en-US" sz="3500" dirty="0"/>
          </a:p>
        </p:txBody>
      </p:sp>
      <p:sp>
        <p:nvSpPr>
          <p:cNvPr id="57" name="Text 54"/>
          <p:cNvSpPr txBox="1"/>
          <p:nvPr/>
        </p:nvSpPr>
        <p:spPr>
          <a:xfrm>
            <a:off x="545211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Deterministic rule floor</a:t>
            </a:r>
            <a:endParaRPr lang="en-US" sz="1400" dirty="0"/>
          </a:p>
        </p:txBody>
      </p:sp>
      <p:sp>
        <p:nvSpPr>
          <p:cNvPr id="58" name="Shape 55"/>
          <p:cNvSpPr/>
          <p:nvPr/>
        </p:nvSpPr>
        <p:spPr>
          <a:xfrm>
            <a:off x="9258300" y="7818120"/>
            <a:ext cx="3851910" cy="1005840"/>
          </a:xfrm>
          <a:prstGeom prst="roundRect">
            <a:avLst>
              <a:gd name="adj" fmla="val 20000"/>
            </a:avLst>
          </a:prstGeom>
          <a:solidFill>
            <a:srgbClr val="1E1E1E"/>
          </a:solidFill>
          <a:ln w="12700">
            <a:solidFill>
              <a:srgbClr val="1E1E1E"/>
            </a:solidFill>
            <a:prstDash val="solid"/>
          </a:ln>
        </p:spPr>
      </p:sp>
      <p:sp>
        <p:nvSpPr>
          <p:cNvPr id="59" name="Text 56"/>
          <p:cNvSpPr txBox="1"/>
          <p:nvPr/>
        </p:nvSpPr>
        <p:spPr>
          <a:xfrm>
            <a:off x="953262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3</a:t>
            </a:r>
            <a:endParaRPr lang="en-US" sz="3500" dirty="0"/>
          </a:p>
        </p:txBody>
      </p:sp>
      <p:sp>
        <p:nvSpPr>
          <p:cNvPr id="60" name="Text 57"/>
          <p:cNvSpPr txBox="1"/>
          <p:nvPr/>
        </p:nvSpPr>
        <p:spPr>
          <a:xfrm>
            <a:off x="953262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Languages: Bangla, Banglish, English</a:t>
            </a:r>
            <a:endParaRPr lang="en-US" sz="1400" dirty="0"/>
          </a:p>
        </p:txBody>
      </p:sp>
      <p:sp>
        <p:nvSpPr>
          <p:cNvPr id="61" name="Shape 58"/>
          <p:cNvSpPr/>
          <p:nvPr/>
        </p:nvSpPr>
        <p:spPr>
          <a:xfrm>
            <a:off x="13338810" y="7818120"/>
            <a:ext cx="3851910" cy="1005840"/>
          </a:xfrm>
          <a:prstGeom prst="roundRect">
            <a:avLst>
              <a:gd name="adj" fmla="val 20000"/>
            </a:avLst>
          </a:prstGeom>
          <a:solidFill>
            <a:srgbClr val="1E1E1E"/>
          </a:solidFill>
          <a:ln w="12700">
            <a:solidFill>
              <a:srgbClr val="1E1E1E"/>
            </a:solidFill>
            <a:prstDash val="solid"/>
          </a:ln>
        </p:spPr>
      </p:sp>
      <p:sp>
        <p:nvSpPr>
          <p:cNvPr id="62" name="Text 59"/>
          <p:cNvSpPr txBox="1"/>
          <p:nvPr/>
        </p:nvSpPr>
        <p:spPr>
          <a:xfrm>
            <a:off x="1361313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0</a:t>
            </a:r>
            <a:endParaRPr lang="en-US" sz="3500" dirty="0"/>
          </a:p>
        </p:txBody>
      </p:sp>
      <p:sp>
        <p:nvSpPr>
          <p:cNvPr id="63" name="Text 60"/>
          <p:cNvSpPr txBox="1"/>
          <p:nvPr/>
        </p:nvSpPr>
        <p:spPr>
          <a:xfrm>
            <a:off x="1361313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Ways for an LLM to lower risk</a:t>
            </a:r>
            <a:endParaRPr lang="en-US" sz="1400" dirty="0"/>
          </a:p>
        </p:txBody>
      </p:sp>
      <p:sp>
        <p:nvSpPr>
          <p:cNvPr id="25" name="Slide Number Placeholder 0"/>
          <p:cNvSpPr>
            <a:spLocks noGrp="1"/>
          </p:cNvSpPr>
          <p:nvPr>
            <p:ph type="sldNum" sz="quarter" idx="4294967295"/>
          </p:nvPr>
        </p:nvSpPr>
        <p:spPr>
          <a:xfrm>
            <a:off x="15361920" y="9418320"/>
            <a:ext cx="1828800" cy="320040"/>
          </a:xfrm>
          <a:prstGeom prst="rect">
            <a:avLst/>
          </a:prstGeom>
          <a:extLst>
            <a:ext uri="{C572A759-6A51-4108-AA02-DFA0A04FC94B}">
              <ma14:wrappingTextBoxFlag xmlns:ma14="http://schemas.microsoft.com/office/mac/drawingml/2011/main" val="0"/>
            </a:ext>
          </a:extLst>
        </p:spPr>
        <p:txBody>
          <a:bodyPr/>
          <a:lstStyle>
            <a:lvl1pPr>
              <a:defRPr sz="1600">
                <a:solidFill>
                  <a:srgbClr val="A8A8A8"/>
                </a:solidFill>
                <a:latin typeface="Open Sauce"/>
                <a:ea typeface="Open Sauce"/>
                <a:cs typeface="Open Sauce"/>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11832336" y="457200"/>
            <a:ext cx="5358384" cy="457200"/>
          </a:xfrm>
          <a:prstGeom prst="roundRect">
            <a:avLst>
              <a:gd name="adj" fmla="val 50000"/>
            </a:avLst>
          </a:prstGeom>
          <a:solidFill>
            <a:srgbClr val="FFFFFF"/>
          </a:solidFill>
          <a:ln w="12700">
            <a:solidFill>
              <a:srgbClr val="FFFFFF"/>
            </a:solidFill>
            <a:prstDash val="solid"/>
          </a:ln>
        </p:spPr>
      </p:sp>
      <p:sp>
        <p:nvSpPr>
          <p:cNvPr id="3" name="Text 1"/>
          <p:cNvSpPr txBox="1"/>
          <p:nvPr/>
        </p:nvSpPr>
        <p:spPr>
          <a:xfrm>
            <a:off x="11832336" y="457200"/>
            <a:ext cx="5358384" cy="457200"/>
          </a:xfrm>
          <a:prstGeom prst="rect">
            <a:avLst/>
          </a:prstGeom>
          <a:noFill/>
          <a:ln/>
        </p:spPr>
        <p:txBody>
          <a:bodyPr wrap="square" lIns="0" tIns="0" rIns="0" bIns="0" rtlCol="0" anchor="ctr"/>
          <a:lstStyle/>
          <a:p>
            <a:pPr algn="ctr" indent="0" marL="0">
              <a:buNone/>
            </a:pPr>
            <a:r>
              <a:rPr lang="en-US" sz="1700" dirty="0">
                <a:solidFill>
                  <a:srgbClr val="000000"/>
                </a:solidFill>
                <a:latin typeface="Open Sauce" pitchFamily="34" charset="0"/>
                <a:ea typeface="Open Sauce" pitchFamily="34" charset="-122"/>
                <a:cs typeface="Open Sauce" pitchFamily="34" charset="-120"/>
              </a:rPr>
              <a:t>07 · PILLAR II · FASTTREE GRAPH</a:t>
            </a:r>
            <a:endParaRPr lang="en-US" sz="1700" dirty="0"/>
          </a:p>
        </p:txBody>
      </p:sp>
      <p:sp>
        <p:nvSpPr>
          <p:cNvPr id="4" name="Title"/>
          <p:cNvSpPr txBox="1"/>
          <p:nvPr/>
        </p:nvSpPr>
        <p:spPr>
          <a:xfrm>
            <a:off x="1097280" y="1188720"/>
            <a:ext cx="16093440" cy="1005840"/>
          </a:xfrm>
          <a:prstGeom prst="rect">
            <a:avLst/>
          </a:prstGeom>
          <a:noFill/>
          <a:ln/>
        </p:spPr>
        <p:txBody>
          <a:bodyPr wrap="square" lIns="0" tIns="0" rIns="0" bIns="0" rtlCol="0" anchor="t"/>
          <a:lstStyle/>
          <a:p>
            <a:pPr indent="0" marL="0">
              <a:buNone/>
            </a:pPr>
            <a:r>
              <a:rPr lang="en-US" sz="3800" b="1" dirty="0">
                <a:solidFill>
                  <a:srgbClr val="E4E4E4"/>
                </a:solidFill>
                <a:latin typeface="Open Sauce Bold" pitchFamily="34" charset="0"/>
                <a:ea typeface="Open Sauce Bold" pitchFamily="34" charset="-122"/>
                <a:cs typeface="Open Sauce Bold" pitchFamily="34" charset="-120"/>
              </a:rPr>
              <a:t>Cluster the mule ring in under 5 ms, not after cash-out</a:t>
            </a:r>
            <a:endParaRPr lang="en-US" sz="3800" dirty="0"/>
          </a:p>
        </p:txBody>
      </p:sp>
      <p:sp>
        <p:nvSpPr>
          <p:cNvPr id="5" name="Subtitle"/>
          <p:cNvSpPr txBox="1"/>
          <p:nvPr/>
        </p:nvSpPr>
        <p:spPr>
          <a:xfrm>
            <a:off x="1097280" y="2286000"/>
            <a:ext cx="16093440" cy="868680"/>
          </a:xfrm>
          <a:prstGeom prst="rect">
            <a:avLst/>
          </a:prstGeom>
          <a:noFill/>
          <a:ln/>
        </p:spPr>
        <p:txBody>
          <a:bodyPr wrap="square" lIns="0" tIns="0" rIns="0" bIns="0" rtlCol="0" anchor="t"/>
          <a:lstStyle/>
          <a:p>
            <a:pPr indent="0" marL="0">
              <a:buNone/>
            </a:pPr>
            <a:r>
              <a:rPr lang="en-US" sz="2100" dirty="0">
                <a:solidFill>
                  <a:srgbClr val="A8A8A8"/>
                </a:solidFill>
                <a:latin typeface="Open Sauce" pitchFamily="34" charset="0"/>
                <a:ea typeface="Open Sauce" pitchFamily="34" charset="-122"/>
                <a:cs typeface="Open Sauce" pitchFamily="34" charset="-120"/>
              </a:rPr>
              <a:t>Live case: Ring-12, six nodes across three districts, frozen before the pipeline could drain.</a:t>
            </a:r>
            <a:endParaRPr lang="en-US" sz="2100" dirty="0"/>
          </a:p>
        </p:txBody>
      </p:sp>
      <p:sp>
        <p:nvSpPr>
          <p:cNvPr id="7" name="Shape 4"/>
          <p:cNvSpPr/>
          <p:nvPr/>
        </p:nvSpPr>
        <p:spPr>
          <a:xfrm>
            <a:off x="1097280" y="3520440"/>
            <a:ext cx="9692640" cy="4160520"/>
          </a:xfrm>
          <a:prstGeom prst="roundRect">
            <a:avLst>
              <a:gd name="adj" fmla="val 4835"/>
            </a:avLst>
          </a:prstGeom>
          <a:solidFill>
            <a:srgbClr val="141414"/>
          </a:solidFill>
          <a:ln w="12700">
            <a:solidFill>
              <a:srgbClr val="141414"/>
            </a:solidFill>
            <a:prstDash val="solid"/>
          </a:ln>
        </p:spPr>
      </p:sp>
      <p:sp>
        <p:nvSpPr>
          <p:cNvPr id="8" name="Text 5"/>
          <p:cNvSpPr txBox="1"/>
          <p:nvPr/>
        </p:nvSpPr>
        <p:spPr>
          <a:xfrm>
            <a:off x="1371600" y="3657600"/>
            <a:ext cx="3657600" cy="274320"/>
          </a:xfrm>
          <a:prstGeom prst="rect">
            <a:avLst/>
          </a:prstGeom>
          <a:noFill/>
          <a:ln/>
        </p:spPr>
        <p:txBody>
          <a:bodyPr wrap="square" lIns="0" tIns="0" rIns="0" bIns="0" rtlCol="0" anchor="t"/>
          <a:lstStyle/>
          <a:p>
            <a:pPr indent="0" marL="0">
              <a:buNone/>
            </a:pPr>
            <a:r>
              <a:rPr lang="en-US" sz="1400" b="1" dirty="0">
                <a:solidFill>
                  <a:srgbClr val="F7761F"/>
                </a:solidFill>
                <a:latin typeface="Open Sauce" pitchFamily="34" charset="0"/>
                <a:ea typeface="Open Sauce" pitchFamily="34" charset="-122"/>
                <a:cs typeface="Open Sauce" pitchFamily="34" charset="-120"/>
              </a:rPr>
              <a:t>ILLUSTRATIVE TOPOLOGY</a:t>
            </a:r>
            <a:endParaRPr lang="en-US" sz="1400" dirty="0"/>
          </a:p>
        </p:txBody>
      </p:sp>
      <p:sp>
        <p:nvSpPr>
          <p:cNvPr id="9" name="Text 6"/>
          <p:cNvSpPr txBox="1"/>
          <p:nvPr/>
        </p:nvSpPr>
        <p:spPr>
          <a:xfrm>
            <a:off x="1463040" y="4023360"/>
            <a:ext cx="2103120" cy="274320"/>
          </a:xfrm>
          <a:prstGeom prst="rect">
            <a:avLst/>
          </a:prstGeom>
          <a:noFill/>
          <a:ln/>
        </p:spPr>
        <p:txBody>
          <a:bodyPr wrap="square" lIns="0" tIns="0" rIns="0" bIns="0" rtlCol="0" anchor="t"/>
          <a:lstStyle/>
          <a:p>
            <a:pPr algn="ctr" indent="0" marL="0">
              <a:buNone/>
            </a:pPr>
            <a:r>
              <a:rPr lang="en-US" sz="1400" b="1" dirty="0">
                <a:solidFill>
                  <a:srgbClr val="A8A8A8"/>
                </a:solidFill>
                <a:latin typeface="Open Sauce" pitchFamily="34" charset="0"/>
                <a:ea typeface="Open Sauce" pitchFamily="34" charset="-122"/>
                <a:cs typeface="Open Sauce" pitchFamily="34" charset="-120"/>
              </a:rPr>
              <a:t>VICTIMS</a:t>
            </a:r>
            <a:endParaRPr lang="en-US" sz="1400" dirty="0"/>
          </a:p>
        </p:txBody>
      </p:sp>
      <p:sp>
        <p:nvSpPr>
          <p:cNvPr id="10" name="Text 7"/>
          <p:cNvSpPr txBox="1"/>
          <p:nvPr/>
        </p:nvSpPr>
        <p:spPr>
          <a:xfrm>
            <a:off x="3931920" y="4023360"/>
            <a:ext cx="2103120" cy="274320"/>
          </a:xfrm>
          <a:prstGeom prst="rect">
            <a:avLst/>
          </a:prstGeom>
          <a:noFill/>
          <a:ln/>
        </p:spPr>
        <p:txBody>
          <a:bodyPr wrap="square" lIns="0" tIns="0" rIns="0" bIns="0" rtlCol="0" anchor="t"/>
          <a:lstStyle/>
          <a:p>
            <a:pPr algn="ctr" indent="0" marL="0">
              <a:buNone/>
            </a:pPr>
            <a:r>
              <a:rPr lang="en-US" sz="1400" b="1" dirty="0">
                <a:solidFill>
                  <a:srgbClr val="A8A8A8"/>
                </a:solidFill>
                <a:latin typeface="Open Sauce" pitchFamily="34" charset="0"/>
                <a:ea typeface="Open Sauce" pitchFamily="34" charset="-122"/>
                <a:cs typeface="Open Sauce" pitchFamily="34" charset="-120"/>
              </a:rPr>
              <a:t>DISTRICT 1</a:t>
            </a:r>
            <a:endParaRPr lang="en-US" sz="1400" dirty="0"/>
          </a:p>
        </p:txBody>
      </p:sp>
      <p:sp>
        <p:nvSpPr>
          <p:cNvPr id="11" name="Text 8"/>
          <p:cNvSpPr txBox="1"/>
          <p:nvPr/>
        </p:nvSpPr>
        <p:spPr>
          <a:xfrm>
            <a:off x="6400800" y="4023360"/>
            <a:ext cx="2103120" cy="274320"/>
          </a:xfrm>
          <a:prstGeom prst="rect">
            <a:avLst/>
          </a:prstGeom>
          <a:noFill/>
          <a:ln/>
        </p:spPr>
        <p:txBody>
          <a:bodyPr wrap="square" lIns="0" tIns="0" rIns="0" bIns="0" rtlCol="0" anchor="t"/>
          <a:lstStyle/>
          <a:p>
            <a:pPr algn="ctr" indent="0" marL="0">
              <a:buNone/>
            </a:pPr>
            <a:r>
              <a:rPr lang="en-US" sz="1400" b="1" dirty="0">
                <a:solidFill>
                  <a:srgbClr val="A8A8A8"/>
                </a:solidFill>
                <a:latin typeface="Open Sauce" pitchFamily="34" charset="0"/>
                <a:ea typeface="Open Sauce" pitchFamily="34" charset="-122"/>
                <a:cs typeface="Open Sauce" pitchFamily="34" charset="-120"/>
              </a:rPr>
              <a:t>DISTRICT 2</a:t>
            </a:r>
            <a:endParaRPr lang="en-US" sz="1400" dirty="0"/>
          </a:p>
        </p:txBody>
      </p:sp>
      <p:sp>
        <p:nvSpPr>
          <p:cNvPr id="12" name="Text 9"/>
          <p:cNvSpPr txBox="1"/>
          <p:nvPr/>
        </p:nvSpPr>
        <p:spPr>
          <a:xfrm>
            <a:off x="8503920" y="4023360"/>
            <a:ext cx="2103120" cy="274320"/>
          </a:xfrm>
          <a:prstGeom prst="rect">
            <a:avLst/>
          </a:prstGeom>
          <a:noFill/>
          <a:ln/>
        </p:spPr>
        <p:txBody>
          <a:bodyPr wrap="square" lIns="0" tIns="0" rIns="0" bIns="0" rtlCol="0" anchor="t"/>
          <a:lstStyle/>
          <a:p>
            <a:pPr algn="ctr" indent="0" marL="0">
              <a:buNone/>
            </a:pPr>
            <a:r>
              <a:rPr lang="en-US" sz="1400" b="1" dirty="0">
                <a:solidFill>
                  <a:srgbClr val="A8A8A8"/>
                </a:solidFill>
                <a:latin typeface="Open Sauce" pitchFamily="34" charset="0"/>
                <a:ea typeface="Open Sauce" pitchFamily="34" charset="-122"/>
                <a:cs typeface="Open Sauce" pitchFamily="34" charset="-120"/>
              </a:rPr>
              <a:t>DISTRICT 3</a:t>
            </a:r>
            <a:endParaRPr lang="en-US" sz="1400" dirty="0"/>
          </a:p>
        </p:txBody>
      </p:sp>
      <p:sp>
        <p:nvSpPr>
          <p:cNvPr id="13" name="Shape 10"/>
          <p:cNvSpPr/>
          <p:nvPr/>
        </p:nvSpPr>
        <p:spPr>
          <a:xfrm>
            <a:off x="3383280" y="4892040"/>
            <a:ext cx="548640" cy="868680"/>
          </a:xfrm>
          <a:prstGeom prst="line">
            <a:avLst/>
          </a:prstGeom>
          <a:noFill/>
          <a:ln w="19050">
            <a:solidFill>
              <a:srgbClr val="A8A8A8"/>
            </a:solidFill>
            <a:prstDash val="solid"/>
            <a:tailEnd type="triangle"/>
          </a:ln>
        </p:spPr>
      </p:sp>
      <p:sp>
        <p:nvSpPr>
          <p:cNvPr id="14" name="Shape 11"/>
          <p:cNvSpPr/>
          <p:nvPr/>
        </p:nvSpPr>
        <p:spPr>
          <a:xfrm>
            <a:off x="3383280" y="5760720"/>
            <a:ext cx="548640" cy="0"/>
          </a:xfrm>
          <a:prstGeom prst="line">
            <a:avLst/>
          </a:prstGeom>
          <a:noFill/>
          <a:ln w="19050">
            <a:solidFill>
              <a:srgbClr val="A8A8A8"/>
            </a:solidFill>
            <a:prstDash val="solid"/>
            <a:tailEnd type="triangle"/>
          </a:ln>
        </p:spPr>
      </p:sp>
      <p:sp>
        <p:nvSpPr>
          <p:cNvPr id="15" name="Shape 12"/>
          <p:cNvSpPr/>
          <p:nvPr/>
        </p:nvSpPr>
        <p:spPr>
          <a:xfrm flipV="1">
            <a:off x="3383280" y="5760720"/>
            <a:ext cx="548640" cy="868680"/>
          </a:xfrm>
          <a:prstGeom prst="line">
            <a:avLst/>
          </a:prstGeom>
          <a:noFill/>
          <a:ln w="19050">
            <a:solidFill>
              <a:srgbClr val="A8A8A8"/>
            </a:solidFill>
            <a:prstDash val="solid"/>
            <a:tailEnd type="triangle"/>
          </a:ln>
        </p:spPr>
      </p:sp>
      <p:sp>
        <p:nvSpPr>
          <p:cNvPr id="16" name="Shape 13"/>
          <p:cNvSpPr/>
          <p:nvPr/>
        </p:nvSpPr>
        <p:spPr>
          <a:xfrm flipV="1">
            <a:off x="5852160" y="5166360"/>
            <a:ext cx="548640" cy="594360"/>
          </a:xfrm>
          <a:prstGeom prst="line">
            <a:avLst/>
          </a:prstGeom>
          <a:noFill/>
          <a:ln w="19050">
            <a:solidFill>
              <a:srgbClr val="A8A8A8"/>
            </a:solidFill>
            <a:prstDash val="solid"/>
            <a:tailEnd type="triangle"/>
          </a:ln>
        </p:spPr>
      </p:sp>
      <p:sp>
        <p:nvSpPr>
          <p:cNvPr id="17" name="Shape 14"/>
          <p:cNvSpPr/>
          <p:nvPr/>
        </p:nvSpPr>
        <p:spPr>
          <a:xfrm>
            <a:off x="5852160" y="5760720"/>
            <a:ext cx="548640" cy="594360"/>
          </a:xfrm>
          <a:prstGeom prst="line">
            <a:avLst/>
          </a:prstGeom>
          <a:noFill/>
          <a:ln w="19050">
            <a:solidFill>
              <a:srgbClr val="A8A8A8"/>
            </a:solidFill>
            <a:prstDash val="solid"/>
            <a:tailEnd type="triangle"/>
          </a:ln>
        </p:spPr>
      </p:sp>
      <p:sp>
        <p:nvSpPr>
          <p:cNvPr id="18" name="Shape 15"/>
          <p:cNvSpPr/>
          <p:nvPr/>
        </p:nvSpPr>
        <p:spPr>
          <a:xfrm>
            <a:off x="8321040" y="5166360"/>
            <a:ext cx="182880" cy="594360"/>
          </a:xfrm>
          <a:prstGeom prst="line">
            <a:avLst/>
          </a:prstGeom>
          <a:noFill/>
          <a:ln w="19050">
            <a:solidFill>
              <a:srgbClr val="A8A8A8"/>
            </a:solidFill>
            <a:prstDash val="solid"/>
            <a:tailEnd type="triangle"/>
          </a:ln>
        </p:spPr>
      </p:sp>
      <p:sp>
        <p:nvSpPr>
          <p:cNvPr id="19" name="Shape 16"/>
          <p:cNvSpPr/>
          <p:nvPr/>
        </p:nvSpPr>
        <p:spPr>
          <a:xfrm>
            <a:off x="8321040" y="6355080"/>
            <a:ext cx="182880" cy="274320"/>
          </a:xfrm>
          <a:prstGeom prst="line">
            <a:avLst/>
          </a:prstGeom>
          <a:noFill/>
          <a:ln w="19050">
            <a:solidFill>
              <a:srgbClr val="A8A8A8"/>
            </a:solidFill>
            <a:prstDash val="solid"/>
            <a:tailEnd type="triangle"/>
          </a:ln>
        </p:spPr>
      </p:sp>
      <p:sp>
        <p:nvSpPr>
          <p:cNvPr id="20" name="Shape 17"/>
          <p:cNvSpPr/>
          <p:nvPr/>
        </p:nvSpPr>
        <p:spPr>
          <a:xfrm>
            <a:off x="8503920" y="4892040"/>
            <a:ext cx="1920240" cy="868680"/>
          </a:xfrm>
          <a:prstGeom prst="line">
            <a:avLst/>
          </a:prstGeom>
          <a:noFill/>
          <a:ln w="19050">
            <a:solidFill>
              <a:srgbClr val="FF9A4D"/>
            </a:solidFill>
            <a:prstDash val="dash"/>
          </a:ln>
        </p:spPr>
      </p:sp>
      <p:sp>
        <p:nvSpPr>
          <p:cNvPr id="21" name="Shape 18"/>
          <p:cNvSpPr/>
          <p:nvPr/>
        </p:nvSpPr>
        <p:spPr>
          <a:xfrm>
            <a:off x="1463040" y="4572000"/>
            <a:ext cx="1920240" cy="640080"/>
          </a:xfrm>
          <a:prstGeom prst="roundRect">
            <a:avLst>
              <a:gd name="adj" fmla="val 28571"/>
            </a:avLst>
          </a:prstGeom>
          <a:solidFill>
            <a:srgbClr val="1E1E1E"/>
          </a:solidFill>
          <a:ln w="12700">
            <a:solidFill>
              <a:srgbClr val="A8A8A8"/>
            </a:solidFill>
            <a:prstDash val="solid"/>
          </a:ln>
        </p:spPr>
      </p:sp>
      <p:sp>
        <p:nvSpPr>
          <p:cNvPr id="22" name="Text 19"/>
          <p:cNvSpPr txBox="1"/>
          <p:nvPr/>
        </p:nvSpPr>
        <p:spPr>
          <a:xfrm>
            <a:off x="1463040" y="4572000"/>
            <a:ext cx="1920240" cy="640080"/>
          </a:xfrm>
          <a:prstGeom prst="rect">
            <a:avLst/>
          </a:prstGeom>
          <a:noFill/>
          <a:ln/>
        </p:spPr>
        <p:txBody>
          <a:bodyPr wrap="square" lIns="0" tIns="0" rIns="0" bIns="0" rtlCol="0" anchor="ctr"/>
          <a:lstStyle/>
          <a:p>
            <a:pPr algn="ctr" indent="0" marL="0">
              <a:buNone/>
            </a:pPr>
            <a:r>
              <a:rPr lang="en-US" sz="1700" b="1" dirty="0">
                <a:solidFill>
                  <a:srgbClr val="E4E4E4"/>
                </a:solidFill>
                <a:latin typeface="Open Sauce" pitchFamily="34" charset="0"/>
                <a:ea typeface="Open Sauce" pitchFamily="34" charset="-122"/>
                <a:cs typeface="Open Sauce" pitchFamily="34" charset="-120"/>
              </a:rPr>
              <a:t>V-A</a:t>
            </a:r>
            <a:endParaRPr lang="en-US" sz="1600" dirty="0"/>
          </a:p>
          <a:p>
            <a:pPr algn="ctr" indent="0" marL="0">
              <a:buNone/>
            </a:pPr>
            <a:r>
              <a:rPr lang="en-US" sz="1300" dirty="0">
                <a:solidFill>
                  <a:srgbClr val="E4E4E4"/>
                </a:solidFill>
                <a:latin typeface="Open Sauce" pitchFamily="34" charset="0"/>
                <a:ea typeface="Open Sauce" pitchFamily="34" charset="-122"/>
                <a:cs typeface="Open Sauce" pitchFamily="34" charset="-120"/>
              </a:rPr>
              <a:t>৳10–25k</a:t>
            </a:r>
            <a:endParaRPr lang="en-US" sz="1600" dirty="0"/>
          </a:p>
        </p:txBody>
      </p:sp>
      <p:sp>
        <p:nvSpPr>
          <p:cNvPr id="23" name="Shape 20"/>
          <p:cNvSpPr/>
          <p:nvPr/>
        </p:nvSpPr>
        <p:spPr>
          <a:xfrm>
            <a:off x="1463040" y="5440680"/>
            <a:ext cx="1920240" cy="640080"/>
          </a:xfrm>
          <a:prstGeom prst="roundRect">
            <a:avLst>
              <a:gd name="adj" fmla="val 28571"/>
            </a:avLst>
          </a:prstGeom>
          <a:solidFill>
            <a:srgbClr val="1E1E1E"/>
          </a:solidFill>
          <a:ln w="12700">
            <a:solidFill>
              <a:srgbClr val="A8A8A8"/>
            </a:solidFill>
            <a:prstDash val="solid"/>
          </a:ln>
        </p:spPr>
      </p:sp>
      <p:sp>
        <p:nvSpPr>
          <p:cNvPr id="24" name="Text 21"/>
          <p:cNvSpPr txBox="1"/>
          <p:nvPr/>
        </p:nvSpPr>
        <p:spPr>
          <a:xfrm>
            <a:off x="1463040" y="5440680"/>
            <a:ext cx="1920240" cy="640080"/>
          </a:xfrm>
          <a:prstGeom prst="rect">
            <a:avLst/>
          </a:prstGeom>
          <a:noFill/>
          <a:ln/>
        </p:spPr>
        <p:txBody>
          <a:bodyPr wrap="square" lIns="0" tIns="0" rIns="0" bIns="0" rtlCol="0" anchor="ctr"/>
          <a:lstStyle/>
          <a:p>
            <a:pPr algn="ctr" indent="0" marL="0">
              <a:buNone/>
            </a:pPr>
            <a:r>
              <a:rPr lang="en-US" sz="1700" b="1" dirty="0">
                <a:solidFill>
                  <a:srgbClr val="E4E4E4"/>
                </a:solidFill>
                <a:latin typeface="Open Sauce" pitchFamily="34" charset="0"/>
                <a:ea typeface="Open Sauce" pitchFamily="34" charset="-122"/>
                <a:cs typeface="Open Sauce" pitchFamily="34" charset="-120"/>
              </a:rPr>
              <a:t>V-B</a:t>
            </a:r>
            <a:endParaRPr lang="en-US" sz="1600" dirty="0"/>
          </a:p>
          <a:p>
            <a:pPr algn="ctr" indent="0" marL="0">
              <a:buNone/>
            </a:pPr>
            <a:r>
              <a:rPr lang="en-US" sz="1300" dirty="0">
                <a:solidFill>
                  <a:srgbClr val="E4E4E4"/>
                </a:solidFill>
                <a:latin typeface="Open Sauce" pitchFamily="34" charset="0"/>
                <a:ea typeface="Open Sauce" pitchFamily="34" charset="-122"/>
                <a:cs typeface="Open Sauce" pitchFamily="34" charset="-120"/>
              </a:rPr>
              <a:t>৳10–25k</a:t>
            </a:r>
            <a:endParaRPr lang="en-US" sz="1600" dirty="0"/>
          </a:p>
        </p:txBody>
      </p:sp>
      <p:sp>
        <p:nvSpPr>
          <p:cNvPr id="25" name="Shape 22"/>
          <p:cNvSpPr/>
          <p:nvPr/>
        </p:nvSpPr>
        <p:spPr>
          <a:xfrm>
            <a:off x="1463040" y="6309360"/>
            <a:ext cx="1920240" cy="640080"/>
          </a:xfrm>
          <a:prstGeom prst="roundRect">
            <a:avLst>
              <a:gd name="adj" fmla="val 28571"/>
            </a:avLst>
          </a:prstGeom>
          <a:solidFill>
            <a:srgbClr val="1E1E1E"/>
          </a:solidFill>
          <a:ln w="12700">
            <a:solidFill>
              <a:srgbClr val="A8A8A8"/>
            </a:solidFill>
            <a:prstDash val="solid"/>
          </a:ln>
        </p:spPr>
      </p:sp>
      <p:sp>
        <p:nvSpPr>
          <p:cNvPr id="26" name="Text 23"/>
          <p:cNvSpPr txBox="1"/>
          <p:nvPr/>
        </p:nvSpPr>
        <p:spPr>
          <a:xfrm>
            <a:off x="1463040" y="6309360"/>
            <a:ext cx="1920240" cy="640080"/>
          </a:xfrm>
          <a:prstGeom prst="rect">
            <a:avLst/>
          </a:prstGeom>
          <a:noFill/>
          <a:ln/>
        </p:spPr>
        <p:txBody>
          <a:bodyPr wrap="square" lIns="0" tIns="0" rIns="0" bIns="0" rtlCol="0" anchor="ctr"/>
          <a:lstStyle/>
          <a:p>
            <a:pPr algn="ctr" indent="0" marL="0">
              <a:buNone/>
            </a:pPr>
            <a:r>
              <a:rPr lang="en-US" sz="1700" b="1" dirty="0">
                <a:solidFill>
                  <a:srgbClr val="E4E4E4"/>
                </a:solidFill>
                <a:latin typeface="Open Sauce" pitchFamily="34" charset="0"/>
                <a:ea typeface="Open Sauce" pitchFamily="34" charset="-122"/>
                <a:cs typeface="Open Sauce" pitchFamily="34" charset="-120"/>
              </a:rPr>
              <a:t>V-C</a:t>
            </a:r>
            <a:endParaRPr lang="en-US" sz="1600" dirty="0"/>
          </a:p>
          <a:p>
            <a:pPr algn="ctr" indent="0" marL="0">
              <a:buNone/>
            </a:pPr>
            <a:r>
              <a:rPr lang="en-US" sz="1300" dirty="0">
                <a:solidFill>
                  <a:srgbClr val="E4E4E4"/>
                </a:solidFill>
                <a:latin typeface="Open Sauce" pitchFamily="34" charset="0"/>
                <a:ea typeface="Open Sauce" pitchFamily="34" charset="-122"/>
                <a:cs typeface="Open Sauce" pitchFamily="34" charset="-120"/>
              </a:rPr>
              <a:t>৳10–25k</a:t>
            </a:r>
            <a:endParaRPr lang="en-US" sz="1600" dirty="0"/>
          </a:p>
        </p:txBody>
      </p:sp>
      <p:sp>
        <p:nvSpPr>
          <p:cNvPr id="27" name="Shape 24"/>
          <p:cNvSpPr/>
          <p:nvPr/>
        </p:nvSpPr>
        <p:spPr>
          <a:xfrm>
            <a:off x="3931920" y="5440680"/>
            <a:ext cx="1920240" cy="640080"/>
          </a:xfrm>
          <a:prstGeom prst="roundRect">
            <a:avLst>
              <a:gd name="adj" fmla="val 28571"/>
            </a:avLst>
          </a:prstGeom>
          <a:solidFill>
            <a:srgbClr val="F7761F"/>
          </a:solidFill>
          <a:ln w="12700">
            <a:solidFill>
              <a:srgbClr val="F7761F"/>
            </a:solidFill>
            <a:prstDash val="solid"/>
          </a:ln>
        </p:spPr>
      </p:sp>
      <p:sp>
        <p:nvSpPr>
          <p:cNvPr id="28" name="Text 25"/>
          <p:cNvSpPr txBox="1"/>
          <p:nvPr/>
        </p:nvSpPr>
        <p:spPr>
          <a:xfrm>
            <a:off x="3931920" y="5440680"/>
            <a:ext cx="1920240" cy="640080"/>
          </a:xfrm>
          <a:prstGeom prst="rect">
            <a:avLst/>
          </a:prstGeom>
          <a:noFill/>
          <a:ln/>
        </p:spPr>
        <p:txBody>
          <a:bodyPr wrap="square" lIns="0" tIns="0" rIns="0" bIns="0" rtlCol="0" anchor="ctr"/>
          <a:lstStyle/>
          <a:p>
            <a:pPr algn="ctr" indent="0" marL="0">
              <a:buNone/>
            </a:pPr>
            <a:r>
              <a:rPr lang="en-US" sz="1700" b="1" dirty="0">
                <a:solidFill>
                  <a:srgbClr val="000000"/>
                </a:solidFill>
                <a:latin typeface="Open Sauce" pitchFamily="34" charset="0"/>
                <a:ea typeface="Open Sauce" pitchFamily="34" charset="-122"/>
                <a:cs typeface="Open Sauce" pitchFamily="34" charset="-120"/>
              </a:rPr>
              <a:t>M-01</a:t>
            </a:r>
            <a:endParaRPr lang="en-US" sz="1600" dirty="0"/>
          </a:p>
          <a:p>
            <a:pPr algn="ctr" indent="0" marL="0">
              <a:buNone/>
            </a:pPr>
            <a:r>
              <a:rPr lang="en-US" sz="1300" dirty="0">
                <a:solidFill>
                  <a:srgbClr val="000000"/>
                </a:solidFill>
                <a:latin typeface="Open Sauce" pitchFamily="34" charset="0"/>
                <a:ea typeface="Open Sauce" pitchFamily="34" charset="-122"/>
                <a:cs typeface="Open Sauce" pitchFamily="34" charset="-120"/>
              </a:rPr>
              <a:t>FAN-IN</a:t>
            </a:r>
            <a:endParaRPr lang="en-US" sz="1600" dirty="0"/>
          </a:p>
        </p:txBody>
      </p:sp>
      <p:sp>
        <p:nvSpPr>
          <p:cNvPr id="29" name="Shape 26"/>
          <p:cNvSpPr/>
          <p:nvPr/>
        </p:nvSpPr>
        <p:spPr>
          <a:xfrm>
            <a:off x="6400800" y="4846320"/>
            <a:ext cx="1920240" cy="640080"/>
          </a:xfrm>
          <a:prstGeom prst="roundRect">
            <a:avLst>
              <a:gd name="adj" fmla="val 28571"/>
            </a:avLst>
          </a:prstGeom>
          <a:solidFill>
            <a:srgbClr val="F7761F"/>
          </a:solidFill>
          <a:ln w="12700">
            <a:solidFill>
              <a:srgbClr val="F7761F"/>
            </a:solidFill>
            <a:prstDash val="solid"/>
          </a:ln>
        </p:spPr>
      </p:sp>
      <p:sp>
        <p:nvSpPr>
          <p:cNvPr id="30" name="Text 27"/>
          <p:cNvSpPr txBox="1"/>
          <p:nvPr/>
        </p:nvSpPr>
        <p:spPr>
          <a:xfrm>
            <a:off x="6400800" y="4846320"/>
            <a:ext cx="1920240" cy="640080"/>
          </a:xfrm>
          <a:prstGeom prst="rect">
            <a:avLst/>
          </a:prstGeom>
          <a:noFill/>
          <a:ln/>
        </p:spPr>
        <p:txBody>
          <a:bodyPr wrap="square" lIns="0" tIns="0" rIns="0" bIns="0" rtlCol="0" anchor="ctr"/>
          <a:lstStyle/>
          <a:p>
            <a:pPr algn="ctr" indent="0" marL="0">
              <a:buNone/>
            </a:pPr>
            <a:r>
              <a:rPr lang="en-US" sz="1700" b="1" dirty="0">
                <a:solidFill>
                  <a:srgbClr val="000000"/>
                </a:solidFill>
                <a:latin typeface="Open Sauce" pitchFamily="34" charset="0"/>
                <a:ea typeface="Open Sauce" pitchFamily="34" charset="-122"/>
                <a:cs typeface="Open Sauce" pitchFamily="34" charset="-120"/>
              </a:rPr>
              <a:t>M-02</a:t>
            </a:r>
            <a:endParaRPr lang="en-US" sz="1600" dirty="0"/>
          </a:p>
          <a:p>
            <a:pPr algn="ctr" indent="0" marL="0">
              <a:buNone/>
            </a:pPr>
            <a:r>
              <a:rPr lang="en-US" sz="1300" dirty="0">
                <a:solidFill>
                  <a:srgbClr val="000000"/>
                </a:solidFill>
                <a:latin typeface="Open Sauce" pitchFamily="34" charset="0"/>
                <a:ea typeface="Open Sauce" pitchFamily="34" charset="-122"/>
                <a:cs typeface="Open Sauce" pitchFamily="34" charset="-120"/>
              </a:rPr>
              <a:t>PASS-THRU</a:t>
            </a:r>
            <a:endParaRPr lang="en-US" sz="1600" dirty="0"/>
          </a:p>
        </p:txBody>
      </p:sp>
      <p:sp>
        <p:nvSpPr>
          <p:cNvPr id="31" name="Shape 28"/>
          <p:cNvSpPr/>
          <p:nvPr/>
        </p:nvSpPr>
        <p:spPr>
          <a:xfrm>
            <a:off x="6400800" y="6035040"/>
            <a:ext cx="1920240" cy="640080"/>
          </a:xfrm>
          <a:prstGeom prst="roundRect">
            <a:avLst>
              <a:gd name="adj" fmla="val 28571"/>
            </a:avLst>
          </a:prstGeom>
          <a:solidFill>
            <a:srgbClr val="F7761F"/>
          </a:solidFill>
          <a:ln w="12700">
            <a:solidFill>
              <a:srgbClr val="F7761F"/>
            </a:solidFill>
            <a:prstDash val="solid"/>
          </a:ln>
        </p:spPr>
      </p:sp>
      <p:sp>
        <p:nvSpPr>
          <p:cNvPr id="32" name="Text 29"/>
          <p:cNvSpPr txBox="1"/>
          <p:nvPr/>
        </p:nvSpPr>
        <p:spPr>
          <a:xfrm>
            <a:off x="6400800" y="6035040"/>
            <a:ext cx="1920240" cy="640080"/>
          </a:xfrm>
          <a:prstGeom prst="rect">
            <a:avLst/>
          </a:prstGeom>
          <a:noFill/>
          <a:ln/>
        </p:spPr>
        <p:txBody>
          <a:bodyPr wrap="square" lIns="0" tIns="0" rIns="0" bIns="0" rtlCol="0" anchor="ctr"/>
          <a:lstStyle/>
          <a:p>
            <a:pPr algn="ctr" indent="0" marL="0">
              <a:buNone/>
            </a:pPr>
            <a:r>
              <a:rPr lang="en-US" sz="1700" b="1" dirty="0">
                <a:solidFill>
                  <a:srgbClr val="000000"/>
                </a:solidFill>
                <a:latin typeface="Open Sauce" pitchFamily="34" charset="0"/>
                <a:ea typeface="Open Sauce" pitchFamily="34" charset="-122"/>
                <a:cs typeface="Open Sauce" pitchFamily="34" charset="-120"/>
              </a:rPr>
              <a:t>M-03</a:t>
            </a:r>
            <a:endParaRPr lang="en-US" sz="1600" dirty="0"/>
          </a:p>
          <a:p>
            <a:pPr algn="ctr" indent="0" marL="0">
              <a:buNone/>
            </a:pPr>
            <a:r>
              <a:rPr lang="en-US" sz="1300" dirty="0">
                <a:solidFill>
                  <a:srgbClr val="000000"/>
                </a:solidFill>
                <a:latin typeface="Open Sauce" pitchFamily="34" charset="0"/>
                <a:ea typeface="Open Sauce" pitchFamily="34" charset="-122"/>
                <a:cs typeface="Open Sauce" pitchFamily="34" charset="-120"/>
              </a:rPr>
              <a:t>PASS-THRU</a:t>
            </a:r>
            <a:endParaRPr lang="en-US" sz="1600" dirty="0"/>
          </a:p>
        </p:txBody>
      </p:sp>
      <p:sp>
        <p:nvSpPr>
          <p:cNvPr id="33" name="Shape 30"/>
          <p:cNvSpPr/>
          <p:nvPr/>
        </p:nvSpPr>
        <p:spPr>
          <a:xfrm>
            <a:off x="8503920" y="4572000"/>
            <a:ext cx="1920240" cy="640080"/>
          </a:xfrm>
          <a:prstGeom prst="roundRect">
            <a:avLst>
              <a:gd name="adj" fmla="val 28571"/>
            </a:avLst>
          </a:prstGeom>
          <a:solidFill>
            <a:srgbClr val="6B3414"/>
          </a:solidFill>
          <a:ln w="12700">
            <a:solidFill>
              <a:srgbClr val="F7761F"/>
            </a:solidFill>
            <a:prstDash val="solid"/>
          </a:ln>
        </p:spPr>
      </p:sp>
      <p:sp>
        <p:nvSpPr>
          <p:cNvPr id="34" name="Text 31"/>
          <p:cNvSpPr txBox="1"/>
          <p:nvPr/>
        </p:nvSpPr>
        <p:spPr>
          <a:xfrm>
            <a:off x="8503920" y="4572000"/>
            <a:ext cx="1920240" cy="640080"/>
          </a:xfrm>
          <a:prstGeom prst="rect">
            <a:avLst/>
          </a:prstGeom>
          <a:noFill/>
          <a:ln/>
        </p:spPr>
        <p:txBody>
          <a:bodyPr wrap="square" lIns="0" tIns="0" rIns="0" bIns="0" rtlCol="0" anchor="ctr"/>
          <a:lstStyle/>
          <a:p>
            <a:pPr algn="ctr" indent="0" marL="0">
              <a:buNone/>
            </a:pPr>
            <a:r>
              <a:rPr lang="en-US" sz="1700" b="1" dirty="0">
                <a:solidFill>
                  <a:srgbClr val="E4E4E4"/>
                </a:solidFill>
                <a:latin typeface="Open Sauce" pitchFamily="34" charset="0"/>
                <a:ea typeface="Open Sauce" pitchFamily="34" charset="-122"/>
                <a:cs typeface="Open Sauce" pitchFamily="34" charset="-120"/>
              </a:rPr>
              <a:t>M-04</a:t>
            </a:r>
            <a:endParaRPr lang="en-US" sz="1600" dirty="0"/>
          </a:p>
          <a:p>
            <a:pPr algn="ctr" indent="0" marL="0">
              <a:buNone/>
            </a:pPr>
            <a:r>
              <a:rPr lang="en-US" sz="1300" dirty="0">
                <a:solidFill>
                  <a:srgbClr val="E4E4E4"/>
                </a:solidFill>
                <a:latin typeface="Open Sauce" pitchFamily="34" charset="0"/>
                <a:ea typeface="Open Sauce" pitchFamily="34" charset="-122"/>
                <a:cs typeface="Open Sauce" pitchFamily="34" charset="-120"/>
              </a:rPr>
              <a:t>IMEI MATCH</a:t>
            </a:r>
            <a:endParaRPr lang="en-US" sz="1600" dirty="0"/>
          </a:p>
        </p:txBody>
      </p:sp>
      <p:sp>
        <p:nvSpPr>
          <p:cNvPr id="35" name="Shape 32"/>
          <p:cNvSpPr/>
          <p:nvPr/>
        </p:nvSpPr>
        <p:spPr>
          <a:xfrm>
            <a:off x="8503920" y="5440680"/>
            <a:ext cx="1920240" cy="640080"/>
          </a:xfrm>
          <a:prstGeom prst="roundRect">
            <a:avLst>
              <a:gd name="adj" fmla="val 28571"/>
            </a:avLst>
          </a:prstGeom>
          <a:solidFill>
            <a:srgbClr val="F7761F"/>
          </a:solidFill>
          <a:ln w="12700">
            <a:solidFill>
              <a:srgbClr val="F7761F"/>
            </a:solidFill>
            <a:prstDash val="solid"/>
          </a:ln>
        </p:spPr>
      </p:sp>
      <p:sp>
        <p:nvSpPr>
          <p:cNvPr id="36" name="Text 33"/>
          <p:cNvSpPr txBox="1"/>
          <p:nvPr/>
        </p:nvSpPr>
        <p:spPr>
          <a:xfrm>
            <a:off x="8503920" y="5440680"/>
            <a:ext cx="1920240" cy="640080"/>
          </a:xfrm>
          <a:prstGeom prst="rect">
            <a:avLst/>
          </a:prstGeom>
          <a:noFill/>
          <a:ln/>
        </p:spPr>
        <p:txBody>
          <a:bodyPr wrap="square" lIns="0" tIns="0" rIns="0" bIns="0" rtlCol="0" anchor="ctr"/>
          <a:lstStyle/>
          <a:p>
            <a:pPr algn="ctr" indent="0" marL="0">
              <a:buNone/>
            </a:pPr>
            <a:r>
              <a:rPr lang="en-US" sz="1700" b="1" dirty="0">
                <a:solidFill>
                  <a:srgbClr val="000000"/>
                </a:solidFill>
                <a:latin typeface="Open Sauce" pitchFamily="34" charset="0"/>
                <a:ea typeface="Open Sauce" pitchFamily="34" charset="-122"/>
                <a:cs typeface="Open Sauce" pitchFamily="34" charset="-120"/>
              </a:rPr>
              <a:t>M-05</a:t>
            </a:r>
            <a:endParaRPr lang="en-US" sz="1600" dirty="0"/>
          </a:p>
          <a:p>
            <a:pPr algn="ctr" indent="0" marL="0">
              <a:buNone/>
            </a:pPr>
            <a:r>
              <a:rPr lang="en-US" sz="1300" dirty="0">
                <a:solidFill>
                  <a:srgbClr val="000000"/>
                </a:solidFill>
                <a:latin typeface="Open Sauce" pitchFamily="34" charset="0"/>
                <a:ea typeface="Open Sauce" pitchFamily="34" charset="-122"/>
                <a:cs typeface="Open Sauce" pitchFamily="34" charset="-120"/>
              </a:rPr>
              <a:t>CASH-OUT</a:t>
            </a:r>
            <a:endParaRPr lang="en-US" sz="1600" dirty="0"/>
          </a:p>
        </p:txBody>
      </p:sp>
      <p:sp>
        <p:nvSpPr>
          <p:cNvPr id="37" name="Shape 34"/>
          <p:cNvSpPr/>
          <p:nvPr/>
        </p:nvSpPr>
        <p:spPr>
          <a:xfrm>
            <a:off x="8503920" y="6309360"/>
            <a:ext cx="1920240" cy="640080"/>
          </a:xfrm>
          <a:prstGeom prst="roundRect">
            <a:avLst>
              <a:gd name="adj" fmla="val 28571"/>
            </a:avLst>
          </a:prstGeom>
          <a:solidFill>
            <a:srgbClr val="F7761F"/>
          </a:solidFill>
          <a:ln w="12700">
            <a:solidFill>
              <a:srgbClr val="F7761F"/>
            </a:solidFill>
            <a:prstDash val="solid"/>
          </a:ln>
        </p:spPr>
      </p:sp>
      <p:sp>
        <p:nvSpPr>
          <p:cNvPr id="38" name="Text 35"/>
          <p:cNvSpPr txBox="1"/>
          <p:nvPr/>
        </p:nvSpPr>
        <p:spPr>
          <a:xfrm>
            <a:off x="8503920" y="6309360"/>
            <a:ext cx="1920240" cy="640080"/>
          </a:xfrm>
          <a:prstGeom prst="rect">
            <a:avLst/>
          </a:prstGeom>
          <a:noFill/>
          <a:ln/>
        </p:spPr>
        <p:txBody>
          <a:bodyPr wrap="square" lIns="0" tIns="0" rIns="0" bIns="0" rtlCol="0" anchor="ctr"/>
          <a:lstStyle/>
          <a:p>
            <a:pPr algn="ctr" indent="0" marL="0">
              <a:buNone/>
            </a:pPr>
            <a:r>
              <a:rPr lang="en-US" sz="1700" b="1" dirty="0">
                <a:solidFill>
                  <a:srgbClr val="000000"/>
                </a:solidFill>
                <a:latin typeface="Open Sauce" pitchFamily="34" charset="0"/>
                <a:ea typeface="Open Sauce" pitchFamily="34" charset="-122"/>
                <a:cs typeface="Open Sauce" pitchFamily="34" charset="-120"/>
              </a:rPr>
              <a:t>M-06</a:t>
            </a:r>
            <a:endParaRPr lang="en-US" sz="1600" dirty="0"/>
          </a:p>
          <a:p>
            <a:pPr algn="ctr" indent="0" marL="0">
              <a:buNone/>
            </a:pPr>
            <a:r>
              <a:rPr lang="en-US" sz="1300" dirty="0">
                <a:solidFill>
                  <a:srgbClr val="000000"/>
                </a:solidFill>
                <a:latin typeface="Open Sauce" pitchFamily="34" charset="0"/>
                <a:ea typeface="Open Sauce" pitchFamily="34" charset="-122"/>
                <a:cs typeface="Open Sauce" pitchFamily="34" charset="-120"/>
              </a:rPr>
              <a:t>CASH-OUT</a:t>
            </a:r>
            <a:endParaRPr lang="en-US" sz="1600" dirty="0"/>
          </a:p>
        </p:txBody>
      </p:sp>
      <p:sp>
        <p:nvSpPr>
          <p:cNvPr id="39" name="Shape 36"/>
          <p:cNvSpPr/>
          <p:nvPr/>
        </p:nvSpPr>
        <p:spPr>
          <a:xfrm>
            <a:off x="1463040" y="7040880"/>
            <a:ext cx="8961120" cy="502920"/>
          </a:xfrm>
          <a:prstGeom prst="roundRect">
            <a:avLst>
              <a:gd name="adj" fmla="val 40000"/>
            </a:avLst>
          </a:prstGeom>
          <a:solidFill>
            <a:srgbClr val="3A1D0A"/>
          </a:solidFill>
          <a:ln w="12700">
            <a:solidFill>
              <a:srgbClr val="3A1D0A"/>
            </a:solidFill>
            <a:prstDash val="solid"/>
          </a:ln>
        </p:spPr>
      </p:sp>
      <p:sp>
        <p:nvSpPr>
          <p:cNvPr id="40" name="Text 37"/>
          <p:cNvSpPr txBox="1"/>
          <p:nvPr/>
        </p:nvSpPr>
        <p:spPr>
          <a:xfrm>
            <a:off x="1463040" y="7040880"/>
            <a:ext cx="8961120" cy="502920"/>
          </a:xfrm>
          <a:prstGeom prst="rect">
            <a:avLst/>
          </a:prstGeom>
          <a:noFill/>
          <a:ln/>
        </p:spPr>
        <p:txBody>
          <a:bodyPr wrap="square" lIns="0" tIns="0" rIns="0" bIns="0" rtlCol="0" anchor="ctr"/>
          <a:lstStyle/>
          <a:p>
            <a:pPr algn="ctr" indent="0" marL="0">
              <a:buNone/>
            </a:pPr>
            <a:r>
              <a:rPr lang="en-US" sz="1800" b="1" dirty="0">
                <a:solidFill>
                  <a:srgbClr val="FF9A4D"/>
                </a:solidFill>
                <a:latin typeface="Open Sauce" pitchFamily="34" charset="0"/>
                <a:ea typeface="Open Sauce" pitchFamily="34" charset="-122"/>
                <a:cs typeface="Open Sauce" pitchFamily="34" charset="-120"/>
              </a:rPr>
              <a:t>FROZEN · 4.8 ms   </a:t>
            </a:r>
            <a:pPr algn="ctr" indent="0" marL="0">
              <a:buNone/>
            </a:pPr>
            <a:r>
              <a:rPr lang="en-US" sz="1800" dirty="0">
                <a:solidFill>
                  <a:srgbClr val="E4E4E4"/>
                </a:solidFill>
                <a:latin typeface="Open Sauce" pitchFamily="34" charset="0"/>
                <a:ea typeface="Open Sauce" pitchFamily="34" charset="-122"/>
                <a:cs typeface="Open Sauce" pitchFamily="34" charset="-120"/>
              </a:rPr>
              <a:t>৳385,000 pipeline held</a:t>
            </a:r>
            <a:endParaRPr lang="en-US" sz="1800" dirty="0"/>
          </a:p>
        </p:txBody>
      </p:sp>
      <p:sp>
        <p:nvSpPr>
          <p:cNvPr id="41" name="Shape 38"/>
          <p:cNvSpPr/>
          <p:nvPr/>
        </p:nvSpPr>
        <p:spPr>
          <a:xfrm>
            <a:off x="11018520" y="3520440"/>
            <a:ext cx="6172200" cy="1325880"/>
          </a:xfrm>
          <a:prstGeom prst="roundRect">
            <a:avLst>
              <a:gd name="adj" fmla="val 15172"/>
            </a:avLst>
          </a:prstGeom>
          <a:solidFill>
            <a:srgbClr val="1E1E1E"/>
          </a:solidFill>
          <a:ln w="12700">
            <a:solidFill>
              <a:srgbClr val="1E1E1E"/>
            </a:solidFill>
            <a:prstDash val="solid"/>
          </a:ln>
        </p:spPr>
      </p:sp>
      <p:sp>
        <p:nvSpPr>
          <p:cNvPr id="42" name="Text 39"/>
          <p:cNvSpPr txBox="1"/>
          <p:nvPr/>
        </p:nvSpPr>
        <p:spPr>
          <a:xfrm>
            <a:off x="11247120" y="3657600"/>
            <a:ext cx="64008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D1</a:t>
            </a:r>
            <a:endParaRPr lang="en-US" sz="1500" dirty="0"/>
          </a:p>
        </p:txBody>
      </p:sp>
      <p:sp>
        <p:nvSpPr>
          <p:cNvPr id="43" name="Text 40"/>
          <p:cNvSpPr txBox="1"/>
          <p:nvPr/>
        </p:nvSpPr>
        <p:spPr>
          <a:xfrm>
            <a:off x="11887200" y="3630168"/>
            <a:ext cx="5074920" cy="365760"/>
          </a:xfrm>
          <a:prstGeom prst="rect">
            <a:avLst/>
          </a:prstGeom>
          <a:noFill/>
          <a:ln/>
        </p:spPr>
        <p:txBody>
          <a:bodyPr wrap="square" lIns="0" tIns="0" rIns="0" bIns="0" rtlCol="0" anchor="t"/>
          <a:lstStyle/>
          <a:p>
            <a:pPr indent="0" marL="0">
              <a:buNone/>
            </a:pPr>
            <a:r>
              <a:rPr lang="en-US" sz="2100" b="1" dirty="0">
                <a:solidFill>
                  <a:srgbClr val="E4E4E4"/>
                </a:solidFill>
                <a:latin typeface="Open Sauce Bold" pitchFamily="34" charset="0"/>
                <a:ea typeface="Open Sauce Bold" pitchFamily="34" charset="-122"/>
                <a:cs typeface="Open Sauce Bold" pitchFamily="34" charset="-120"/>
              </a:rPr>
              <a:t>Fan-in funneling</a:t>
            </a:r>
            <a:endParaRPr lang="en-US" sz="2100" dirty="0"/>
          </a:p>
        </p:txBody>
      </p:sp>
      <p:sp>
        <p:nvSpPr>
          <p:cNvPr id="44" name="Text 41"/>
          <p:cNvSpPr txBox="1"/>
          <p:nvPr/>
        </p:nvSpPr>
        <p:spPr>
          <a:xfrm>
            <a:off x="11247120" y="4050792"/>
            <a:ext cx="5715000" cy="731520"/>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Many victim wallets converge on one hub within minutes. Individually small, collectively decisive.</a:t>
            </a:r>
            <a:endParaRPr lang="en-US" sz="1600" dirty="0"/>
          </a:p>
        </p:txBody>
      </p:sp>
      <p:sp>
        <p:nvSpPr>
          <p:cNvPr id="45" name="Shape 42"/>
          <p:cNvSpPr/>
          <p:nvPr/>
        </p:nvSpPr>
        <p:spPr>
          <a:xfrm>
            <a:off x="11018520" y="4937760"/>
            <a:ext cx="6172200" cy="1325880"/>
          </a:xfrm>
          <a:prstGeom prst="roundRect">
            <a:avLst>
              <a:gd name="adj" fmla="val 15172"/>
            </a:avLst>
          </a:prstGeom>
          <a:solidFill>
            <a:srgbClr val="1E1E1E"/>
          </a:solidFill>
          <a:ln w="12700">
            <a:solidFill>
              <a:srgbClr val="1E1E1E"/>
            </a:solidFill>
            <a:prstDash val="solid"/>
          </a:ln>
        </p:spPr>
      </p:sp>
      <p:sp>
        <p:nvSpPr>
          <p:cNvPr id="46" name="Text 43"/>
          <p:cNvSpPr txBox="1"/>
          <p:nvPr/>
        </p:nvSpPr>
        <p:spPr>
          <a:xfrm>
            <a:off x="11247120" y="5074920"/>
            <a:ext cx="64008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D2</a:t>
            </a:r>
            <a:endParaRPr lang="en-US" sz="1500" dirty="0"/>
          </a:p>
        </p:txBody>
      </p:sp>
      <p:sp>
        <p:nvSpPr>
          <p:cNvPr id="47" name="Text 44"/>
          <p:cNvSpPr txBox="1"/>
          <p:nvPr/>
        </p:nvSpPr>
        <p:spPr>
          <a:xfrm>
            <a:off x="11887200" y="5047488"/>
            <a:ext cx="5074920" cy="365760"/>
          </a:xfrm>
          <a:prstGeom prst="rect">
            <a:avLst/>
          </a:prstGeom>
          <a:noFill/>
          <a:ln/>
        </p:spPr>
        <p:txBody>
          <a:bodyPr wrap="square" lIns="0" tIns="0" rIns="0" bIns="0" rtlCol="0" anchor="t"/>
          <a:lstStyle/>
          <a:p>
            <a:pPr indent="0" marL="0">
              <a:buNone/>
            </a:pPr>
            <a:r>
              <a:rPr lang="en-US" sz="2100" b="1" dirty="0">
                <a:solidFill>
                  <a:srgbClr val="E4E4E4"/>
                </a:solidFill>
                <a:latin typeface="Open Sauce Bold" pitchFamily="34" charset="0"/>
                <a:ea typeface="Open Sauce Bold" pitchFamily="34" charset="-122"/>
                <a:cs typeface="Open Sauce Bold" pitchFamily="34" charset="-120"/>
              </a:rPr>
              <a:t>Zero-balance pass-through</a:t>
            </a:r>
            <a:endParaRPr lang="en-US" sz="2100" dirty="0"/>
          </a:p>
        </p:txBody>
      </p:sp>
      <p:sp>
        <p:nvSpPr>
          <p:cNvPr id="48" name="Text 45"/>
          <p:cNvSpPr txBox="1"/>
          <p:nvPr/>
        </p:nvSpPr>
        <p:spPr>
          <a:xfrm>
            <a:off x="11247120" y="5468112"/>
            <a:ext cx="5715000" cy="731520"/>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Funds arrive and leave within minutes, leaving the wallet near zero. Classic layering behavior.</a:t>
            </a:r>
            <a:endParaRPr lang="en-US" sz="1600" dirty="0"/>
          </a:p>
        </p:txBody>
      </p:sp>
      <p:sp>
        <p:nvSpPr>
          <p:cNvPr id="49" name="Shape 46"/>
          <p:cNvSpPr/>
          <p:nvPr/>
        </p:nvSpPr>
        <p:spPr>
          <a:xfrm>
            <a:off x="11018520" y="6355080"/>
            <a:ext cx="6172200" cy="1325880"/>
          </a:xfrm>
          <a:prstGeom prst="roundRect">
            <a:avLst>
              <a:gd name="adj" fmla="val 15172"/>
            </a:avLst>
          </a:prstGeom>
          <a:solidFill>
            <a:srgbClr val="1E1E1E"/>
          </a:solidFill>
          <a:ln w="12700">
            <a:solidFill>
              <a:srgbClr val="1E1E1E"/>
            </a:solidFill>
            <a:prstDash val="solid"/>
          </a:ln>
        </p:spPr>
      </p:sp>
      <p:sp>
        <p:nvSpPr>
          <p:cNvPr id="50" name="Text 47"/>
          <p:cNvSpPr txBox="1"/>
          <p:nvPr/>
        </p:nvSpPr>
        <p:spPr>
          <a:xfrm>
            <a:off x="11247120" y="6492240"/>
            <a:ext cx="64008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D3</a:t>
            </a:r>
            <a:endParaRPr lang="en-US" sz="1500" dirty="0"/>
          </a:p>
        </p:txBody>
      </p:sp>
      <p:sp>
        <p:nvSpPr>
          <p:cNvPr id="51" name="Text 48"/>
          <p:cNvSpPr txBox="1"/>
          <p:nvPr/>
        </p:nvSpPr>
        <p:spPr>
          <a:xfrm>
            <a:off x="11887200" y="6464808"/>
            <a:ext cx="5074920" cy="365760"/>
          </a:xfrm>
          <a:prstGeom prst="rect">
            <a:avLst/>
          </a:prstGeom>
          <a:noFill/>
          <a:ln/>
        </p:spPr>
        <p:txBody>
          <a:bodyPr wrap="square" lIns="0" tIns="0" rIns="0" bIns="0" rtlCol="0" anchor="t"/>
          <a:lstStyle/>
          <a:p>
            <a:pPr indent="0" marL="0">
              <a:buNone/>
            </a:pPr>
            <a:r>
              <a:rPr lang="en-US" sz="2100" b="1" dirty="0">
                <a:solidFill>
                  <a:srgbClr val="E4E4E4"/>
                </a:solidFill>
                <a:latin typeface="Open Sauce Bold" pitchFamily="34" charset="0"/>
                <a:ea typeface="Open Sauce Bold" pitchFamily="34" charset="-122"/>
                <a:cs typeface="Open Sauce Bold" pitchFamily="34" charset="-120"/>
              </a:rPr>
              <a:t>IMEI collision graph</a:t>
            </a:r>
            <a:endParaRPr lang="en-US" sz="2100" dirty="0"/>
          </a:p>
        </p:txBody>
      </p:sp>
      <p:sp>
        <p:nvSpPr>
          <p:cNvPr id="52" name="Text 49"/>
          <p:cNvSpPr txBox="1"/>
          <p:nvPr/>
        </p:nvSpPr>
        <p:spPr>
          <a:xfrm>
            <a:off x="11247120" y="6885432"/>
            <a:ext cx="5715000" cy="731520"/>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Burner SIMs sharing one handset are linked even when numbers and owners differ.</a:t>
            </a:r>
            <a:endParaRPr lang="en-US" sz="1600" dirty="0"/>
          </a:p>
        </p:txBody>
      </p:sp>
      <p:sp>
        <p:nvSpPr>
          <p:cNvPr id="53" name="Shape 50"/>
          <p:cNvSpPr/>
          <p:nvPr/>
        </p:nvSpPr>
        <p:spPr>
          <a:xfrm>
            <a:off x="1097280" y="7818120"/>
            <a:ext cx="3851910" cy="1005840"/>
          </a:xfrm>
          <a:prstGeom prst="roundRect">
            <a:avLst>
              <a:gd name="adj" fmla="val 20000"/>
            </a:avLst>
          </a:prstGeom>
          <a:solidFill>
            <a:srgbClr val="1E1E1E"/>
          </a:solidFill>
          <a:ln w="12700">
            <a:solidFill>
              <a:srgbClr val="1E1E1E"/>
            </a:solidFill>
            <a:prstDash val="solid"/>
          </a:ln>
        </p:spPr>
      </p:sp>
      <p:sp>
        <p:nvSpPr>
          <p:cNvPr id="54" name="Text 51"/>
          <p:cNvSpPr txBox="1"/>
          <p:nvPr/>
        </p:nvSpPr>
        <p:spPr>
          <a:xfrm>
            <a:off x="137160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৳385k</a:t>
            </a:r>
            <a:endParaRPr lang="en-US" sz="3500" dirty="0"/>
          </a:p>
        </p:txBody>
      </p:sp>
      <p:sp>
        <p:nvSpPr>
          <p:cNvPr id="55" name="Text 52"/>
          <p:cNvSpPr txBox="1"/>
          <p:nvPr/>
        </p:nvSpPr>
        <p:spPr>
          <a:xfrm>
            <a:off x="137160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Pipeline frozen in Ring-12</a:t>
            </a:r>
            <a:endParaRPr lang="en-US" sz="1400" dirty="0"/>
          </a:p>
        </p:txBody>
      </p:sp>
      <p:sp>
        <p:nvSpPr>
          <p:cNvPr id="56" name="Shape 53"/>
          <p:cNvSpPr/>
          <p:nvPr/>
        </p:nvSpPr>
        <p:spPr>
          <a:xfrm>
            <a:off x="5177790" y="7818120"/>
            <a:ext cx="3851910" cy="1005840"/>
          </a:xfrm>
          <a:prstGeom prst="roundRect">
            <a:avLst>
              <a:gd name="adj" fmla="val 20000"/>
            </a:avLst>
          </a:prstGeom>
          <a:solidFill>
            <a:srgbClr val="1E1E1E"/>
          </a:solidFill>
          <a:ln w="12700">
            <a:solidFill>
              <a:srgbClr val="1E1E1E"/>
            </a:solidFill>
            <a:prstDash val="solid"/>
          </a:ln>
        </p:spPr>
      </p:sp>
      <p:sp>
        <p:nvSpPr>
          <p:cNvPr id="57" name="Text 54"/>
          <p:cNvSpPr txBox="1"/>
          <p:nvPr/>
        </p:nvSpPr>
        <p:spPr>
          <a:xfrm>
            <a:off x="545211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4.8 ms</a:t>
            </a:r>
            <a:endParaRPr lang="en-US" sz="3500" dirty="0"/>
          </a:p>
        </p:txBody>
      </p:sp>
      <p:sp>
        <p:nvSpPr>
          <p:cNvPr id="58" name="Text 55"/>
          <p:cNvSpPr txBox="1"/>
          <p:nvPr/>
        </p:nvSpPr>
        <p:spPr>
          <a:xfrm>
            <a:off x="545211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Time to cluster and freeze</a:t>
            </a:r>
            <a:endParaRPr lang="en-US" sz="1400" dirty="0"/>
          </a:p>
        </p:txBody>
      </p:sp>
      <p:sp>
        <p:nvSpPr>
          <p:cNvPr id="59" name="Shape 56"/>
          <p:cNvSpPr/>
          <p:nvPr/>
        </p:nvSpPr>
        <p:spPr>
          <a:xfrm>
            <a:off x="9258300" y="7818120"/>
            <a:ext cx="3851910" cy="1005840"/>
          </a:xfrm>
          <a:prstGeom prst="roundRect">
            <a:avLst>
              <a:gd name="adj" fmla="val 20000"/>
            </a:avLst>
          </a:prstGeom>
          <a:solidFill>
            <a:srgbClr val="1E1E1E"/>
          </a:solidFill>
          <a:ln w="12700">
            <a:solidFill>
              <a:srgbClr val="1E1E1E"/>
            </a:solidFill>
            <a:prstDash val="solid"/>
          </a:ln>
        </p:spPr>
      </p:sp>
      <p:sp>
        <p:nvSpPr>
          <p:cNvPr id="60" name="Text 57"/>
          <p:cNvSpPr txBox="1"/>
          <p:nvPr/>
        </p:nvSpPr>
        <p:spPr>
          <a:xfrm>
            <a:off x="953262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6 / 3</a:t>
            </a:r>
            <a:endParaRPr lang="en-US" sz="3500" dirty="0"/>
          </a:p>
        </p:txBody>
      </p:sp>
      <p:sp>
        <p:nvSpPr>
          <p:cNvPr id="61" name="Text 58"/>
          <p:cNvSpPr txBox="1"/>
          <p:nvPr/>
        </p:nvSpPr>
        <p:spPr>
          <a:xfrm>
            <a:off x="953262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Nodes / districts dismantled</a:t>
            </a:r>
            <a:endParaRPr lang="en-US" sz="1400" dirty="0"/>
          </a:p>
        </p:txBody>
      </p:sp>
      <p:sp>
        <p:nvSpPr>
          <p:cNvPr id="62" name="Shape 59"/>
          <p:cNvSpPr/>
          <p:nvPr/>
        </p:nvSpPr>
        <p:spPr>
          <a:xfrm>
            <a:off x="13338810" y="7818120"/>
            <a:ext cx="3851910" cy="1005840"/>
          </a:xfrm>
          <a:prstGeom prst="roundRect">
            <a:avLst>
              <a:gd name="adj" fmla="val 20000"/>
            </a:avLst>
          </a:prstGeom>
          <a:solidFill>
            <a:srgbClr val="1E1E1E"/>
          </a:solidFill>
          <a:ln w="12700">
            <a:solidFill>
              <a:srgbClr val="1E1E1E"/>
            </a:solidFill>
            <a:prstDash val="solid"/>
          </a:ln>
        </p:spPr>
      </p:sp>
      <p:sp>
        <p:nvSpPr>
          <p:cNvPr id="63" name="Text 60"/>
          <p:cNvSpPr txBox="1"/>
          <p:nvPr/>
        </p:nvSpPr>
        <p:spPr>
          <a:xfrm>
            <a:off x="1361313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&lt;5 ms</a:t>
            </a:r>
            <a:endParaRPr lang="en-US" sz="3500" dirty="0"/>
          </a:p>
        </p:txBody>
      </p:sp>
      <p:sp>
        <p:nvSpPr>
          <p:cNvPr id="64" name="Text 61"/>
          <p:cNvSpPr txBox="1"/>
          <p:nvPr/>
        </p:nvSpPr>
        <p:spPr>
          <a:xfrm>
            <a:off x="1361313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FastTree clustering SLA</a:t>
            </a:r>
            <a:endParaRPr lang="en-US" sz="1400" dirty="0"/>
          </a:p>
        </p:txBody>
      </p:sp>
      <p:sp>
        <p:nvSpPr>
          <p:cNvPr id="25" name="Slide Number Placeholder 0"/>
          <p:cNvSpPr>
            <a:spLocks noGrp="1"/>
          </p:cNvSpPr>
          <p:nvPr>
            <p:ph type="sldNum" sz="quarter" idx="4294967295"/>
          </p:nvPr>
        </p:nvSpPr>
        <p:spPr>
          <a:xfrm>
            <a:off x="15361920" y="9418320"/>
            <a:ext cx="1828800" cy="320040"/>
          </a:xfrm>
          <a:prstGeom prst="rect">
            <a:avLst/>
          </a:prstGeom>
          <a:extLst>
            <a:ext uri="{C572A759-6A51-4108-AA02-DFA0A04FC94B}">
              <ma14:wrappingTextBoxFlag xmlns:ma14="http://schemas.microsoft.com/office/mac/drawingml/2011/main" val="0"/>
            </a:ext>
          </a:extLst>
        </p:spPr>
        <p:txBody>
          <a:bodyPr/>
          <a:lstStyle>
            <a:lvl1pPr>
              <a:defRPr sz="1600">
                <a:solidFill>
                  <a:srgbClr val="A8A8A8"/>
                </a:solidFill>
                <a:latin typeface="Open Sauce"/>
                <a:ea typeface="Open Sauce"/>
                <a:cs typeface="Open Sauce"/>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12124944" y="457200"/>
            <a:ext cx="5065776" cy="457200"/>
          </a:xfrm>
          <a:prstGeom prst="roundRect">
            <a:avLst>
              <a:gd name="adj" fmla="val 50000"/>
            </a:avLst>
          </a:prstGeom>
          <a:solidFill>
            <a:srgbClr val="FFFFFF"/>
          </a:solidFill>
          <a:ln w="12700">
            <a:solidFill>
              <a:srgbClr val="FFFFFF"/>
            </a:solidFill>
            <a:prstDash val="solid"/>
          </a:ln>
        </p:spPr>
      </p:sp>
      <p:sp>
        <p:nvSpPr>
          <p:cNvPr id="3" name="Text 1"/>
          <p:cNvSpPr txBox="1"/>
          <p:nvPr/>
        </p:nvSpPr>
        <p:spPr>
          <a:xfrm>
            <a:off x="12124944" y="457200"/>
            <a:ext cx="5065776" cy="457200"/>
          </a:xfrm>
          <a:prstGeom prst="rect">
            <a:avLst/>
          </a:prstGeom>
          <a:noFill/>
          <a:ln/>
        </p:spPr>
        <p:txBody>
          <a:bodyPr wrap="square" lIns="0" tIns="0" rIns="0" bIns="0" rtlCol="0" anchor="ctr"/>
          <a:lstStyle/>
          <a:p>
            <a:pPr algn="ctr" indent="0" marL="0">
              <a:buNone/>
            </a:pPr>
            <a:r>
              <a:rPr lang="en-US" sz="1700" dirty="0">
                <a:solidFill>
                  <a:srgbClr val="000000"/>
                </a:solidFill>
                <a:latin typeface="Open Sauce" pitchFamily="34" charset="0"/>
                <a:ea typeface="Open Sauce" pitchFamily="34" charset="-122"/>
                <a:cs typeface="Open Sauce" pitchFamily="34" charset="-120"/>
              </a:rPr>
              <a:t>08 · PILLAR III · AGENT GUARD</a:t>
            </a:r>
            <a:endParaRPr lang="en-US" sz="1700" dirty="0"/>
          </a:p>
        </p:txBody>
      </p:sp>
      <p:sp>
        <p:nvSpPr>
          <p:cNvPr id="4" name="Title"/>
          <p:cNvSpPr txBox="1"/>
          <p:nvPr/>
        </p:nvSpPr>
        <p:spPr>
          <a:xfrm>
            <a:off x="1097280" y="1188720"/>
            <a:ext cx="16093440" cy="1005840"/>
          </a:xfrm>
          <a:prstGeom prst="rect">
            <a:avLst/>
          </a:prstGeom>
          <a:noFill/>
          <a:ln/>
        </p:spPr>
        <p:txBody>
          <a:bodyPr wrap="square" lIns="0" tIns="0" rIns="0" bIns="0" rtlCol="0" anchor="t"/>
          <a:lstStyle/>
          <a:p>
            <a:pPr indent="0" marL="0">
              <a:buNone/>
            </a:pPr>
            <a:r>
              <a:rPr lang="en-US" sz="3800" b="1" dirty="0">
                <a:solidFill>
                  <a:srgbClr val="E4E4E4"/>
                </a:solidFill>
                <a:latin typeface="Open Sauce Bold" pitchFamily="34" charset="0"/>
                <a:ea typeface="Open Sauce Bold" pitchFamily="34" charset="-122"/>
                <a:cs typeface="Open Sauce Bold" pitchFamily="34" charset="-120"/>
              </a:rPr>
              <a:t>Separate a busy agent from a complicit one</a:t>
            </a:r>
            <a:endParaRPr lang="en-US" sz="3800" dirty="0"/>
          </a:p>
        </p:txBody>
      </p:sp>
      <p:sp>
        <p:nvSpPr>
          <p:cNvPr id="5" name="Subtitle"/>
          <p:cNvSpPr txBox="1"/>
          <p:nvPr/>
        </p:nvSpPr>
        <p:spPr>
          <a:xfrm>
            <a:off x="1097280" y="2286000"/>
            <a:ext cx="16093440" cy="868680"/>
          </a:xfrm>
          <a:prstGeom prst="rect">
            <a:avLst/>
          </a:prstGeom>
          <a:noFill/>
          <a:ln/>
        </p:spPr>
        <p:txBody>
          <a:bodyPr wrap="square" lIns="0" tIns="0" rIns="0" bIns="0" rtlCol="0" anchor="t"/>
          <a:lstStyle/>
          <a:p>
            <a:pPr indent="0" marL="0">
              <a:buNone/>
            </a:pPr>
            <a:r>
              <a:rPr lang="en-US" sz="2100" dirty="0">
                <a:solidFill>
                  <a:srgbClr val="A8A8A8"/>
                </a:solidFill>
                <a:latin typeface="Open Sauce" pitchFamily="34" charset="0"/>
                <a:ea typeface="Open Sauce" pitchFamily="34" charset="-122"/>
                <a:cs typeface="Open Sauce" pitchFamily="34" charset="-120"/>
              </a:rPr>
              <a:t>Vector A measures operational pressure. Vector B measures fraud complicity. They are scored independently.</a:t>
            </a:r>
            <a:endParaRPr lang="en-US" sz="2100" dirty="0"/>
          </a:p>
        </p:txBody>
      </p:sp>
      <p:sp>
        <p:nvSpPr>
          <p:cNvPr id="7" name="Text 4"/>
          <p:cNvSpPr txBox="1"/>
          <p:nvPr/>
        </p:nvSpPr>
        <p:spPr>
          <a:xfrm>
            <a:off x="1097280" y="3520440"/>
            <a:ext cx="548640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DECISION MATRIX</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097280" y="3886200"/>
          <a:ext cx="6766560" cy="914400"/>
        </p:xfrm>
        <a:graphic>
          <a:graphicData uri="http://schemas.openxmlformats.org/drawingml/2006/table">
            <a:tbl>
              <a:tblPr/>
              <a:tblGrid>
                <a:gridCol w="1554480"/>
                <a:gridCol w="1554480"/>
                <a:gridCol w="3657600"/>
              </a:tblGrid>
              <a:tr h="411480">
                <a:tc>
                  <a:txBody>
                    <a:bodyPr/>
                    <a:lstStyle/>
                    <a:p>
                      <a:pPr algn="ctr" indent="0" marL="0">
                        <a:buNone/>
                      </a:pPr>
                      <a:r>
                        <a:rPr lang="en-US" sz="1400" b="1" dirty="0">
                          <a:solidFill>
                            <a:srgbClr val="F7761F"/>
                          </a:solidFill>
                          <a:latin typeface="Open Sauce Bold" pitchFamily="34" charset="0"/>
                          <a:ea typeface="Open Sauce Bold" pitchFamily="34" charset="-122"/>
                          <a:cs typeface="Open Sauce Bold" pitchFamily="34" charset="-120"/>
                        </a:rPr>
                        <a:t>A (VECTOR A)</a:t>
                      </a:r>
                      <a:endParaRPr lang="en-US" sz="1400" dirty="0">
                        <a:latin typeface="Open Sauce Bold" charset="0"/>
                        <a:ea typeface="Open Sauce Bold" charset="0"/>
                        <a:cs typeface="Open Sauce Bold"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E1E1E"/>
                    </a:solidFill>
                  </a:tcPr>
                </a:tc>
                <a:tc>
                  <a:txBody>
                    <a:bodyPr/>
                    <a:lstStyle/>
                    <a:p>
                      <a:pPr algn="ctr" indent="0" marL="0">
                        <a:buNone/>
                      </a:pPr>
                      <a:r>
                        <a:rPr lang="en-US" sz="1400" b="1" dirty="0">
                          <a:solidFill>
                            <a:srgbClr val="F7761F"/>
                          </a:solidFill>
                          <a:latin typeface="Open Sauce Bold" pitchFamily="34" charset="0"/>
                          <a:ea typeface="Open Sauce Bold" pitchFamily="34" charset="-122"/>
                          <a:cs typeface="Open Sauce Bold" pitchFamily="34" charset="-120"/>
                        </a:rPr>
                        <a:t>B (VECTOR B)</a:t>
                      </a:r>
                      <a:endParaRPr lang="en-US" sz="1400" dirty="0">
                        <a:latin typeface="Open Sauce Bold" charset="0"/>
                        <a:ea typeface="Open Sauce Bold" charset="0"/>
                        <a:cs typeface="Open Sauce Bold"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E1E1E"/>
                    </a:solidFill>
                  </a:tcPr>
                </a:tc>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DECISION</a:t>
                      </a:r>
                      <a:endParaRPr lang="en-US" sz="1400" dirty="0">
                        <a:latin typeface="Open Sauce Bold" charset="0"/>
                        <a:ea typeface="Open Sauce Bold" charset="0"/>
                        <a:cs typeface="Open Sauce Bold"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E1E1E"/>
                    </a:solidFill>
                  </a:tcPr>
                </a:tc>
              </a:tr>
              <a:tr h="566928">
                <a:tc>
                  <a:txBody>
                    <a:bodyPr/>
                    <a:lstStyle/>
                    <a:p>
                      <a:pPr algn="ctr" indent="0" marL="0">
                        <a:buNone/>
                      </a:pPr>
                      <a:r>
                        <a:rPr lang="en-US" sz="1400" b="1" dirty="0">
                          <a:solidFill>
                            <a:srgbClr val="E4E4E4"/>
                          </a:solidFill>
                          <a:latin typeface="Open Sauce" pitchFamily="34" charset="0"/>
                          <a:ea typeface="Open Sauce" pitchFamily="34" charset="-122"/>
                          <a:cs typeface="Open Sauce" pitchFamily="34" charset="-120"/>
                        </a:rPr>
                        <a:t>HIGH</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algn="ctr" indent="0" marL="0">
                        <a:buNone/>
                      </a:pPr>
                      <a:r>
                        <a:rPr lang="en-US" sz="1400" b="1" dirty="0">
                          <a:solidFill>
                            <a:srgbClr val="E4E4E4"/>
                          </a:solidFill>
                          <a:latin typeface="Open Sauce" pitchFamily="34" charset="0"/>
                          <a:ea typeface="Open Sauce" pitchFamily="34" charset="-122"/>
                          <a:cs typeface="Open Sauce" pitchFamily="34" charset="-120"/>
                        </a:rPr>
                        <a:t>LOW</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FF9A4D"/>
                          </a:solidFill>
                          <a:latin typeface="Open Sauce" pitchFamily="34" charset="0"/>
                          <a:ea typeface="Open Sauce" pitchFamily="34" charset="-122"/>
                          <a:cs typeface="Open Sauce" pitchFamily="34" charset="-120"/>
                        </a:rPr>
                        <a:t>ALLOW and support float</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r h="566928">
                <a:tc>
                  <a:txBody>
                    <a:bodyPr/>
                    <a:lstStyle/>
                    <a:p>
                      <a:pPr algn="ctr" indent="0" marL="0">
                        <a:buNone/>
                      </a:pPr>
                      <a:r>
                        <a:rPr lang="en-US" sz="1400" b="1" dirty="0">
                          <a:solidFill>
                            <a:srgbClr val="E4E4E4"/>
                          </a:solidFill>
                          <a:latin typeface="Open Sauce" pitchFamily="34" charset="0"/>
                          <a:ea typeface="Open Sauce" pitchFamily="34" charset="-122"/>
                          <a:cs typeface="Open Sauce" pitchFamily="34" charset="-120"/>
                        </a:rPr>
                        <a:t>HIGH</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algn="ctr" indent="0" marL="0">
                        <a:buNone/>
                      </a:pPr>
                      <a:r>
                        <a:rPr lang="en-US" sz="1400" b="1" dirty="0">
                          <a:solidFill>
                            <a:srgbClr val="E4E4E4"/>
                          </a:solidFill>
                          <a:latin typeface="Open Sauce" pitchFamily="34" charset="0"/>
                          <a:ea typeface="Open Sauce" pitchFamily="34" charset="-122"/>
                          <a:cs typeface="Open Sauce" pitchFamily="34" charset="-120"/>
                        </a:rPr>
                        <a:t>HIGH</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FF9A4D"/>
                          </a:solidFill>
                          <a:latin typeface="Open Sauce" pitchFamily="34" charset="0"/>
                          <a:ea typeface="Open Sauce" pitchFamily="34" charset="-122"/>
                          <a:cs typeface="Open Sauce" pitchFamily="34" charset="-120"/>
                        </a:rPr>
                        <a:t>HOLD_ASSIST</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r h="566928">
                <a:tc>
                  <a:txBody>
                    <a:bodyPr/>
                    <a:lstStyle/>
                    <a:p>
                      <a:pPr algn="ctr" indent="0" marL="0">
                        <a:buNone/>
                      </a:pPr>
                      <a:r>
                        <a:rPr lang="en-US" sz="1400" b="1" dirty="0">
                          <a:solidFill>
                            <a:srgbClr val="E4E4E4"/>
                          </a:solidFill>
                          <a:latin typeface="Open Sauce" pitchFamily="34" charset="0"/>
                          <a:ea typeface="Open Sauce" pitchFamily="34" charset="-122"/>
                          <a:cs typeface="Open Sauce" pitchFamily="34" charset="-120"/>
                        </a:rPr>
                        <a:t>LOW</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algn="ctr" indent="0" marL="0">
                        <a:buNone/>
                      </a:pPr>
                      <a:r>
                        <a:rPr lang="en-US" sz="1400" b="1" dirty="0">
                          <a:solidFill>
                            <a:srgbClr val="E4E4E4"/>
                          </a:solidFill>
                          <a:latin typeface="Open Sauce" pitchFamily="34" charset="0"/>
                          <a:ea typeface="Open Sauce" pitchFamily="34" charset="-122"/>
                          <a:cs typeface="Open Sauce" pitchFamily="34" charset="-120"/>
                        </a:rPr>
                        <a:t>HIGH</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FF9A4D"/>
                          </a:solidFill>
                          <a:latin typeface="Open Sauce" pitchFamily="34" charset="0"/>
                          <a:ea typeface="Open Sauce" pitchFamily="34" charset="-122"/>
                          <a:cs typeface="Open Sauce" pitchFamily="34" charset="-120"/>
                        </a:rPr>
                        <a:t>PAUSE / BLOCK</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r h="566928">
                <a:tc>
                  <a:txBody>
                    <a:bodyPr/>
                    <a:lstStyle/>
                    <a:p>
                      <a:pPr algn="ctr" indent="0" marL="0">
                        <a:buNone/>
                      </a:pPr>
                      <a:r>
                        <a:rPr lang="en-US" sz="1400" b="1" dirty="0">
                          <a:solidFill>
                            <a:srgbClr val="E4E4E4"/>
                          </a:solidFill>
                          <a:latin typeface="Open Sauce" pitchFamily="34" charset="0"/>
                          <a:ea typeface="Open Sauce" pitchFamily="34" charset="-122"/>
                          <a:cs typeface="Open Sauce" pitchFamily="34" charset="-120"/>
                        </a:rPr>
                        <a:t>LOW</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algn="ctr" indent="0" marL="0">
                        <a:buNone/>
                      </a:pPr>
                      <a:r>
                        <a:rPr lang="en-US" sz="1400" b="1" dirty="0">
                          <a:solidFill>
                            <a:srgbClr val="E4E4E4"/>
                          </a:solidFill>
                          <a:latin typeface="Open Sauce" pitchFamily="34" charset="0"/>
                          <a:ea typeface="Open Sauce" pitchFamily="34" charset="-122"/>
                          <a:cs typeface="Open Sauce" pitchFamily="34" charset="-120"/>
                        </a:rPr>
                        <a:t>LOW</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FF9A4D"/>
                          </a:solidFill>
                          <a:latin typeface="Open Sauce" pitchFamily="34" charset="0"/>
                          <a:ea typeface="Open Sauce" pitchFamily="34" charset="-122"/>
                          <a:cs typeface="Open Sauce" pitchFamily="34" charset="-120"/>
                        </a:rPr>
                        <a:t>ALLOW, normal flow</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bl>
          </a:graphicData>
        </a:graphic>
      </p:graphicFrame>
      <p:sp>
        <p:nvSpPr>
          <p:cNvPr id="9" name="Shape 5"/>
          <p:cNvSpPr/>
          <p:nvPr/>
        </p:nvSpPr>
        <p:spPr>
          <a:xfrm>
            <a:off x="1097280" y="6675120"/>
            <a:ext cx="6766560" cy="1005840"/>
          </a:xfrm>
          <a:prstGeom prst="roundRect">
            <a:avLst>
              <a:gd name="adj" fmla="val 20000"/>
            </a:avLst>
          </a:prstGeom>
          <a:solidFill>
            <a:srgbClr val="1E1E1E"/>
          </a:solidFill>
          <a:ln w="12700">
            <a:solidFill>
              <a:srgbClr val="1E1E1E"/>
            </a:solidFill>
            <a:prstDash val="solid"/>
          </a:ln>
        </p:spPr>
      </p:sp>
      <p:sp>
        <p:nvSpPr>
          <p:cNvPr id="10" name="Text 6"/>
          <p:cNvSpPr txBox="1"/>
          <p:nvPr/>
        </p:nvSpPr>
        <p:spPr>
          <a:xfrm>
            <a:off x="1371600" y="6766560"/>
            <a:ext cx="6217920" cy="822960"/>
          </a:xfrm>
          <a:prstGeom prst="rect">
            <a:avLst/>
          </a:prstGeom>
          <a:noFill/>
          <a:ln/>
        </p:spPr>
        <p:txBody>
          <a:bodyPr wrap="square" lIns="0" tIns="0" rIns="0" bIns="0" rtlCol="0" anchor="ctr"/>
          <a:lstStyle/>
          <a:p>
            <a:pPr indent="0" marL="0">
              <a:buNone/>
            </a:pPr>
            <a:r>
              <a:rPr lang="en-US" sz="1600" dirty="0">
                <a:solidFill>
                  <a:srgbClr val="E4E4E4"/>
                </a:solidFill>
                <a:latin typeface="Open Sauce" pitchFamily="34" charset="0"/>
                <a:ea typeface="Open Sauce" pitchFamily="34" charset="-122"/>
                <a:cs typeface="Open Sauce" pitchFamily="34" charset="-120"/>
              </a:rPr>
              <a:t>Orthogonal scoring means a surge can raise Vector A without ever triggering a lockout; only Vector B drives a freeze.</a:t>
            </a:r>
            <a:endParaRPr lang="en-US" sz="1600" dirty="0"/>
          </a:p>
        </p:txBody>
      </p:sp>
      <p:sp>
        <p:nvSpPr>
          <p:cNvPr id="11" name="Shape 7"/>
          <p:cNvSpPr/>
          <p:nvPr/>
        </p:nvSpPr>
        <p:spPr>
          <a:xfrm>
            <a:off x="8092440" y="3520440"/>
            <a:ext cx="4434840" cy="4160520"/>
          </a:xfrm>
          <a:prstGeom prst="roundRect">
            <a:avLst>
              <a:gd name="adj" fmla="val 4835"/>
            </a:avLst>
          </a:prstGeom>
          <a:solidFill>
            <a:srgbClr val="1E1E1E"/>
          </a:solidFill>
          <a:ln w="12700">
            <a:solidFill>
              <a:srgbClr val="1E1E1E"/>
            </a:solidFill>
            <a:prstDash val="solid"/>
          </a:ln>
        </p:spPr>
      </p:sp>
      <p:sp>
        <p:nvSpPr>
          <p:cNvPr id="12" name="Text 8"/>
          <p:cNvSpPr txBox="1"/>
          <p:nvPr/>
        </p:nvSpPr>
        <p:spPr>
          <a:xfrm>
            <a:off x="8366760" y="3657600"/>
            <a:ext cx="388620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VECTOR A</a:t>
            </a:r>
            <a:endParaRPr lang="en-US" sz="1500" dirty="0"/>
          </a:p>
        </p:txBody>
      </p:sp>
      <p:sp>
        <p:nvSpPr>
          <p:cNvPr id="13" name="Text 9"/>
          <p:cNvSpPr txBox="1"/>
          <p:nvPr/>
        </p:nvSpPr>
        <p:spPr>
          <a:xfrm>
            <a:off x="8366760" y="3977640"/>
            <a:ext cx="3886200" cy="731520"/>
          </a:xfrm>
          <a:prstGeom prst="rect">
            <a:avLst/>
          </a:prstGeom>
          <a:noFill/>
          <a:ln/>
        </p:spPr>
        <p:txBody>
          <a:bodyPr wrap="square" lIns="0" tIns="0" rIns="0" bIns="0" rtlCol="0" anchor="t"/>
          <a:lstStyle/>
          <a:p>
            <a:pPr indent="0" marL="0">
              <a:buNone/>
            </a:pPr>
            <a:r>
              <a:rPr lang="en-US" sz="2300" b="1" dirty="0">
                <a:solidFill>
                  <a:srgbClr val="E4E4E4"/>
                </a:solidFill>
                <a:latin typeface="Open Sauce Bold" pitchFamily="34" charset="0"/>
                <a:ea typeface="Open Sauce Bold" pitchFamily="34" charset="-122"/>
                <a:cs typeface="Open Sauce Bold" pitchFamily="34" charset="-120"/>
              </a:rPr>
              <a:t>Operational Pressure Score</a:t>
            </a:r>
            <a:endParaRPr lang="en-US" sz="2300" dirty="0"/>
          </a:p>
        </p:txBody>
      </p:sp>
      <p:sp>
        <p:nvSpPr>
          <p:cNvPr id="14" name="Text 10"/>
          <p:cNvSpPr txBox="1"/>
          <p:nvPr/>
        </p:nvSpPr>
        <p:spPr>
          <a:xfrm>
            <a:off x="8366760" y="4754880"/>
            <a:ext cx="3886200" cy="594360"/>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Explains legitimate demand. Never blocks on its own.</a:t>
            </a:r>
            <a:endParaRPr lang="en-US" sz="1600" dirty="0"/>
          </a:p>
        </p:txBody>
      </p:sp>
      <p:sp>
        <p:nvSpPr>
          <p:cNvPr id="15" name="Text 11"/>
          <p:cNvSpPr txBox="1"/>
          <p:nvPr/>
        </p:nvSpPr>
        <p:spPr>
          <a:xfrm>
            <a:off x="8366760" y="5440680"/>
            <a:ext cx="3886200" cy="1463040"/>
          </a:xfrm>
          <a:prstGeom prst="rect">
            <a:avLst/>
          </a:prstGeom>
          <a:noFill/>
          <a:ln/>
        </p:spPr>
        <p:txBody>
          <a:bodyPr wrap="square" lIns="0" tIns="0" rIns="0" bIns="0" rtlCol="0" anchor="t"/>
          <a:lstStyle/>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Eid and festival cash-out surges</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Payroll and salary-day float demand</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Volume against the corridor's seasonal baseline</a:t>
            </a:r>
            <a:endParaRPr lang="en-US" sz="1600" dirty="0"/>
          </a:p>
        </p:txBody>
      </p:sp>
      <p:sp>
        <p:nvSpPr>
          <p:cNvPr id="16" name="Text 12"/>
          <p:cNvSpPr txBox="1"/>
          <p:nvPr/>
        </p:nvSpPr>
        <p:spPr>
          <a:xfrm>
            <a:off x="8366760" y="7040880"/>
            <a:ext cx="3886200" cy="457200"/>
          </a:xfrm>
          <a:prstGeom prst="rect">
            <a:avLst/>
          </a:prstGeom>
          <a:noFill/>
          <a:ln/>
        </p:spPr>
        <p:txBody>
          <a:bodyPr wrap="square" lIns="0" tIns="0" rIns="0" bIns="0" rtlCol="0" anchor="t"/>
          <a:lstStyle/>
          <a:p>
            <a:pPr indent="0" marL="0">
              <a:buNone/>
            </a:pPr>
            <a:r>
              <a:rPr lang="en-US" sz="1600" b="1" dirty="0">
                <a:solidFill>
                  <a:srgbClr val="FF9A4D"/>
                </a:solidFill>
                <a:latin typeface="Open Sauce" pitchFamily="34" charset="0"/>
                <a:ea typeface="Open Sauce" pitchFamily="34" charset="-122"/>
                <a:cs typeface="Open Sauce" pitchFamily="34" charset="-120"/>
              </a:rPr>
              <a:t>Response: support float, allow</a:t>
            </a:r>
            <a:endParaRPr lang="en-US" sz="1600" dirty="0"/>
          </a:p>
        </p:txBody>
      </p:sp>
      <p:sp>
        <p:nvSpPr>
          <p:cNvPr id="17" name="Shape 13"/>
          <p:cNvSpPr/>
          <p:nvPr/>
        </p:nvSpPr>
        <p:spPr>
          <a:xfrm>
            <a:off x="12755880" y="3520440"/>
            <a:ext cx="4434840" cy="4160520"/>
          </a:xfrm>
          <a:prstGeom prst="roundRect">
            <a:avLst>
              <a:gd name="adj" fmla="val 4835"/>
            </a:avLst>
          </a:prstGeom>
          <a:solidFill>
            <a:srgbClr val="1E1E1E"/>
          </a:solidFill>
          <a:ln w="12700">
            <a:solidFill>
              <a:srgbClr val="1E1E1E"/>
            </a:solidFill>
            <a:prstDash val="solid"/>
          </a:ln>
        </p:spPr>
      </p:sp>
      <p:sp>
        <p:nvSpPr>
          <p:cNvPr id="18" name="Text 14"/>
          <p:cNvSpPr txBox="1"/>
          <p:nvPr/>
        </p:nvSpPr>
        <p:spPr>
          <a:xfrm>
            <a:off x="13030200" y="3657600"/>
            <a:ext cx="388620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VECTOR B</a:t>
            </a:r>
            <a:endParaRPr lang="en-US" sz="1500" dirty="0"/>
          </a:p>
        </p:txBody>
      </p:sp>
      <p:sp>
        <p:nvSpPr>
          <p:cNvPr id="19" name="Text 15"/>
          <p:cNvSpPr txBox="1"/>
          <p:nvPr/>
        </p:nvSpPr>
        <p:spPr>
          <a:xfrm>
            <a:off x="13030200" y="3977640"/>
            <a:ext cx="3886200" cy="731520"/>
          </a:xfrm>
          <a:prstGeom prst="rect">
            <a:avLst/>
          </a:prstGeom>
          <a:noFill/>
          <a:ln/>
        </p:spPr>
        <p:txBody>
          <a:bodyPr wrap="square" lIns="0" tIns="0" rIns="0" bIns="0" rtlCol="0" anchor="t"/>
          <a:lstStyle/>
          <a:p>
            <a:pPr indent="0" marL="0">
              <a:buNone/>
            </a:pPr>
            <a:r>
              <a:rPr lang="en-US" sz="2300" b="1" dirty="0">
                <a:solidFill>
                  <a:srgbClr val="E4E4E4"/>
                </a:solidFill>
                <a:latin typeface="Open Sauce Bold" pitchFamily="34" charset="0"/>
                <a:ea typeface="Open Sauce Bold" pitchFamily="34" charset="-122"/>
                <a:cs typeface="Open Sauce Bold" pitchFamily="34" charset="-120"/>
              </a:rPr>
              <a:t>Fraud Complicity Score</a:t>
            </a:r>
            <a:endParaRPr lang="en-US" sz="2300" dirty="0"/>
          </a:p>
        </p:txBody>
      </p:sp>
      <p:sp>
        <p:nvSpPr>
          <p:cNvPr id="20" name="Text 16"/>
          <p:cNvSpPr txBox="1"/>
          <p:nvPr/>
        </p:nvSpPr>
        <p:spPr>
          <a:xfrm>
            <a:off x="13030200" y="4754880"/>
            <a:ext cx="3886200" cy="594360"/>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Detects behavior that real agents do not show.</a:t>
            </a:r>
            <a:endParaRPr lang="en-US" sz="1600" dirty="0"/>
          </a:p>
        </p:txBody>
      </p:sp>
      <p:sp>
        <p:nvSpPr>
          <p:cNvPr id="21" name="Text 17"/>
          <p:cNvSpPr txBox="1"/>
          <p:nvPr/>
        </p:nvSpPr>
        <p:spPr>
          <a:xfrm>
            <a:off x="13030200" y="5440680"/>
            <a:ext cx="3886200" cy="1463040"/>
          </a:xfrm>
          <a:prstGeom prst="rect">
            <a:avLst/>
          </a:prstGeom>
          <a:noFill/>
          <a:ln/>
        </p:spPr>
        <p:txBody>
          <a:bodyPr wrap="square" lIns="0" tIns="0" rIns="0" bIns="0" rtlCol="0" anchor="t"/>
          <a:lstStyle/>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Cash-outs around 2:00 AM</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Burner SIM pairing and IMEI collisions</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Rapid pass-through to linked wallets</a:t>
            </a:r>
            <a:endParaRPr lang="en-US" sz="1600" dirty="0"/>
          </a:p>
        </p:txBody>
      </p:sp>
      <p:sp>
        <p:nvSpPr>
          <p:cNvPr id="22" name="Text 18"/>
          <p:cNvSpPr txBox="1"/>
          <p:nvPr/>
        </p:nvSpPr>
        <p:spPr>
          <a:xfrm>
            <a:off x="13030200" y="7040880"/>
            <a:ext cx="3886200" cy="457200"/>
          </a:xfrm>
          <a:prstGeom prst="rect">
            <a:avLst/>
          </a:prstGeom>
          <a:noFill/>
          <a:ln/>
        </p:spPr>
        <p:txBody>
          <a:bodyPr wrap="square" lIns="0" tIns="0" rIns="0" bIns="0" rtlCol="0" anchor="t"/>
          <a:lstStyle/>
          <a:p>
            <a:pPr indent="0" marL="0">
              <a:buNone/>
            </a:pPr>
            <a:r>
              <a:rPr lang="en-US" sz="1600" b="1" dirty="0">
                <a:solidFill>
                  <a:srgbClr val="FF9A4D"/>
                </a:solidFill>
                <a:latin typeface="Open Sauce" pitchFamily="34" charset="0"/>
                <a:ea typeface="Open Sauce" pitchFamily="34" charset="-122"/>
                <a:cs typeface="Open Sauce" pitchFamily="34" charset="-120"/>
              </a:rPr>
              <a:t>Response: hold, review, freeze</a:t>
            </a:r>
            <a:endParaRPr lang="en-US" sz="1600" dirty="0"/>
          </a:p>
        </p:txBody>
      </p:sp>
      <p:sp>
        <p:nvSpPr>
          <p:cNvPr id="23" name="Shape 19"/>
          <p:cNvSpPr/>
          <p:nvPr/>
        </p:nvSpPr>
        <p:spPr>
          <a:xfrm>
            <a:off x="1097280" y="7818120"/>
            <a:ext cx="3851910" cy="1005840"/>
          </a:xfrm>
          <a:prstGeom prst="roundRect">
            <a:avLst>
              <a:gd name="adj" fmla="val 20000"/>
            </a:avLst>
          </a:prstGeom>
          <a:solidFill>
            <a:srgbClr val="1E1E1E"/>
          </a:solidFill>
          <a:ln w="12700">
            <a:solidFill>
              <a:srgbClr val="1E1E1E"/>
            </a:solidFill>
            <a:prstDash val="solid"/>
          </a:ln>
        </p:spPr>
      </p:sp>
      <p:sp>
        <p:nvSpPr>
          <p:cNvPr id="24" name="Text 20"/>
          <p:cNvSpPr txBox="1"/>
          <p:nvPr/>
        </p:nvSpPr>
        <p:spPr>
          <a:xfrm>
            <a:off x="137160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94%</a:t>
            </a:r>
            <a:endParaRPr lang="en-US" sz="3500" dirty="0"/>
          </a:p>
        </p:txBody>
      </p:sp>
      <p:sp>
        <p:nvSpPr>
          <p:cNvPr id="25" name="Text 21"/>
          <p:cNvSpPr txBox="1"/>
          <p:nvPr/>
        </p:nvSpPr>
        <p:spPr>
          <a:xfrm>
            <a:off x="137160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Fewer false agent lockouts</a:t>
            </a:r>
            <a:endParaRPr lang="en-US" sz="1400" dirty="0"/>
          </a:p>
        </p:txBody>
      </p:sp>
      <p:sp>
        <p:nvSpPr>
          <p:cNvPr id="26" name="Shape 22"/>
          <p:cNvSpPr/>
          <p:nvPr/>
        </p:nvSpPr>
        <p:spPr>
          <a:xfrm>
            <a:off x="5177790" y="7818120"/>
            <a:ext cx="3851910" cy="1005840"/>
          </a:xfrm>
          <a:prstGeom prst="roundRect">
            <a:avLst>
              <a:gd name="adj" fmla="val 20000"/>
            </a:avLst>
          </a:prstGeom>
          <a:solidFill>
            <a:srgbClr val="1E1E1E"/>
          </a:solidFill>
          <a:ln w="12700">
            <a:solidFill>
              <a:srgbClr val="1E1E1E"/>
            </a:solidFill>
            <a:prstDash val="solid"/>
          </a:ln>
        </p:spPr>
      </p:sp>
      <p:sp>
        <p:nvSpPr>
          <p:cNvPr id="27" name="Text 23"/>
          <p:cNvSpPr txBox="1"/>
          <p:nvPr/>
        </p:nvSpPr>
        <p:spPr>
          <a:xfrm>
            <a:off x="545211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17%</a:t>
            </a:r>
            <a:endParaRPr lang="en-US" sz="3500" dirty="0"/>
          </a:p>
        </p:txBody>
      </p:sp>
      <p:sp>
        <p:nvSpPr>
          <p:cNvPr id="28" name="Text 24"/>
          <p:cNvSpPr txBox="1"/>
          <p:nvPr/>
        </p:nvSpPr>
        <p:spPr>
          <a:xfrm>
            <a:off x="545211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Of agents victimized (TIB)</a:t>
            </a:r>
            <a:endParaRPr lang="en-US" sz="1400" dirty="0"/>
          </a:p>
        </p:txBody>
      </p:sp>
      <p:sp>
        <p:nvSpPr>
          <p:cNvPr id="29" name="Shape 25"/>
          <p:cNvSpPr/>
          <p:nvPr/>
        </p:nvSpPr>
        <p:spPr>
          <a:xfrm>
            <a:off x="9258300" y="7818120"/>
            <a:ext cx="3851910" cy="1005840"/>
          </a:xfrm>
          <a:prstGeom prst="roundRect">
            <a:avLst>
              <a:gd name="adj" fmla="val 20000"/>
            </a:avLst>
          </a:prstGeom>
          <a:solidFill>
            <a:srgbClr val="1E1E1E"/>
          </a:solidFill>
          <a:ln w="12700">
            <a:solidFill>
              <a:srgbClr val="1E1E1E"/>
            </a:solidFill>
            <a:prstDash val="solid"/>
          </a:ln>
        </p:spPr>
      </p:sp>
      <p:sp>
        <p:nvSpPr>
          <p:cNvPr id="30" name="Text 26"/>
          <p:cNvSpPr txBox="1"/>
          <p:nvPr/>
        </p:nvSpPr>
        <p:spPr>
          <a:xfrm>
            <a:off x="953262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2:00 AM</a:t>
            </a:r>
            <a:endParaRPr lang="en-US" sz="3500" dirty="0"/>
          </a:p>
        </p:txBody>
      </p:sp>
      <p:sp>
        <p:nvSpPr>
          <p:cNvPr id="31" name="Text 27"/>
          <p:cNvSpPr txBox="1"/>
          <p:nvPr/>
        </p:nvSpPr>
        <p:spPr>
          <a:xfrm>
            <a:off x="953262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Classic complicity cash-out signal</a:t>
            </a:r>
            <a:endParaRPr lang="en-US" sz="1400" dirty="0"/>
          </a:p>
        </p:txBody>
      </p:sp>
      <p:sp>
        <p:nvSpPr>
          <p:cNvPr id="32" name="Shape 28"/>
          <p:cNvSpPr/>
          <p:nvPr/>
        </p:nvSpPr>
        <p:spPr>
          <a:xfrm>
            <a:off x="13338810" y="7818120"/>
            <a:ext cx="3851910" cy="1005840"/>
          </a:xfrm>
          <a:prstGeom prst="roundRect">
            <a:avLst>
              <a:gd name="adj" fmla="val 20000"/>
            </a:avLst>
          </a:prstGeom>
          <a:solidFill>
            <a:srgbClr val="1E1E1E"/>
          </a:solidFill>
          <a:ln w="12700">
            <a:solidFill>
              <a:srgbClr val="1E1E1E"/>
            </a:solidFill>
            <a:prstDash val="solid"/>
          </a:ln>
        </p:spPr>
      </p:sp>
      <p:sp>
        <p:nvSpPr>
          <p:cNvPr id="33" name="Text 29"/>
          <p:cNvSpPr txBox="1"/>
          <p:nvPr/>
        </p:nvSpPr>
        <p:spPr>
          <a:xfrm>
            <a:off x="1361313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2</a:t>
            </a:r>
            <a:endParaRPr lang="en-US" sz="3500" dirty="0"/>
          </a:p>
        </p:txBody>
      </p:sp>
      <p:sp>
        <p:nvSpPr>
          <p:cNvPr id="34" name="Text 30"/>
          <p:cNvSpPr txBox="1"/>
          <p:nvPr/>
        </p:nvSpPr>
        <p:spPr>
          <a:xfrm>
            <a:off x="1361313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Orthogonal scores, not one cap</a:t>
            </a:r>
            <a:endParaRPr lang="en-US" sz="1400" dirty="0"/>
          </a:p>
        </p:txBody>
      </p:sp>
      <p:sp>
        <p:nvSpPr>
          <p:cNvPr id="25" name="Slide Number Placeholder 0"/>
          <p:cNvSpPr>
            <a:spLocks noGrp="1"/>
          </p:cNvSpPr>
          <p:nvPr>
            <p:ph type="sldNum" sz="quarter" idx="4294967295"/>
          </p:nvPr>
        </p:nvSpPr>
        <p:spPr>
          <a:xfrm>
            <a:off x="15361920" y="9418320"/>
            <a:ext cx="1828800" cy="320040"/>
          </a:xfrm>
          <a:prstGeom prst="rect">
            <a:avLst/>
          </a:prstGeom>
          <a:extLst>
            <a:ext uri="{C572A759-6A51-4108-AA02-DFA0A04FC94B}">
              <ma14:wrappingTextBoxFlag xmlns:ma14="http://schemas.microsoft.com/office/mac/drawingml/2011/main" val="0"/>
            </a:ext>
          </a:extLst>
        </p:spPr>
        <p:txBody>
          <a:bodyPr/>
          <a:lstStyle>
            <a:lvl1pPr>
              <a:defRPr sz="1600">
                <a:solidFill>
                  <a:srgbClr val="A8A8A8"/>
                </a:solidFill>
                <a:latin typeface="Open Sauce"/>
                <a:ea typeface="Open Sauce"/>
                <a:cs typeface="Open Sauce"/>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12271248" y="457200"/>
            <a:ext cx="4919472" cy="457200"/>
          </a:xfrm>
          <a:prstGeom prst="roundRect">
            <a:avLst>
              <a:gd name="adj" fmla="val 50000"/>
            </a:avLst>
          </a:prstGeom>
          <a:solidFill>
            <a:srgbClr val="FFFFFF"/>
          </a:solidFill>
          <a:ln w="12700">
            <a:solidFill>
              <a:srgbClr val="FFFFFF"/>
            </a:solidFill>
            <a:prstDash val="solid"/>
          </a:ln>
        </p:spPr>
      </p:sp>
      <p:sp>
        <p:nvSpPr>
          <p:cNvPr id="3" name="Text 1"/>
          <p:cNvSpPr txBox="1"/>
          <p:nvPr/>
        </p:nvSpPr>
        <p:spPr>
          <a:xfrm>
            <a:off x="12271248" y="457200"/>
            <a:ext cx="4919472" cy="457200"/>
          </a:xfrm>
          <a:prstGeom prst="rect">
            <a:avLst/>
          </a:prstGeom>
          <a:noFill/>
          <a:ln/>
        </p:spPr>
        <p:txBody>
          <a:bodyPr wrap="square" lIns="0" tIns="0" rIns="0" bIns="0" rtlCol="0" anchor="ctr"/>
          <a:lstStyle/>
          <a:p>
            <a:pPr algn="ctr" indent="0" marL="0">
              <a:buNone/>
            </a:pPr>
            <a:r>
              <a:rPr lang="en-US" sz="1700" dirty="0">
                <a:solidFill>
                  <a:srgbClr val="000000"/>
                </a:solidFill>
                <a:latin typeface="Open Sauce" pitchFamily="34" charset="0"/>
                <a:ea typeface="Open Sauce" pitchFamily="34" charset="-122"/>
                <a:cs typeface="Open Sauce" pitchFamily="34" charset="-120"/>
              </a:rPr>
              <a:t>09 · PILLAR IV · GOLDEN HOUR</a:t>
            </a:r>
            <a:endParaRPr lang="en-US" sz="1700" dirty="0"/>
          </a:p>
        </p:txBody>
      </p:sp>
      <p:sp>
        <p:nvSpPr>
          <p:cNvPr id="4" name="Title"/>
          <p:cNvSpPr txBox="1"/>
          <p:nvPr/>
        </p:nvSpPr>
        <p:spPr>
          <a:xfrm>
            <a:off x="1097280" y="1188720"/>
            <a:ext cx="16093440" cy="1005840"/>
          </a:xfrm>
          <a:prstGeom prst="rect">
            <a:avLst/>
          </a:prstGeom>
          <a:noFill/>
          <a:ln/>
        </p:spPr>
        <p:txBody>
          <a:bodyPr wrap="square" lIns="0" tIns="0" rIns="0" bIns="0" rtlCol="0" anchor="t"/>
          <a:lstStyle/>
          <a:p>
            <a:pPr indent="0" marL="0">
              <a:buNone/>
            </a:pPr>
            <a:r>
              <a:rPr lang="en-US" sz="3800" b="1" dirty="0">
                <a:solidFill>
                  <a:srgbClr val="E4E4E4"/>
                </a:solidFill>
                <a:latin typeface="Open Sauce Bold" pitchFamily="34" charset="0"/>
                <a:ea typeface="Open Sauce Bold" pitchFamily="34" charset="-122"/>
                <a:cs typeface="Open Sauce Bold" pitchFamily="34" charset="-120"/>
              </a:rPr>
              <a:t>Recovery odds decay exponentially, so freeze by the clock</a:t>
            </a:r>
            <a:endParaRPr lang="en-US" sz="3800" dirty="0"/>
          </a:p>
        </p:txBody>
      </p:sp>
      <p:sp>
        <p:nvSpPr>
          <p:cNvPr id="5" name="Subtitle"/>
          <p:cNvSpPr txBox="1"/>
          <p:nvPr/>
        </p:nvSpPr>
        <p:spPr>
          <a:xfrm>
            <a:off x="1097280" y="2286000"/>
            <a:ext cx="16093440" cy="868680"/>
          </a:xfrm>
          <a:prstGeom prst="rect">
            <a:avLst/>
          </a:prstGeom>
          <a:noFill/>
          <a:ln/>
        </p:spPr>
        <p:txBody>
          <a:bodyPr wrap="square" lIns="0" tIns="0" rIns="0" bIns="0" rtlCol="0" anchor="t"/>
          <a:lstStyle/>
          <a:p>
            <a:pPr indent="0" marL="0">
              <a:buNone/>
            </a:pPr>
            <a:r>
              <a:rPr lang="en-US" sz="2100" dirty="0">
                <a:solidFill>
                  <a:srgbClr val="A8A8A8"/>
                </a:solidFill>
                <a:latin typeface="Open Sauce" pitchFamily="34" charset="0"/>
                <a:ea typeface="Open Sauce" pitchFamily="34" charset="-122"/>
                <a:cs typeface="Open Sauce" pitchFamily="34" charset="-120"/>
              </a:rPr>
              <a:t>The time-decay model T_decay = e^(−λt) ranks which hop to freeze first and how fast.</a:t>
            </a:r>
            <a:endParaRPr lang="en-US" sz="2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097280" y="3520440"/>
          <a:ext cx="9326880" cy="914400"/>
        </p:xfrm>
        <a:graphic>
          <a:graphicData uri="http://schemas.openxmlformats.org/drawingml/2006/table">
            <a:tbl>
              <a:tblPr/>
              <a:tblGrid>
                <a:gridCol w="1554480"/>
                <a:gridCol w="1645920"/>
                <a:gridCol w="1463040"/>
                <a:gridCol w="4663440"/>
              </a:tblGrid>
              <a:tr h="411480">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WINDOW</a:t>
                      </a:r>
                      <a:endParaRPr lang="en-US" sz="1400" dirty="0">
                        <a:latin typeface="Open Sauce Bold" charset="0"/>
                        <a:ea typeface="Open Sauce Bold" charset="0"/>
                        <a:cs typeface="Open Sauce Bold"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E1E1E"/>
                    </a:solidFill>
                  </a:tcPr>
                </a:tc>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HOP</a:t>
                      </a:r>
                      <a:endParaRPr lang="en-US" sz="1400" dirty="0">
                        <a:latin typeface="Open Sauce Bold" charset="0"/>
                        <a:ea typeface="Open Sauce Bold" charset="0"/>
                        <a:cs typeface="Open Sauce Bold"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E1E1E"/>
                    </a:solidFill>
                  </a:tcPr>
                </a:tc>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RECOVERY</a:t>
                      </a:r>
                      <a:endParaRPr lang="en-US" sz="1400" dirty="0">
                        <a:latin typeface="Open Sauce Bold" charset="0"/>
                        <a:ea typeface="Open Sauce Bold" charset="0"/>
                        <a:cs typeface="Open Sauce Bold"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E1E1E"/>
                    </a:solidFill>
                  </a:tcPr>
                </a:tc>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AUTOMATED ACTION</a:t>
                      </a:r>
                      <a:endParaRPr lang="en-US" sz="1400" dirty="0">
                        <a:latin typeface="Open Sauce Bold" charset="0"/>
                        <a:ea typeface="Open Sauce Bold" charset="0"/>
                        <a:cs typeface="Open Sauce Bold"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E1E1E"/>
                    </a:solidFill>
                  </a:tcPr>
                </a:tc>
              </a:tr>
              <a:tr h="777240">
                <a:tc>
                  <a:txBody>
                    <a:bodyPr/>
                    <a:lstStyle/>
                    <a:p>
                      <a:pPr indent="0" marL="0">
                        <a:buNone/>
                      </a:pPr>
                      <a:r>
                        <a:rPr lang="en-US" sz="1400" b="1" dirty="0">
                          <a:solidFill>
                            <a:srgbClr val="E4E4E4"/>
                          </a:solidFill>
                          <a:latin typeface="Open Sauce" pitchFamily="34" charset="0"/>
                          <a:ea typeface="Open Sauce" pitchFamily="34" charset="-122"/>
                          <a:cs typeface="Open Sauce" pitchFamily="34" charset="-120"/>
                        </a:rPr>
                        <a:t>0–5 min</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Hop 1</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92%</a:t>
                      </a:r>
                      <a:endParaRPr lang="en-US" sz="1400" dirty="0">
                        <a:latin typeface="Open Sauce Bold" charset="0"/>
                        <a:ea typeface="Open Sauce Bold" charset="0"/>
                        <a:cs typeface="Open Sauce Bold"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Freeze first receiving wallet via escrow hold</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r h="777240">
                <a:tc>
                  <a:txBody>
                    <a:bodyPr/>
                    <a:lstStyle/>
                    <a:p>
                      <a:pPr indent="0" marL="0">
                        <a:buNone/>
                      </a:pPr>
                      <a:r>
                        <a:rPr lang="en-US" sz="1400" b="1" dirty="0">
                          <a:solidFill>
                            <a:srgbClr val="E4E4E4"/>
                          </a:solidFill>
                          <a:latin typeface="Open Sauce" pitchFamily="34" charset="0"/>
                          <a:ea typeface="Open Sauce" pitchFamily="34" charset="-122"/>
                          <a:cs typeface="Open Sauce" pitchFamily="34" charset="-120"/>
                        </a:rPr>
                        <a:t>5–15 min</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Hop 2</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74%</a:t>
                      </a:r>
                      <a:endParaRPr lang="en-US" sz="1400" dirty="0">
                        <a:latin typeface="Open Sauce Bold" charset="0"/>
                        <a:ea typeface="Open Sauce Bold" charset="0"/>
                        <a:cs typeface="Open Sauce Bold"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Downstream freeze requests to receiving wallets</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r h="777240">
                <a:tc>
                  <a:txBody>
                    <a:bodyPr/>
                    <a:lstStyle/>
                    <a:p>
                      <a:pPr indent="0" marL="0">
                        <a:buNone/>
                      </a:pPr>
                      <a:r>
                        <a:rPr lang="en-US" sz="1400" b="1" dirty="0">
                          <a:solidFill>
                            <a:srgbClr val="E4E4E4"/>
                          </a:solidFill>
                          <a:latin typeface="Open Sauce" pitchFamily="34" charset="0"/>
                          <a:ea typeface="Open Sauce" pitchFamily="34" charset="-122"/>
                          <a:cs typeface="Open Sauce" pitchFamily="34" charset="-120"/>
                        </a:rPr>
                        <a:t>15–60 min</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Hop 3+</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38%</a:t>
                      </a:r>
                      <a:endParaRPr lang="en-US" sz="1400" dirty="0">
                        <a:latin typeface="Open Sauce Bold" charset="0"/>
                        <a:ea typeface="Open Sauce Bold" charset="0"/>
                        <a:cs typeface="Open Sauce Bold"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Optimizer ranks remaining hops by decay and value</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r h="777240">
                <a:tc>
                  <a:txBody>
                    <a:bodyPr/>
                    <a:lstStyle/>
                    <a:p>
                      <a:pPr indent="0" marL="0">
                        <a:buNone/>
                      </a:pPr>
                      <a:r>
                        <a:rPr lang="en-US" sz="1400" b="1" dirty="0">
                          <a:solidFill>
                            <a:srgbClr val="E4E4E4"/>
                          </a:solidFill>
                          <a:latin typeface="Open Sauce" pitchFamily="34" charset="0"/>
                          <a:ea typeface="Open Sauce" pitchFamily="34" charset="-122"/>
                          <a:cs typeface="Open Sauce" pitchFamily="34" charset="-120"/>
                        </a:rPr>
                        <a:t>60 min +</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Post cash-out</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&lt;10.7%</a:t>
                      </a:r>
                      <a:endParaRPr lang="en-US" sz="1400" dirty="0">
                        <a:latin typeface="Open Sauce Bold" charset="0"/>
                        <a:ea typeface="Open Sauce Bold" charset="0"/>
                        <a:cs typeface="Open Sauce Bold"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Limited recovery; evidence pack to BFIU and STR draft</a:t>
                      </a:r>
                      <a:endParaRPr lang="en-US" sz="1400" dirty="0">
                        <a:latin typeface="Open Sauce" charset="0"/>
                        <a:ea typeface="Open Sauce" charset="0"/>
                        <a:cs typeface="Open Sauce" charset="0"/>
                      </a:endParaRPr>
                    </a:p>
                  </a:txBody>
                  <a:tcPr marL="137160" marR="137160" marT="73152" marB="7315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bl>
          </a:graphicData>
        </a:graphic>
      </p:graphicFrame>
      <p:sp>
        <p:nvSpPr>
          <p:cNvPr id="8" name="Text 4"/>
          <p:cNvSpPr txBox="1"/>
          <p:nvPr/>
        </p:nvSpPr>
        <p:spPr>
          <a:xfrm>
            <a:off x="1097280" y="7315200"/>
            <a:ext cx="9326880" cy="365760"/>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T_decay = e^(−λt)   λ ≈ 0.0167 min⁻¹ (illustrative fit to the band endpoints)</a:t>
            </a:r>
            <a:endParaRPr lang="en-US" sz="1600" dirty="0"/>
          </a:p>
        </p:txBody>
      </p:sp>
      <p:sp>
        <p:nvSpPr>
          <p:cNvPr id="9" name="Shape 5"/>
          <p:cNvSpPr/>
          <p:nvPr/>
        </p:nvSpPr>
        <p:spPr>
          <a:xfrm>
            <a:off x="10652760" y="3520440"/>
            <a:ext cx="6537960" cy="4160520"/>
          </a:xfrm>
          <a:prstGeom prst="roundRect">
            <a:avLst>
              <a:gd name="adj" fmla="val 4835"/>
            </a:avLst>
          </a:prstGeom>
          <a:solidFill>
            <a:srgbClr val="141414"/>
          </a:solidFill>
          <a:ln w="12700">
            <a:solidFill>
              <a:srgbClr val="141414"/>
            </a:solidFill>
            <a:prstDash val="solid"/>
          </a:ln>
        </p:spPr>
      </p:sp>
      <p:graphicFrame>
        <p:nvGraphicFramePr>
          <p:cNvPr id="10" name="Chart 0" descr=""/>
          <p:cNvGraphicFramePr/>
          <p:nvPr/>
        </p:nvGraphicFramePr>
        <p:xfrm>
          <a:off x="10789920" y="3611880"/>
          <a:ext cx="6263640" cy="3977640"/>
        </p:xfrm>
        <a:graphic xmlns:a="http://schemas.openxmlformats.org/drawingml/2006/main">
          <a:graphicData uri="http://schemas.openxmlformats.org/drawingml/2006/chart">
            <c:chart xmlns:c="http://schemas.openxmlformats.org/drawingml/2006/chart" r:id="rId1"/>
          </a:graphicData>
        </a:graphic>
      </p:graphicFrame>
      <p:sp>
        <p:nvSpPr>
          <p:cNvPr id="11" name="Shape 6"/>
          <p:cNvSpPr/>
          <p:nvPr/>
        </p:nvSpPr>
        <p:spPr>
          <a:xfrm>
            <a:off x="1097280" y="7818120"/>
            <a:ext cx="3851910" cy="1005840"/>
          </a:xfrm>
          <a:prstGeom prst="roundRect">
            <a:avLst>
              <a:gd name="adj" fmla="val 20000"/>
            </a:avLst>
          </a:prstGeom>
          <a:solidFill>
            <a:srgbClr val="1E1E1E"/>
          </a:solidFill>
          <a:ln w="12700">
            <a:solidFill>
              <a:srgbClr val="1E1E1E"/>
            </a:solidFill>
            <a:prstDash val="solid"/>
          </a:ln>
        </p:spPr>
      </p:sp>
      <p:sp>
        <p:nvSpPr>
          <p:cNvPr id="12" name="Text 7"/>
          <p:cNvSpPr txBox="1"/>
          <p:nvPr/>
        </p:nvSpPr>
        <p:spPr>
          <a:xfrm>
            <a:off x="137160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71.4%</a:t>
            </a:r>
            <a:endParaRPr lang="en-US" sz="3500" dirty="0"/>
          </a:p>
        </p:txBody>
      </p:sp>
      <p:sp>
        <p:nvSpPr>
          <p:cNvPr id="13" name="Text 8"/>
          <p:cNvSpPr txBox="1"/>
          <p:nvPr/>
        </p:nvSpPr>
        <p:spPr>
          <a:xfrm>
            <a:off x="137160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Simulated golden-hour recovery</a:t>
            </a:r>
            <a:endParaRPr lang="en-US" sz="1400" dirty="0"/>
          </a:p>
        </p:txBody>
      </p:sp>
      <p:sp>
        <p:nvSpPr>
          <p:cNvPr id="14" name="Shape 9"/>
          <p:cNvSpPr/>
          <p:nvPr/>
        </p:nvSpPr>
        <p:spPr>
          <a:xfrm>
            <a:off x="5177790" y="7818120"/>
            <a:ext cx="3851910" cy="1005840"/>
          </a:xfrm>
          <a:prstGeom prst="roundRect">
            <a:avLst>
              <a:gd name="adj" fmla="val 20000"/>
            </a:avLst>
          </a:prstGeom>
          <a:solidFill>
            <a:srgbClr val="1E1E1E"/>
          </a:solidFill>
          <a:ln w="12700">
            <a:solidFill>
              <a:srgbClr val="1E1E1E"/>
            </a:solidFill>
            <a:prstDash val="solid"/>
          </a:ln>
        </p:spPr>
      </p:sp>
      <p:sp>
        <p:nvSpPr>
          <p:cNvPr id="15" name="Text 10"/>
          <p:cNvSpPr txBox="1"/>
          <p:nvPr/>
        </p:nvSpPr>
        <p:spPr>
          <a:xfrm>
            <a:off x="545211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10.7%</a:t>
            </a:r>
            <a:endParaRPr lang="en-US" sz="3500" dirty="0"/>
          </a:p>
        </p:txBody>
      </p:sp>
      <p:sp>
        <p:nvSpPr>
          <p:cNvPr id="16" name="Text 11"/>
          <p:cNvSpPr txBox="1"/>
          <p:nvPr/>
        </p:nvSpPr>
        <p:spPr>
          <a:xfrm>
            <a:off x="545211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National recovery baseline</a:t>
            </a:r>
            <a:endParaRPr lang="en-US" sz="1400" dirty="0"/>
          </a:p>
        </p:txBody>
      </p:sp>
      <p:sp>
        <p:nvSpPr>
          <p:cNvPr id="17" name="Shape 12"/>
          <p:cNvSpPr/>
          <p:nvPr/>
        </p:nvSpPr>
        <p:spPr>
          <a:xfrm>
            <a:off x="9258300" y="7818120"/>
            <a:ext cx="3851910" cy="1005840"/>
          </a:xfrm>
          <a:prstGeom prst="roundRect">
            <a:avLst>
              <a:gd name="adj" fmla="val 20000"/>
            </a:avLst>
          </a:prstGeom>
          <a:solidFill>
            <a:srgbClr val="1E1E1E"/>
          </a:solidFill>
          <a:ln w="12700">
            <a:solidFill>
              <a:srgbClr val="1E1E1E"/>
            </a:solidFill>
            <a:prstDash val="solid"/>
          </a:ln>
        </p:spPr>
      </p:sp>
      <p:sp>
        <p:nvSpPr>
          <p:cNvPr id="18" name="Text 13"/>
          <p:cNvSpPr txBox="1"/>
          <p:nvPr/>
        </p:nvSpPr>
        <p:spPr>
          <a:xfrm>
            <a:off x="953262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6.6x</a:t>
            </a:r>
            <a:endParaRPr lang="en-US" sz="3500" dirty="0"/>
          </a:p>
        </p:txBody>
      </p:sp>
      <p:sp>
        <p:nvSpPr>
          <p:cNvPr id="19" name="Text 14"/>
          <p:cNvSpPr txBox="1"/>
          <p:nvPr/>
        </p:nvSpPr>
        <p:spPr>
          <a:xfrm>
            <a:off x="953262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Recovery multiplier</a:t>
            </a:r>
            <a:endParaRPr lang="en-US" sz="1400" dirty="0"/>
          </a:p>
        </p:txBody>
      </p:sp>
      <p:sp>
        <p:nvSpPr>
          <p:cNvPr id="20" name="Shape 15"/>
          <p:cNvSpPr/>
          <p:nvPr/>
        </p:nvSpPr>
        <p:spPr>
          <a:xfrm>
            <a:off x="13338810" y="7818120"/>
            <a:ext cx="3851910" cy="1005840"/>
          </a:xfrm>
          <a:prstGeom prst="roundRect">
            <a:avLst>
              <a:gd name="adj" fmla="val 20000"/>
            </a:avLst>
          </a:prstGeom>
          <a:solidFill>
            <a:srgbClr val="1E1E1E"/>
          </a:solidFill>
          <a:ln w="12700">
            <a:solidFill>
              <a:srgbClr val="1E1E1E"/>
            </a:solidFill>
            <a:prstDash val="solid"/>
          </a:ln>
        </p:spPr>
      </p:sp>
      <p:sp>
        <p:nvSpPr>
          <p:cNvPr id="21" name="Text 16"/>
          <p:cNvSpPr txBox="1"/>
          <p:nvPr/>
        </p:nvSpPr>
        <p:spPr>
          <a:xfrm>
            <a:off x="1361313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0–5 min</a:t>
            </a:r>
            <a:endParaRPr lang="en-US" sz="3500" dirty="0"/>
          </a:p>
        </p:txBody>
      </p:sp>
      <p:sp>
        <p:nvSpPr>
          <p:cNvPr id="22" name="Text 17"/>
          <p:cNvSpPr txBox="1"/>
          <p:nvPr/>
        </p:nvSpPr>
        <p:spPr>
          <a:xfrm>
            <a:off x="1361313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Best-odds window (92%)</a:t>
            </a:r>
            <a:endParaRPr lang="en-US" sz="1400" dirty="0"/>
          </a:p>
        </p:txBody>
      </p:sp>
      <p:sp>
        <p:nvSpPr>
          <p:cNvPr id="25" name="Slide Number Placeholder 0"/>
          <p:cNvSpPr>
            <a:spLocks noGrp="1"/>
          </p:cNvSpPr>
          <p:nvPr>
            <p:ph type="sldNum" sz="quarter" idx="4294967295"/>
          </p:nvPr>
        </p:nvSpPr>
        <p:spPr>
          <a:xfrm>
            <a:off x="15361920" y="9418320"/>
            <a:ext cx="1828800" cy="320040"/>
          </a:xfrm>
          <a:prstGeom prst="rect">
            <a:avLst/>
          </a:prstGeom>
          <a:extLst>
            <a:ext uri="{C572A759-6A51-4108-AA02-DFA0A04FC94B}">
              <ma14:wrappingTextBoxFlag xmlns:ma14="http://schemas.microsoft.com/office/mac/drawingml/2011/main" val="0"/>
            </a:ext>
          </a:extLst>
        </p:spPr>
        <p:txBody>
          <a:bodyPr/>
          <a:lstStyle>
            <a:lvl1pPr>
              <a:defRPr sz="1600">
                <a:solidFill>
                  <a:srgbClr val="A8A8A8"/>
                </a:solidFill>
                <a:latin typeface="Open Sauce"/>
                <a:ea typeface="Open Sauce"/>
                <a:cs typeface="Open Sauce"/>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11832336" y="457200"/>
            <a:ext cx="5358384" cy="457200"/>
          </a:xfrm>
          <a:prstGeom prst="roundRect">
            <a:avLst>
              <a:gd name="adj" fmla="val 50000"/>
            </a:avLst>
          </a:prstGeom>
          <a:solidFill>
            <a:srgbClr val="FFFFFF"/>
          </a:solidFill>
          <a:ln w="12700">
            <a:solidFill>
              <a:srgbClr val="FFFFFF"/>
            </a:solidFill>
            <a:prstDash val="solid"/>
          </a:ln>
        </p:spPr>
      </p:sp>
      <p:sp>
        <p:nvSpPr>
          <p:cNvPr id="3" name="Text 1"/>
          <p:cNvSpPr txBox="1"/>
          <p:nvPr/>
        </p:nvSpPr>
        <p:spPr>
          <a:xfrm>
            <a:off x="11832336" y="457200"/>
            <a:ext cx="5358384" cy="457200"/>
          </a:xfrm>
          <a:prstGeom prst="rect">
            <a:avLst/>
          </a:prstGeom>
          <a:noFill/>
          <a:ln/>
        </p:spPr>
        <p:txBody>
          <a:bodyPr wrap="square" lIns="0" tIns="0" rIns="0" bIns="0" rtlCol="0" anchor="ctr"/>
          <a:lstStyle/>
          <a:p>
            <a:pPr algn="ctr" indent="0" marL="0">
              <a:buNone/>
            </a:pPr>
            <a:r>
              <a:rPr lang="en-US" sz="1700" dirty="0">
                <a:solidFill>
                  <a:srgbClr val="000000"/>
                </a:solidFill>
                <a:latin typeface="Open Sauce" pitchFamily="34" charset="0"/>
                <a:ea typeface="Open Sauce" pitchFamily="34" charset="-122"/>
                <a:cs typeface="Open Sauce" pitchFamily="34" charset="-120"/>
              </a:rPr>
              <a:t>10 · PILLAR V · COPILOT &amp; AUDIT</a:t>
            </a:r>
            <a:endParaRPr lang="en-US" sz="1700" dirty="0"/>
          </a:p>
        </p:txBody>
      </p:sp>
      <p:sp>
        <p:nvSpPr>
          <p:cNvPr id="4" name="Title"/>
          <p:cNvSpPr txBox="1"/>
          <p:nvPr/>
        </p:nvSpPr>
        <p:spPr>
          <a:xfrm>
            <a:off x="1097280" y="1188720"/>
            <a:ext cx="16093440" cy="1005840"/>
          </a:xfrm>
          <a:prstGeom prst="rect">
            <a:avLst/>
          </a:prstGeom>
          <a:noFill/>
          <a:ln/>
        </p:spPr>
        <p:txBody>
          <a:bodyPr wrap="square" lIns="0" tIns="0" rIns="0" bIns="0" rtlCol="0" anchor="t"/>
          <a:lstStyle/>
          <a:p>
            <a:pPr indent="0" marL="0">
              <a:buNone/>
            </a:pPr>
            <a:r>
              <a:rPr lang="en-US" sz="3800" b="1" dirty="0">
                <a:solidFill>
                  <a:srgbClr val="E4E4E4"/>
                </a:solidFill>
                <a:latin typeface="Open Sauce Bold" pitchFamily="34" charset="0"/>
                <a:ea typeface="Open Sauce Bold" pitchFamily="34" charset="-122"/>
                <a:cs typeface="Open Sauce Bold" pitchFamily="34" charset="-120"/>
              </a:rPr>
              <a:t>Every conclusion is evidence-linked and tamper-evident</a:t>
            </a:r>
            <a:endParaRPr lang="en-US" sz="3800" dirty="0"/>
          </a:p>
        </p:txBody>
      </p:sp>
      <p:sp>
        <p:nvSpPr>
          <p:cNvPr id="5" name="Subtitle"/>
          <p:cNvSpPr txBox="1"/>
          <p:nvPr/>
        </p:nvSpPr>
        <p:spPr>
          <a:xfrm>
            <a:off x="1097280" y="2286000"/>
            <a:ext cx="16093440" cy="868680"/>
          </a:xfrm>
          <a:prstGeom prst="rect">
            <a:avLst/>
          </a:prstGeom>
          <a:noFill/>
          <a:ln/>
        </p:spPr>
        <p:txBody>
          <a:bodyPr wrap="square" lIns="0" tIns="0" rIns="0" bIns="0" rtlCol="0" anchor="t"/>
          <a:lstStyle/>
          <a:p>
            <a:pPr indent="0" marL="0">
              <a:buNone/>
            </a:pPr>
            <a:r>
              <a:rPr lang="en-US" sz="2100" dirty="0">
                <a:solidFill>
                  <a:srgbClr val="A8A8A8"/>
                </a:solidFill>
                <a:latin typeface="Open Sauce" pitchFamily="34" charset="0"/>
                <a:ea typeface="Open Sauce" pitchFamily="34" charset="-122"/>
                <a:cs typeface="Open Sauce" pitchFamily="34" charset="-120"/>
              </a:rPr>
              <a:t>A grounded investigation copilot plus a SHA-256 chained ledger built for Bangladesh Bank and BFIU review.</a:t>
            </a:r>
            <a:endParaRPr lang="en-US" sz="2100" dirty="0"/>
          </a:p>
        </p:txBody>
      </p:sp>
      <p:sp>
        <p:nvSpPr>
          <p:cNvPr id="7" name="Shape 4"/>
          <p:cNvSpPr/>
          <p:nvPr/>
        </p:nvSpPr>
        <p:spPr>
          <a:xfrm>
            <a:off x="1097280" y="3520440"/>
            <a:ext cx="7955280" cy="4160520"/>
          </a:xfrm>
          <a:prstGeom prst="roundRect">
            <a:avLst>
              <a:gd name="adj" fmla="val 4835"/>
            </a:avLst>
          </a:prstGeom>
          <a:solidFill>
            <a:srgbClr val="1E1E1E"/>
          </a:solidFill>
          <a:ln w="12700">
            <a:solidFill>
              <a:srgbClr val="1E1E1E"/>
            </a:solidFill>
            <a:prstDash val="solid"/>
          </a:ln>
        </p:spPr>
      </p:sp>
      <p:sp>
        <p:nvSpPr>
          <p:cNvPr id="8" name="Text 5"/>
          <p:cNvSpPr txBox="1"/>
          <p:nvPr/>
        </p:nvSpPr>
        <p:spPr>
          <a:xfrm>
            <a:off x="1371600" y="3657600"/>
            <a:ext cx="740664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REASONING CHAIN · ILLUSTRATIVE CASE</a:t>
            </a:r>
            <a:endParaRPr lang="en-US" sz="1500" dirty="0"/>
          </a:p>
        </p:txBody>
      </p:sp>
      <p:sp>
        <p:nvSpPr>
          <p:cNvPr id="9" name="Text 6"/>
          <p:cNvSpPr txBox="1"/>
          <p:nvPr/>
        </p:nvSpPr>
        <p:spPr>
          <a:xfrm>
            <a:off x="1371600" y="4069080"/>
            <a:ext cx="1737360" cy="274320"/>
          </a:xfrm>
          <a:prstGeom prst="rect">
            <a:avLst/>
          </a:prstGeom>
          <a:noFill/>
          <a:ln/>
        </p:spPr>
        <p:txBody>
          <a:bodyPr wrap="square" lIns="0" tIns="0" rIns="0" bIns="0" rtlCol="0" anchor="t"/>
          <a:lstStyle/>
          <a:p>
            <a:pPr indent="0" marL="0">
              <a:buNone/>
            </a:pPr>
            <a:r>
              <a:rPr lang="en-US" sz="1400" b="1" dirty="0">
                <a:solidFill>
                  <a:srgbClr val="F7761F"/>
                </a:solidFill>
                <a:latin typeface="Open Sauce" pitchFamily="34" charset="0"/>
                <a:ea typeface="Open Sauce" pitchFamily="34" charset="-122"/>
                <a:cs typeface="Open Sauce" pitchFamily="34" charset="-120"/>
              </a:rPr>
              <a:t>CLAIM</a:t>
            </a:r>
            <a:endParaRPr lang="en-US" sz="1400" dirty="0"/>
          </a:p>
        </p:txBody>
      </p:sp>
      <p:sp>
        <p:nvSpPr>
          <p:cNvPr id="10" name="Text 7"/>
          <p:cNvSpPr txBox="1"/>
          <p:nvPr/>
        </p:nvSpPr>
        <p:spPr>
          <a:xfrm>
            <a:off x="3154680" y="4050792"/>
            <a:ext cx="5623560" cy="822960"/>
          </a:xfrm>
          <a:prstGeom prst="rect">
            <a:avLst/>
          </a:prstGeom>
          <a:noFill/>
          <a:ln/>
        </p:spPr>
        <p:txBody>
          <a:bodyPr wrap="square" lIns="0" tIns="0" rIns="0" bIns="0" rtlCol="0" anchor="t"/>
          <a:lstStyle/>
          <a:p>
            <a:pPr indent="0" marL="0">
              <a:buNone/>
            </a:pPr>
            <a:r>
              <a:rPr lang="en-US" sz="1700" dirty="0">
                <a:solidFill>
                  <a:srgbClr val="E4E4E4"/>
                </a:solidFill>
                <a:latin typeface="Open Sauce" pitchFamily="34" charset="0"/>
                <a:ea typeface="Open Sauce" pitchFamily="34" charset="-122"/>
                <a:cs typeface="Open Sauce" pitchFamily="34" charset="-120"/>
              </a:rPr>
              <a:t>Wallet W-4471 is acting as a mule-ring hub.</a:t>
            </a:r>
            <a:endParaRPr lang="en-US" sz="1700" dirty="0"/>
          </a:p>
        </p:txBody>
      </p:sp>
      <p:sp>
        <p:nvSpPr>
          <p:cNvPr id="11" name="Text 8"/>
          <p:cNvSpPr txBox="1"/>
          <p:nvPr/>
        </p:nvSpPr>
        <p:spPr>
          <a:xfrm>
            <a:off x="1371600" y="4965192"/>
            <a:ext cx="1737360" cy="274320"/>
          </a:xfrm>
          <a:prstGeom prst="rect">
            <a:avLst/>
          </a:prstGeom>
          <a:noFill/>
          <a:ln/>
        </p:spPr>
        <p:txBody>
          <a:bodyPr wrap="square" lIns="0" tIns="0" rIns="0" bIns="0" rtlCol="0" anchor="t"/>
          <a:lstStyle/>
          <a:p>
            <a:pPr indent="0" marL="0">
              <a:buNone/>
            </a:pPr>
            <a:r>
              <a:rPr lang="en-US" sz="1400" b="1" dirty="0">
                <a:solidFill>
                  <a:srgbClr val="F7761F"/>
                </a:solidFill>
                <a:latin typeface="Open Sauce" pitchFamily="34" charset="0"/>
                <a:ea typeface="Open Sauce" pitchFamily="34" charset="-122"/>
                <a:cs typeface="Open Sauce" pitchFamily="34" charset="-120"/>
              </a:rPr>
              <a:t>EVIDENCE</a:t>
            </a:r>
            <a:endParaRPr lang="en-US" sz="1400" dirty="0"/>
          </a:p>
        </p:txBody>
      </p:sp>
      <p:sp>
        <p:nvSpPr>
          <p:cNvPr id="12" name="Text 9"/>
          <p:cNvSpPr txBox="1"/>
          <p:nvPr/>
        </p:nvSpPr>
        <p:spPr>
          <a:xfrm>
            <a:off x="3154680" y="4946904"/>
            <a:ext cx="5623560" cy="822960"/>
          </a:xfrm>
          <a:prstGeom prst="rect">
            <a:avLst/>
          </a:prstGeom>
          <a:noFill/>
          <a:ln/>
        </p:spPr>
        <p:txBody>
          <a:bodyPr wrap="square" lIns="0" tIns="0" rIns="0" bIns="0" rtlCol="0" anchor="t"/>
          <a:lstStyle/>
          <a:p>
            <a:pPr indent="0" marL="0">
              <a:buNone/>
            </a:pPr>
            <a:r>
              <a:rPr lang="en-US" sz="1700" dirty="0">
                <a:solidFill>
                  <a:srgbClr val="E4E4E4"/>
                </a:solidFill>
                <a:latin typeface="Open Sauce" pitchFamily="34" charset="0"/>
                <a:ea typeface="Open Sauce" pitchFamily="34" charset="-122"/>
                <a:cs typeface="Open Sauce" pitchFamily="34" charset="-120"/>
              </a:rPr>
              <a:t>TXN-INV-0412, TXN-INV-0419, TXN-INV-0431: nine senders to one wallet within eleven minutes.</a:t>
            </a:r>
            <a:endParaRPr lang="en-US" sz="1700" dirty="0"/>
          </a:p>
        </p:txBody>
      </p:sp>
      <p:sp>
        <p:nvSpPr>
          <p:cNvPr id="13" name="Text 10"/>
          <p:cNvSpPr txBox="1"/>
          <p:nvPr/>
        </p:nvSpPr>
        <p:spPr>
          <a:xfrm>
            <a:off x="1371600" y="5861304"/>
            <a:ext cx="1737360" cy="274320"/>
          </a:xfrm>
          <a:prstGeom prst="rect">
            <a:avLst/>
          </a:prstGeom>
          <a:noFill/>
          <a:ln/>
        </p:spPr>
        <p:txBody>
          <a:bodyPr wrap="square" lIns="0" tIns="0" rIns="0" bIns="0" rtlCol="0" anchor="t"/>
          <a:lstStyle/>
          <a:p>
            <a:pPr indent="0" marL="0">
              <a:buNone/>
            </a:pPr>
            <a:r>
              <a:rPr lang="en-US" sz="1400" b="1" dirty="0">
                <a:solidFill>
                  <a:srgbClr val="F7761F"/>
                </a:solidFill>
                <a:latin typeface="Open Sauce" pitchFamily="34" charset="0"/>
                <a:ea typeface="Open Sauce" pitchFamily="34" charset="-122"/>
                <a:cs typeface="Open Sauce" pitchFamily="34" charset="-120"/>
              </a:rPr>
              <a:t>REASON</a:t>
            </a:r>
            <a:endParaRPr lang="en-US" sz="1400" dirty="0"/>
          </a:p>
        </p:txBody>
      </p:sp>
      <p:sp>
        <p:nvSpPr>
          <p:cNvPr id="14" name="Text 11"/>
          <p:cNvSpPr txBox="1"/>
          <p:nvPr/>
        </p:nvSpPr>
        <p:spPr>
          <a:xfrm>
            <a:off x="3154680" y="5843016"/>
            <a:ext cx="5623560" cy="822960"/>
          </a:xfrm>
          <a:prstGeom prst="rect">
            <a:avLst/>
          </a:prstGeom>
          <a:noFill/>
          <a:ln/>
        </p:spPr>
        <p:txBody>
          <a:bodyPr wrap="square" lIns="0" tIns="0" rIns="0" bIns="0" rtlCol="0" anchor="t"/>
          <a:lstStyle/>
          <a:p>
            <a:pPr indent="0" marL="0">
              <a:buNone/>
            </a:pPr>
            <a:r>
              <a:rPr lang="en-US" sz="1700" dirty="0">
                <a:solidFill>
                  <a:srgbClr val="E4E4E4"/>
                </a:solidFill>
                <a:latin typeface="Open Sauce" pitchFamily="34" charset="0"/>
                <a:ea typeface="Open Sauce" pitchFamily="34" charset="-122"/>
                <a:cs typeface="Open Sauce" pitchFamily="34" charset="-120"/>
              </a:rPr>
              <a:t>Fan-in above threshold with zero-balance pass-through and a shared-IMEI neighbor.</a:t>
            </a:r>
            <a:endParaRPr lang="en-US" sz="1700" dirty="0"/>
          </a:p>
        </p:txBody>
      </p:sp>
      <p:sp>
        <p:nvSpPr>
          <p:cNvPr id="15" name="Text 12"/>
          <p:cNvSpPr txBox="1"/>
          <p:nvPr/>
        </p:nvSpPr>
        <p:spPr>
          <a:xfrm>
            <a:off x="1371600" y="6757416"/>
            <a:ext cx="1737360" cy="274320"/>
          </a:xfrm>
          <a:prstGeom prst="rect">
            <a:avLst/>
          </a:prstGeom>
          <a:noFill/>
          <a:ln/>
        </p:spPr>
        <p:txBody>
          <a:bodyPr wrap="square" lIns="0" tIns="0" rIns="0" bIns="0" rtlCol="0" anchor="t"/>
          <a:lstStyle/>
          <a:p>
            <a:pPr indent="0" marL="0">
              <a:buNone/>
            </a:pPr>
            <a:r>
              <a:rPr lang="en-US" sz="1400" b="1" dirty="0">
                <a:solidFill>
                  <a:srgbClr val="F7761F"/>
                </a:solidFill>
                <a:latin typeface="Open Sauce" pitchFamily="34" charset="0"/>
                <a:ea typeface="Open Sauce" pitchFamily="34" charset="-122"/>
                <a:cs typeface="Open Sauce" pitchFamily="34" charset="-120"/>
              </a:rPr>
              <a:t>CONCLUSION</a:t>
            </a:r>
            <a:endParaRPr lang="en-US" sz="1400" dirty="0"/>
          </a:p>
        </p:txBody>
      </p:sp>
      <p:sp>
        <p:nvSpPr>
          <p:cNvPr id="16" name="Text 13"/>
          <p:cNvSpPr txBox="1"/>
          <p:nvPr/>
        </p:nvSpPr>
        <p:spPr>
          <a:xfrm>
            <a:off x="3154680" y="6739128"/>
            <a:ext cx="5623560" cy="822960"/>
          </a:xfrm>
          <a:prstGeom prst="rect">
            <a:avLst/>
          </a:prstGeom>
          <a:noFill/>
          <a:ln/>
        </p:spPr>
        <p:txBody>
          <a:bodyPr wrap="square" lIns="0" tIns="0" rIns="0" bIns="0" rtlCol="0" anchor="t"/>
          <a:lstStyle/>
          <a:p>
            <a:pPr indent="0" marL="0">
              <a:buNone/>
            </a:pPr>
            <a:r>
              <a:rPr lang="en-US" sz="1700" dirty="0">
                <a:solidFill>
                  <a:srgbClr val="E4E4E4"/>
                </a:solidFill>
                <a:latin typeface="Open Sauce" pitchFamily="34" charset="0"/>
                <a:ea typeface="Open Sauce" pitchFamily="34" charset="-122"/>
                <a:cs typeface="Open Sauce" pitchFamily="34" charset="-120"/>
              </a:rPr>
              <a:t>Escalate to HOLD_ASSIST, freeze downstream, draft STR.</a:t>
            </a:r>
            <a:endParaRPr lang="en-US" sz="1700" dirty="0"/>
          </a:p>
        </p:txBody>
      </p:sp>
      <p:sp>
        <p:nvSpPr>
          <p:cNvPr id="17" name="Shape 14"/>
          <p:cNvSpPr/>
          <p:nvPr/>
        </p:nvSpPr>
        <p:spPr>
          <a:xfrm>
            <a:off x="9281160" y="3520440"/>
            <a:ext cx="7909560" cy="4160520"/>
          </a:xfrm>
          <a:prstGeom prst="roundRect">
            <a:avLst>
              <a:gd name="adj" fmla="val 4835"/>
            </a:avLst>
          </a:prstGeom>
          <a:solidFill>
            <a:srgbClr val="141414"/>
          </a:solidFill>
          <a:ln w="12700">
            <a:solidFill>
              <a:srgbClr val="141414"/>
            </a:solidFill>
            <a:prstDash val="solid"/>
          </a:ln>
        </p:spPr>
      </p:sp>
      <p:sp>
        <p:nvSpPr>
          <p:cNvPr id="18" name="Text 15"/>
          <p:cNvSpPr txBox="1"/>
          <p:nvPr/>
        </p:nvSpPr>
        <p:spPr>
          <a:xfrm>
            <a:off x="9555480" y="3657600"/>
            <a:ext cx="736092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SHA-256 CHAINED AUDIT LEDGER</a:t>
            </a:r>
            <a:endParaRPr lang="en-US" sz="1500" dirty="0"/>
          </a:p>
        </p:txBody>
      </p:sp>
      <p:sp>
        <p:nvSpPr>
          <p:cNvPr id="19" name="Shape 16"/>
          <p:cNvSpPr/>
          <p:nvPr/>
        </p:nvSpPr>
        <p:spPr>
          <a:xfrm>
            <a:off x="9555480" y="4069080"/>
            <a:ext cx="7360920" cy="868680"/>
          </a:xfrm>
          <a:prstGeom prst="roundRect">
            <a:avLst>
              <a:gd name="adj" fmla="val 15789"/>
            </a:avLst>
          </a:prstGeom>
          <a:solidFill>
            <a:srgbClr val="1E1E1E"/>
          </a:solidFill>
          <a:ln w="12700">
            <a:solidFill>
              <a:srgbClr val="F7761F"/>
            </a:solidFill>
            <a:prstDash val="solid"/>
          </a:ln>
        </p:spPr>
      </p:sp>
      <p:sp>
        <p:nvSpPr>
          <p:cNvPr id="20" name="Text 17"/>
          <p:cNvSpPr txBox="1"/>
          <p:nvPr/>
        </p:nvSpPr>
        <p:spPr>
          <a:xfrm>
            <a:off x="9784080" y="4142232"/>
            <a:ext cx="6903720" cy="320040"/>
          </a:xfrm>
          <a:prstGeom prst="rect">
            <a:avLst/>
          </a:prstGeom>
          <a:noFill/>
          <a:ln/>
        </p:spPr>
        <p:txBody>
          <a:bodyPr wrap="square" lIns="0" tIns="0" rIns="0" bIns="0" rtlCol="0" anchor="t"/>
          <a:lstStyle/>
          <a:p>
            <a:pPr indent="0" marL="0">
              <a:buNone/>
            </a:pPr>
            <a:r>
              <a:rPr lang="en-US" sz="1700" b="1" dirty="0">
                <a:solidFill>
                  <a:srgbClr val="E4E4E4"/>
                </a:solidFill>
                <a:latin typeface="Open Sauce" pitchFamily="34" charset="0"/>
                <a:ea typeface="Open Sauce" pitchFamily="34" charset="-122"/>
                <a:cs typeface="Open Sauce" pitchFamily="34" charset="-120"/>
              </a:rPr>
              <a:t>BLOCK N−1   </a:t>
            </a:r>
            <a:pPr indent="0" marL="0">
              <a:buNone/>
            </a:pPr>
            <a:r>
              <a:rPr lang="en-US" sz="1400" b="1" dirty="0">
                <a:solidFill>
                  <a:srgbClr val="FF9A4D"/>
                </a:solidFill>
                <a:latin typeface="Open Sauce" pitchFamily="34" charset="0"/>
                <a:ea typeface="Open Sauce" pitchFamily="34" charset="-122"/>
                <a:cs typeface="Open Sauce" pitchFamily="34" charset="-120"/>
              </a:rPr>
              <a:t>sealed</a:t>
            </a:r>
            <a:endParaRPr lang="en-US" sz="1600" dirty="0"/>
          </a:p>
        </p:txBody>
      </p:sp>
      <p:sp>
        <p:nvSpPr>
          <p:cNvPr id="21" name="Text 18"/>
          <p:cNvSpPr txBox="1"/>
          <p:nvPr/>
        </p:nvSpPr>
        <p:spPr>
          <a:xfrm>
            <a:off x="9784080" y="4526280"/>
            <a:ext cx="6903720" cy="320040"/>
          </a:xfrm>
          <a:prstGeom prst="rect">
            <a:avLst/>
          </a:prstGeom>
          <a:noFill/>
          <a:ln/>
        </p:spPr>
        <p:txBody>
          <a:bodyPr wrap="square" lIns="0" tIns="0" rIns="0" bIns="0" rtlCol="0" anchor="t"/>
          <a:lstStyle/>
          <a:p>
            <a:pPr indent="0" marL="0">
              <a:buNone/>
            </a:pPr>
            <a:r>
              <a:rPr lang="en-US" sz="1500" dirty="0">
                <a:solidFill>
                  <a:srgbClr val="A8A8A8"/>
                </a:solidFill>
                <a:latin typeface="Courier New" pitchFamily="34" charset="0"/>
                <a:ea typeface="Courier New" pitchFamily="34" charset="-122"/>
                <a:cs typeface="Courier New" pitchFamily="34" charset="-120"/>
              </a:rPr>
              <a:t>prev: 9f3a…c21b     hash: b7e0…44d9</a:t>
            </a:r>
            <a:endParaRPr lang="en-US" sz="1500" dirty="0"/>
          </a:p>
        </p:txBody>
      </p:sp>
      <p:sp>
        <p:nvSpPr>
          <p:cNvPr id="22" name="Shape 19"/>
          <p:cNvSpPr/>
          <p:nvPr/>
        </p:nvSpPr>
        <p:spPr>
          <a:xfrm>
            <a:off x="9555480" y="5047488"/>
            <a:ext cx="7360920" cy="868680"/>
          </a:xfrm>
          <a:prstGeom prst="roundRect">
            <a:avLst>
              <a:gd name="adj" fmla="val 15789"/>
            </a:avLst>
          </a:prstGeom>
          <a:solidFill>
            <a:srgbClr val="1E1E1E"/>
          </a:solidFill>
          <a:ln w="12700">
            <a:solidFill>
              <a:srgbClr val="F7761F"/>
            </a:solidFill>
            <a:prstDash val="solid"/>
          </a:ln>
        </p:spPr>
      </p:sp>
      <p:sp>
        <p:nvSpPr>
          <p:cNvPr id="23" name="Text 20"/>
          <p:cNvSpPr txBox="1"/>
          <p:nvPr/>
        </p:nvSpPr>
        <p:spPr>
          <a:xfrm>
            <a:off x="9784080" y="5120640"/>
            <a:ext cx="6903720" cy="320040"/>
          </a:xfrm>
          <a:prstGeom prst="rect">
            <a:avLst/>
          </a:prstGeom>
          <a:noFill/>
          <a:ln/>
        </p:spPr>
        <p:txBody>
          <a:bodyPr wrap="square" lIns="0" tIns="0" rIns="0" bIns="0" rtlCol="0" anchor="t"/>
          <a:lstStyle/>
          <a:p>
            <a:pPr indent="0" marL="0">
              <a:buNone/>
            </a:pPr>
            <a:r>
              <a:rPr lang="en-US" sz="1700" b="1" dirty="0">
                <a:solidFill>
                  <a:srgbClr val="E4E4E4"/>
                </a:solidFill>
                <a:latin typeface="Open Sauce" pitchFamily="34" charset="0"/>
                <a:ea typeface="Open Sauce" pitchFamily="34" charset="-122"/>
                <a:cs typeface="Open Sauce" pitchFamily="34" charset="-120"/>
              </a:rPr>
              <a:t>BLOCK N   </a:t>
            </a:r>
            <a:pPr indent="0" marL="0">
              <a:buNone/>
            </a:pPr>
            <a:r>
              <a:rPr lang="en-US" sz="1400" b="1" dirty="0">
                <a:solidFill>
                  <a:srgbClr val="FF9A4D"/>
                </a:solidFill>
                <a:latin typeface="Open Sauce" pitchFamily="34" charset="0"/>
                <a:ea typeface="Open Sauce" pitchFamily="34" charset="-122"/>
                <a:cs typeface="Open Sauce" pitchFamily="34" charset="-120"/>
              </a:rPr>
              <a:t>sealed</a:t>
            </a:r>
            <a:endParaRPr lang="en-US" sz="1600" dirty="0"/>
          </a:p>
        </p:txBody>
      </p:sp>
      <p:sp>
        <p:nvSpPr>
          <p:cNvPr id="24" name="Text 21"/>
          <p:cNvSpPr txBox="1"/>
          <p:nvPr/>
        </p:nvSpPr>
        <p:spPr>
          <a:xfrm>
            <a:off x="9784080" y="5504688"/>
            <a:ext cx="6903720" cy="320040"/>
          </a:xfrm>
          <a:prstGeom prst="rect">
            <a:avLst/>
          </a:prstGeom>
          <a:noFill/>
          <a:ln/>
        </p:spPr>
        <p:txBody>
          <a:bodyPr wrap="square" lIns="0" tIns="0" rIns="0" bIns="0" rtlCol="0" anchor="t"/>
          <a:lstStyle/>
          <a:p>
            <a:pPr indent="0" marL="0">
              <a:buNone/>
            </a:pPr>
            <a:r>
              <a:rPr lang="en-US" sz="1500" dirty="0">
                <a:solidFill>
                  <a:srgbClr val="A8A8A8"/>
                </a:solidFill>
                <a:latin typeface="Courier New" pitchFamily="34" charset="0"/>
                <a:ea typeface="Courier New" pitchFamily="34" charset="-122"/>
                <a:cs typeface="Courier New" pitchFamily="34" charset="-120"/>
              </a:rPr>
              <a:t>prev: b7e0…44d9     hash: e51c…08aa</a:t>
            </a:r>
            <a:endParaRPr lang="en-US" sz="1500" dirty="0"/>
          </a:p>
        </p:txBody>
      </p:sp>
      <p:sp>
        <p:nvSpPr>
          <p:cNvPr id="25" name="Shape 22"/>
          <p:cNvSpPr/>
          <p:nvPr/>
        </p:nvSpPr>
        <p:spPr>
          <a:xfrm>
            <a:off x="9555480" y="6025896"/>
            <a:ext cx="7360920" cy="868680"/>
          </a:xfrm>
          <a:prstGeom prst="roundRect">
            <a:avLst>
              <a:gd name="adj" fmla="val 15789"/>
            </a:avLst>
          </a:prstGeom>
          <a:solidFill>
            <a:srgbClr val="1E1E1E"/>
          </a:solidFill>
          <a:ln w="12700">
            <a:solidFill>
              <a:srgbClr val="A8A8A8"/>
            </a:solidFill>
            <a:prstDash val="dash"/>
          </a:ln>
        </p:spPr>
      </p:sp>
      <p:sp>
        <p:nvSpPr>
          <p:cNvPr id="26" name="Text 23"/>
          <p:cNvSpPr txBox="1"/>
          <p:nvPr/>
        </p:nvSpPr>
        <p:spPr>
          <a:xfrm>
            <a:off x="9784080" y="6099048"/>
            <a:ext cx="6903720" cy="320040"/>
          </a:xfrm>
          <a:prstGeom prst="rect">
            <a:avLst/>
          </a:prstGeom>
          <a:noFill/>
          <a:ln/>
        </p:spPr>
        <p:txBody>
          <a:bodyPr wrap="square" lIns="0" tIns="0" rIns="0" bIns="0" rtlCol="0" anchor="t"/>
          <a:lstStyle/>
          <a:p>
            <a:pPr indent="0" marL="0">
              <a:buNone/>
            </a:pPr>
            <a:r>
              <a:rPr lang="en-US" sz="1700" b="1" dirty="0">
                <a:solidFill>
                  <a:srgbClr val="E4E4E4"/>
                </a:solidFill>
                <a:latin typeface="Open Sauce" pitchFamily="34" charset="0"/>
                <a:ea typeface="Open Sauce" pitchFamily="34" charset="-122"/>
                <a:cs typeface="Open Sauce" pitchFamily="34" charset="-120"/>
              </a:rPr>
              <a:t>BLOCK N+1   </a:t>
            </a:r>
            <a:pPr indent="0" marL="0">
              <a:buNone/>
            </a:pPr>
            <a:r>
              <a:rPr lang="en-US" sz="1400" b="1" dirty="0">
                <a:solidFill>
                  <a:srgbClr val="A8A8A8"/>
                </a:solidFill>
                <a:latin typeface="Open Sauce" pitchFamily="34" charset="0"/>
                <a:ea typeface="Open Sauce" pitchFamily="34" charset="-122"/>
                <a:cs typeface="Open Sauce" pitchFamily="34" charset="-120"/>
              </a:rPr>
              <a:t>pending</a:t>
            </a:r>
            <a:endParaRPr lang="en-US" sz="1600" dirty="0"/>
          </a:p>
        </p:txBody>
      </p:sp>
      <p:sp>
        <p:nvSpPr>
          <p:cNvPr id="27" name="Text 24"/>
          <p:cNvSpPr txBox="1"/>
          <p:nvPr/>
        </p:nvSpPr>
        <p:spPr>
          <a:xfrm>
            <a:off x="9784080" y="6483096"/>
            <a:ext cx="6903720" cy="320040"/>
          </a:xfrm>
          <a:prstGeom prst="rect">
            <a:avLst/>
          </a:prstGeom>
          <a:noFill/>
          <a:ln/>
        </p:spPr>
        <p:txBody>
          <a:bodyPr wrap="square" lIns="0" tIns="0" rIns="0" bIns="0" rtlCol="0" anchor="t"/>
          <a:lstStyle/>
          <a:p>
            <a:pPr indent="0" marL="0">
              <a:buNone/>
            </a:pPr>
            <a:r>
              <a:rPr lang="en-US" sz="1500" dirty="0">
                <a:solidFill>
                  <a:srgbClr val="A8A8A8"/>
                </a:solidFill>
                <a:latin typeface="Courier New" pitchFamily="34" charset="0"/>
                <a:ea typeface="Courier New" pitchFamily="34" charset="-122"/>
                <a:cs typeface="Courier New" pitchFamily="34" charset="-120"/>
              </a:rPr>
              <a:t>prev: e51c…08aa     hash: …</a:t>
            </a:r>
            <a:endParaRPr lang="en-US" sz="1500" dirty="0"/>
          </a:p>
        </p:txBody>
      </p:sp>
      <p:sp>
        <p:nvSpPr>
          <p:cNvPr id="28" name="Text 25"/>
          <p:cNvSpPr txBox="1"/>
          <p:nvPr/>
        </p:nvSpPr>
        <p:spPr>
          <a:xfrm>
            <a:off x="9555480" y="7040880"/>
            <a:ext cx="7360920" cy="411480"/>
          </a:xfrm>
          <a:prstGeom prst="rect">
            <a:avLst/>
          </a:prstGeom>
          <a:noFill/>
          <a:ln/>
        </p:spPr>
        <p:txBody>
          <a:bodyPr wrap="square" lIns="0" tIns="0" rIns="0" bIns="0" rtlCol="0" anchor="t"/>
          <a:lstStyle/>
          <a:p>
            <a:pPr indent="0" marL="0">
              <a:buNone/>
            </a:pPr>
            <a:r>
              <a:rPr lang="en-US" sz="1700" b="1" dirty="0">
                <a:solidFill>
                  <a:srgbClr val="FF9A4D"/>
                </a:solidFill>
                <a:latin typeface="Courier New" pitchFamily="34" charset="0"/>
                <a:ea typeface="Courier New" pitchFamily="34" charset="-122"/>
                <a:cs typeface="Courier New" pitchFamily="34" charset="-120"/>
              </a:rPr>
              <a:t>Hₙ = SHA-256( Hₙ₋₁ ‖ action ‖ actor ‖ timestamp )</a:t>
            </a:r>
            <a:endParaRPr lang="en-US" sz="1700" dirty="0"/>
          </a:p>
        </p:txBody>
      </p:sp>
      <p:sp>
        <p:nvSpPr>
          <p:cNvPr id="29" name="Shape 26"/>
          <p:cNvSpPr/>
          <p:nvPr/>
        </p:nvSpPr>
        <p:spPr>
          <a:xfrm>
            <a:off x="1097280" y="7818120"/>
            <a:ext cx="3851910" cy="1005840"/>
          </a:xfrm>
          <a:prstGeom prst="roundRect">
            <a:avLst>
              <a:gd name="adj" fmla="val 20000"/>
            </a:avLst>
          </a:prstGeom>
          <a:solidFill>
            <a:srgbClr val="1E1E1E"/>
          </a:solidFill>
          <a:ln w="12700">
            <a:solidFill>
              <a:srgbClr val="1E1E1E"/>
            </a:solidFill>
            <a:prstDash val="solid"/>
          </a:ln>
        </p:spPr>
      </p:sp>
      <p:sp>
        <p:nvSpPr>
          <p:cNvPr id="30" name="Text 27"/>
          <p:cNvSpPr txBox="1"/>
          <p:nvPr/>
        </p:nvSpPr>
        <p:spPr>
          <a:xfrm>
            <a:off x="137160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0</a:t>
            </a:r>
            <a:endParaRPr lang="en-US" sz="3500" dirty="0"/>
          </a:p>
        </p:txBody>
      </p:sp>
      <p:sp>
        <p:nvSpPr>
          <p:cNvPr id="31" name="Text 28"/>
          <p:cNvSpPr txBox="1"/>
          <p:nvPr/>
        </p:nvSpPr>
        <p:spPr>
          <a:xfrm>
            <a:off x="137160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Hallucinated facts; claims cited</a:t>
            </a:r>
            <a:endParaRPr lang="en-US" sz="1400" dirty="0"/>
          </a:p>
        </p:txBody>
      </p:sp>
      <p:sp>
        <p:nvSpPr>
          <p:cNvPr id="32" name="Shape 29"/>
          <p:cNvSpPr/>
          <p:nvPr/>
        </p:nvSpPr>
        <p:spPr>
          <a:xfrm>
            <a:off x="5177790" y="7818120"/>
            <a:ext cx="3851910" cy="1005840"/>
          </a:xfrm>
          <a:prstGeom prst="roundRect">
            <a:avLst>
              <a:gd name="adj" fmla="val 20000"/>
            </a:avLst>
          </a:prstGeom>
          <a:solidFill>
            <a:srgbClr val="1E1E1E"/>
          </a:solidFill>
          <a:ln w="12700">
            <a:solidFill>
              <a:srgbClr val="1E1E1E"/>
            </a:solidFill>
            <a:prstDash val="solid"/>
          </a:ln>
        </p:spPr>
      </p:sp>
      <p:sp>
        <p:nvSpPr>
          <p:cNvPr id="33" name="Text 30"/>
          <p:cNvSpPr txBox="1"/>
          <p:nvPr/>
        </p:nvSpPr>
        <p:spPr>
          <a:xfrm>
            <a:off x="545211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42 → 13.5</a:t>
            </a:r>
            <a:endParaRPr lang="en-US" sz="3500" dirty="0"/>
          </a:p>
        </p:txBody>
      </p:sp>
      <p:sp>
        <p:nvSpPr>
          <p:cNvPr id="34" name="Text 31"/>
          <p:cNvSpPr txBox="1"/>
          <p:nvPr/>
        </p:nvSpPr>
        <p:spPr>
          <a:xfrm>
            <a:off x="545211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Minutes per case</a:t>
            </a:r>
            <a:endParaRPr lang="en-US" sz="1400" dirty="0"/>
          </a:p>
        </p:txBody>
      </p:sp>
      <p:sp>
        <p:nvSpPr>
          <p:cNvPr id="35" name="Shape 32"/>
          <p:cNvSpPr/>
          <p:nvPr/>
        </p:nvSpPr>
        <p:spPr>
          <a:xfrm>
            <a:off x="9258300" y="7818120"/>
            <a:ext cx="3851910" cy="1005840"/>
          </a:xfrm>
          <a:prstGeom prst="roundRect">
            <a:avLst>
              <a:gd name="adj" fmla="val 20000"/>
            </a:avLst>
          </a:prstGeom>
          <a:solidFill>
            <a:srgbClr val="1E1E1E"/>
          </a:solidFill>
          <a:ln w="12700">
            <a:solidFill>
              <a:srgbClr val="1E1E1E"/>
            </a:solidFill>
            <a:prstDash val="solid"/>
          </a:ln>
        </p:spPr>
      </p:sp>
      <p:sp>
        <p:nvSpPr>
          <p:cNvPr id="36" name="Text 33"/>
          <p:cNvSpPr txBox="1"/>
          <p:nvPr/>
        </p:nvSpPr>
        <p:spPr>
          <a:xfrm>
            <a:off x="953262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68%</a:t>
            </a:r>
            <a:endParaRPr lang="en-US" sz="3500" dirty="0"/>
          </a:p>
        </p:txBody>
      </p:sp>
      <p:sp>
        <p:nvSpPr>
          <p:cNvPr id="37" name="Text 34"/>
          <p:cNvSpPr txBox="1"/>
          <p:nvPr/>
        </p:nvSpPr>
        <p:spPr>
          <a:xfrm>
            <a:off x="953262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Analyst capacity expansion</a:t>
            </a:r>
            <a:endParaRPr lang="en-US" sz="1400" dirty="0"/>
          </a:p>
        </p:txBody>
      </p:sp>
      <p:sp>
        <p:nvSpPr>
          <p:cNvPr id="38" name="Shape 35"/>
          <p:cNvSpPr/>
          <p:nvPr/>
        </p:nvSpPr>
        <p:spPr>
          <a:xfrm>
            <a:off x="13338810" y="7818120"/>
            <a:ext cx="3851910" cy="1005840"/>
          </a:xfrm>
          <a:prstGeom prst="roundRect">
            <a:avLst>
              <a:gd name="adj" fmla="val 20000"/>
            </a:avLst>
          </a:prstGeom>
          <a:solidFill>
            <a:srgbClr val="1E1E1E"/>
          </a:solidFill>
          <a:ln w="12700">
            <a:solidFill>
              <a:srgbClr val="1E1E1E"/>
            </a:solidFill>
            <a:prstDash val="solid"/>
          </a:ln>
        </p:spPr>
      </p:sp>
      <p:sp>
        <p:nvSpPr>
          <p:cNvPr id="39" name="Text 36"/>
          <p:cNvSpPr txBox="1"/>
          <p:nvPr/>
        </p:nvSpPr>
        <p:spPr>
          <a:xfrm>
            <a:off x="1361313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SHA-256</a:t>
            </a:r>
            <a:endParaRPr lang="en-US" sz="3500" dirty="0"/>
          </a:p>
        </p:txBody>
      </p:sp>
      <p:sp>
        <p:nvSpPr>
          <p:cNvPr id="40" name="Text 37"/>
          <p:cNvSpPr txBox="1"/>
          <p:nvPr/>
        </p:nvSpPr>
        <p:spPr>
          <a:xfrm>
            <a:off x="1361313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Immutable chain for BB and BFIU</a:t>
            </a:r>
            <a:endParaRPr lang="en-US" sz="1400" dirty="0"/>
          </a:p>
        </p:txBody>
      </p:sp>
      <p:sp>
        <p:nvSpPr>
          <p:cNvPr id="25" name="Slide Number Placeholder 0"/>
          <p:cNvSpPr>
            <a:spLocks noGrp="1"/>
          </p:cNvSpPr>
          <p:nvPr>
            <p:ph type="sldNum" sz="quarter" idx="4294967295"/>
          </p:nvPr>
        </p:nvSpPr>
        <p:spPr>
          <a:xfrm>
            <a:off x="15361920" y="9418320"/>
            <a:ext cx="1828800" cy="320040"/>
          </a:xfrm>
          <a:prstGeom prst="rect">
            <a:avLst/>
          </a:prstGeom>
          <a:extLst>
            <a:ext uri="{C572A759-6A51-4108-AA02-DFA0A04FC94B}">
              <ma14:wrappingTextBoxFlag xmlns:ma14="http://schemas.microsoft.com/office/mac/drawingml/2011/main" val="0"/>
            </a:ext>
          </a:extLst>
        </p:spPr>
        <p:txBody>
          <a:bodyPr/>
          <a:lstStyle>
            <a:lvl1pPr>
              <a:defRPr sz="1600">
                <a:solidFill>
                  <a:srgbClr val="A8A8A8"/>
                </a:solidFill>
                <a:latin typeface="Open Sauce"/>
                <a:ea typeface="Open Sauce"/>
                <a:cs typeface="Open Sauce"/>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11100816" y="457200"/>
            <a:ext cx="6089904" cy="457200"/>
          </a:xfrm>
          <a:prstGeom prst="roundRect">
            <a:avLst>
              <a:gd name="adj" fmla="val 50000"/>
            </a:avLst>
          </a:prstGeom>
          <a:solidFill>
            <a:srgbClr val="FFFFFF"/>
          </a:solidFill>
          <a:ln w="12700">
            <a:solidFill>
              <a:srgbClr val="FFFFFF"/>
            </a:solidFill>
            <a:prstDash val="solid"/>
          </a:ln>
        </p:spPr>
      </p:sp>
      <p:sp>
        <p:nvSpPr>
          <p:cNvPr id="3" name="Text 1"/>
          <p:cNvSpPr txBox="1"/>
          <p:nvPr/>
        </p:nvSpPr>
        <p:spPr>
          <a:xfrm>
            <a:off x="11100816" y="457200"/>
            <a:ext cx="6089904" cy="457200"/>
          </a:xfrm>
          <a:prstGeom prst="rect">
            <a:avLst/>
          </a:prstGeom>
          <a:noFill/>
          <a:ln/>
        </p:spPr>
        <p:txBody>
          <a:bodyPr wrap="square" lIns="0" tIns="0" rIns="0" bIns="0" rtlCol="0" anchor="ctr"/>
          <a:lstStyle/>
          <a:p>
            <a:pPr algn="ctr" indent="0" marL="0">
              <a:buNone/>
            </a:pPr>
            <a:r>
              <a:rPr lang="en-US" sz="1700" dirty="0">
                <a:solidFill>
                  <a:srgbClr val="000000"/>
                </a:solidFill>
                <a:latin typeface="Open Sauce" pitchFamily="34" charset="0"/>
                <a:ea typeface="Open Sauce" pitchFamily="34" charset="-122"/>
                <a:cs typeface="Open Sauce" pitchFamily="34" charset="-120"/>
              </a:rPr>
              <a:t>11 · INCLUSIVE SECURITY · USSD *268#</a:t>
            </a:r>
            <a:endParaRPr lang="en-US" sz="1700" dirty="0"/>
          </a:p>
        </p:txBody>
      </p:sp>
      <p:sp>
        <p:nvSpPr>
          <p:cNvPr id="4" name="Title"/>
          <p:cNvSpPr txBox="1"/>
          <p:nvPr/>
        </p:nvSpPr>
        <p:spPr>
          <a:xfrm>
            <a:off x="1097280" y="1188720"/>
            <a:ext cx="16093440" cy="1005840"/>
          </a:xfrm>
          <a:prstGeom prst="rect">
            <a:avLst/>
          </a:prstGeom>
          <a:noFill/>
          <a:ln/>
        </p:spPr>
        <p:txBody>
          <a:bodyPr wrap="square" lIns="0" tIns="0" rIns="0" bIns="0" rtlCol="0" anchor="t"/>
          <a:lstStyle/>
          <a:p>
            <a:pPr indent="0" marL="0">
              <a:buNone/>
            </a:pPr>
            <a:r>
              <a:rPr lang="en-US" sz="3800" b="1" dirty="0">
                <a:solidFill>
                  <a:srgbClr val="E4E4E4"/>
                </a:solidFill>
                <a:latin typeface="Open Sauce Bold" pitchFamily="34" charset="0"/>
                <a:ea typeface="Open Sauce Bold" pitchFamily="34" charset="-122"/>
                <a:cs typeface="Open Sauce Bold" pitchFamily="34" charset="-120"/>
              </a:rPr>
              <a:t>Protection that works on a basic feature phone</a:t>
            </a:r>
            <a:endParaRPr lang="en-US" sz="3800" dirty="0"/>
          </a:p>
        </p:txBody>
      </p:sp>
      <p:sp>
        <p:nvSpPr>
          <p:cNvPr id="5" name="Subtitle"/>
          <p:cNvSpPr txBox="1"/>
          <p:nvPr/>
        </p:nvSpPr>
        <p:spPr>
          <a:xfrm>
            <a:off x="1097280" y="2286000"/>
            <a:ext cx="16093440" cy="868680"/>
          </a:xfrm>
          <a:prstGeom prst="rect">
            <a:avLst/>
          </a:prstGeom>
          <a:noFill/>
          <a:ln/>
        </p:spPr>
        <p:txBody>
          <a:bodyPr wrap="square" lIns="0" tIns="0" rIns="0" bIns="0" rtlCol="0" anchor="t"/>
          <a:lstStyle/>
          <a:p>
            <a:pPr indent="0" marL="0">
              <a:buNone/>
            </a:pPr>
            <a:r>
              <a:rPr lang="en-US" sz="2100" dirty="0">
                <a:solidFill>
                  <a:srgbClr val="A8A8A8"/>
                </a:solidFill>
                <a:latin typeface="Open Sauce" pitchFamily="34" charset="0"/>
                <a:ea typeface="Open Sauce" pitchFamily="34" charset="-122"/>
                <a:cs typeface="Open Sauce" pitchFamily="34" charset="-120"/>
              </a:rPr>
              <a:t>Over 40% of rural volume never touches a smartphone, so defense runs inside the USSD session and the telecom signaling layer.</a:t>
            </a:r>
            <a:endParaRPr lang="en-US" sz="2100" dirty="0"/>
          </a:p>
        </p:txBody>
      </p:sp>
      <p:sp>
        <p:nvSpPr>
          <p:cNvPr id="7" name="Text 4"/>
          <p:cNvSpPr txBox="1"/>
          <p:nvPr/>
        </p:nvSpPr>
        <p:spPr>
          <a:xfrm>
            <a:off x="1097280" y="3520440"/>
            <a:ext cx="548640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INTERVENTION FLOW</a:t>
            </a:r>
            <a:endParaRPr lang="en-US" sz="1500" dirty="0"/>
          </a:p>
        </p:txBody>
      </p:sp>
      <p:sp>
        <p:nvSpPr>
          <p:cNvPr id="8" name="Shape 5"/>
          <p:cNvSpPr/>
          <p:nvPr/>
        </p:nvSpPr>
        <p:spPr>
          <a:xfrm>
            <a:off x="1097280" y="3886200"/>
            <a:ext cx="2926080" cy="1691640"/>
          </a:xfrm>
          <a:prstGeom prst="roundRect">
            <a:avLst>
              <a:gd name="adj" fmla="val 11892"/>
            </a:avLst>
          </a:prstGeom>
          <a:solidFill>
            <a:srgbClr val="1E1E1E"/>
          </a:solidFill>
          <a:ln w="12700">
            <a:solidFill>
              <a:srgbClr val="1E1E1E"/>
            </a:solidFill>
            <a:prstDash val="solid"/>
          </a:ln>
        </p:spPr>
      </p:sp>
      <p:sp>
        <p:nvSpPr>
          <p:cNvPr id="9" name="Text 6"/>
          <p:cNvSpPr txBox="1"/>
          <p:nvPr/>
        </p:nvSpPr>
        <p:spPr>
          <a:xfrm>
            <a:off x="1325880" y="4023360"/>
            <a:ext cx="2468880" cy="274320"/>
          </a:xfrm>
          <a:prstGeom prst="rect">
            <a:avLst/>
          </a:prstGeom>
          <a:noFill/>
          <a:ln/>
        </p:spPr>
        <p:txBody>
          <a:bodyPr wrap="square" lIns="0" tIns="0" rIns="0" bIns="0" rtlCol="0" anchor="t"/>
          <a:lstStyle/>
          <a:p>
            <a:pPr indent="0" marL="0">
              <a:buNone/>
            </a:pPr>
            <a:r>
              <a:rPr lang="en-US" sz="1400" b="1" dirty="0">
                <a:solidFill>
                  <a:srgbClr val="F7761F"/>
                </a:solidFill>
                <a:latin typeface="Open Sauce" pitchFamily="34" charset="0"/>
                <a:ea typeface="Open Sauce" pitchFamily="34" charset="-122"/>
                <a:cs typeface="Open Sauce" pitchFamily="34" charset="-120"/>
              </a:rPr>
              <a:t>USSD SESSION</a:t>
            </a:r>
            <a:endParaRPr lang="en-US" sz="1400" dirty="0"/>
          </a:p>
        </p:txBody>
      </p:sp>
      <p:sp>
        <p:nvSpPr>
          <p:cNvPr id="10" name="Text 7"/>
          <p:cNvSpPr txBox="1"/>
          <p:nvPr/>
        </p:nvSpPr>
        <p:spPr>
          <a:xfrm>
            <a:off x="1325880" y="4389120"/>
            <a:ext cx="2468880" cy="1097280"/>
          </a:xfrm>
          <a:prstGeom prst="rect">
            <a:avLst/>
          </a:prstGeom>
          <a:noFill/>
          <a:ln/>
        </p:spPr>
        <p:txBody>
          <a:bodyPr wrap="square" lIns="0" tIns="0" rIns="0" bIns="0" rtlCol="0" anchor="t"/>
          <a:lstStyle/>
          <a:p>
            <a:pPr indent="0" marL="0">
              <a:buNone/>
            </a:pPr>
            <a:r>
              <a:rPr lang="en-US" sz="1800" dirty="0">
                <a:solidFill>
                  <a:srgbClr val="E4E4E4"/>
                </a:solidFill>
                <a:latin typeface="Open Sauce" pitchFamily="34" charset="0"/>
                <a:ea typeface="Open Sauce" pitchFamily="34" charset="-122"/>
                <a:cs typeface="Open Sauce" pitchFamily="34" charset="-120"/>
              </a:rPr>
              <a:t>User dials *268# and starts a transfer</a:t>
            </a:r>
            <a:endParaRPr lang="en-US" sz="1800" dirty="0"/>
          </a:p>
        </p:txBody>
      </p:sp>
      <p:sp>
        <p:nvSpPr>
          <p:cNvPr id="11" name="Text 8"/>
          <p:cNvSpPr txBox="1"/>
          <p:nvPr/>
        </p:nvSpPr>
        <p:spPr>
          <a:xfrm>
            <a:off x="4023360" y="4434840"/>
            <a:ext cx="365760" cy="548640"/>
          </a:xfrm>
          <a:prstGeom prst="rect">
            <a:avLst/>
          </a:prstGeom>
          <a:noFill/>
          <a:ln/>
        </p:spPr>
        <p:txBody>
          <a:bodyPr wrap="square" lIns="0" tIns="0" rIns="0" bIns="0" rtlCol="0" anchor="t"/>
          <a:lstStyle/>
          <a:p>
            <a:pPr algn="ctr" indent="0" marL="0">
              <a:buNone/>
            </a:pPr>
            <a:r>
              <a:rPr lang="en-US" sz="3200" b="1" dirty="0">
                <a:solidFill>
                  <a:srgbClr val="F7761F"/>
                </a:solidFill>
                <a:latin typeface="Open Sauce" pitchFamily="34" charset="0"/>
                <a:ea typeface="Open Sauce" pitchFamily="34" charset="-122"/>
                <a:cs typeface="Open Sauce" pitchFamily="34" charset="-120"/>
              </a:rPr>
              <a:t>›</a:t>
            </a:r>
            <a:endParaRPr lang="en-US" sz="3200" dirty="0"/>
          </a:p>
        </p:txBody>
      </p:sp>
      <p:sp>
        <p:nvSpPr>
          <p:cNvPr id="12" name="Shape 9"/>
          <p:cNvSpPr/>
          <p:nvPr/>
        </p:nvSpPr>
        <p:spPr>
          <a:xfrm>
            <a:off x="4389120" y="3886200"/>
            <a:ext cx="2926080" cy="1691640"/>
          </a:xfrm>
          <a:prstGeom prst="roundRect">
            <a:avLst>
              <a:gd name="adj" fmla="val 11892"/>
            </a:avLst>
          </a:prstGeom>
          <a:solidFill>
            <a:srgbClr val="1E1E1E"/>
          </a:solidFill>
          <a:ln w="12700">
            <a:solidFill>
              <a:srgbClr val="1E1E1E"/>
            </a:solidFill>
            <a:prstDash val="solid"/>
          </a:ln>
        </p:spPr>
      </p:sp>
      <p:sp>
        <p:nvSpPr>
          <p:cNvPr id="13" name="Text 10"/>
          <p:cNvSpPr txBox="1"/>
          <p:nvPr/>
        </p:nvSpPr>
        <p:spPr>
          <a:xfrm>
            <a:off x="4617720" y="4023360"/>
            <a:ext cx="2468880" cy="274320"/>
          </a:xfrm>
          <a:prstGeom prst="rect">
            <a:avLst/>
          </a:prstGeom>
          <a:noFill/>
          <a:ln/>
        </p:spPr>
        <p:txBody>
          <a:bodyPr wrap="square" lIns="0" tIns="0" rIns="0" bIns="0" rtlCol="0" anchor="t"/>
          <a:lstStyle/>
          <a:p>
            <a:pPr indent="0" marL="0">
              <a:buNone/>
            </a:pPr>
            <a:r>
              <a:rPr lang="en-US" sz="1400" b="1" dirty="0">
                <a:solidFill>
                  <a:srgbClr val="F7761F"/>
                </a:solidFill>
                <a:latin typeface="Open Sauce" pitchFamily="34" charset="0"/>
                <a:ea typeface="Open Sauce" pitchFamily="34" charset="-122"/>
                <a:cs typeface="Open Sauce" pitchFamily="34" charset="-120"/>
              </a:rPr>
              <a:t>SIGNAL CHECK</a:t>
            </a:r>
            <a:endParaRPr lang="en-US" sz="1400" dirty="0"/>
          </a:p>
        </p:txBody>
      </p:sp>
      <p:sp>
        <p:nvSpPr>
          <p:cNvPr id="14" name="Text 11"/>
          <p:cNvSpPr txBox="1"/>
          <p:nvPr/>
        </p:nvSpPr>
        <p:spPr>
          <a:xfrm>
            <a:off x="4617720" y="4389120"/>
            <a:ext cx="2468880" cy="1097280"/>
          </a:xfrm>
          <a:prstGeom prst="rect">
            <a:avLst/>
          </a:prstGeom>
          <a:noFill/>
          <a:ln/>
        </p:spPr>
        <p:txBody>
          <a:bodyPr wrap="square" lIns="0" tIns="0" rIns="0" bIns="0" rtlCol="0" anchor="t"/>
          <a:lstStyle/>
          <a:p>
            <a:pPr indent="0" marL="0">
              <a:buNone/>
            </a:pPr>
            <a:r>
              <a:rPr lang="en-US" sz="1800" dirty="0">
                <a:solidFill>
                  <a:srgbClr val="E4E4E4"/>
                </a:solidFill>
                <a:latin typeface="Open Sauce" pitchFamily="34" charset="0"/>
                <a:ea typeface="Open Sauce" pitchFamily="34" charset="-122"/>
                <a:cs typeface="Open Sauce" pitchFamily="34" charset="-120"/>
              </a:rPr>
              <a:t>IMSI change &lt;24h or repeated PIN attempts</a:t>
            </a:r>
            <a:endParaRPr lang="en-US" sz="1800" dirty="0"/>
          </a:p>
        </p:txBody>
      </p:sp>
      <p:sp>
        <p:nvSpPr>
          <p:cNvPr id="15" name="Text 12"/>
          <p:cNvSpPr txBox="1"/>
          <p:nvPr/>
        </p:nvSpPr>
        <p:spPr>
          <a:xfrm>
            <a:off x="7315200" y="4434840"/>
            <a:ext cx="365760" cy="548640"/>
          </a:xfrm>
          <a:prstGeom prst="rect">
            <a:avLst/>
          </a:prstGeom>
          <a:noFill/>
          <a:ln/>
        </p:spPr>
        <p:txBody>
          <a:bodyPr wrap="square" lIns="0" tIns="0" rIns="0" bIns="0" rtlCol="0" anchor="t"/>
          <a:lstStyle/>
          <a:p>
            <a:pPr algn="ctr" indent="0" marL="0">
              <a:buNone/>
            </a:pPr>
            <a:r>
              <a:rPr lang="en-US" sz="3200" b="1" dirty="0">
                <a:solidFill>
                  <a:srgbClr val="F7761F"/>
                </a:solidFill>
                <a:latin typeface="Open Sauce" pitchFamily="34" charset="0"/>
                <a:ea typeface="Open Sauce" pitchFamily="34" charset="-122"/>
                <a:cs typeface="Open Sauce" pitchFamily="34" charset="-120"/>
              </a:rPr>
              <a:t>›</a:t>
            </a:r>
            <a:endParaRPr lang="en-US" sz="3200" dirty="0"/>
          </a:p>
        </p:txBody>
      </p:sp>
      <p:sp>
        <p:nvSpPr>
          <p:cNvPr id="16" name="Shape 13"/>
          <p:cNvSpPr/>
          <p:nvPr/>
        </p:nvSpPr>
        <p:spPr>
          <a:xfrm>
            <a:off x="7680960" y="3886200"/>
            <a:ext cx="2926080" cy="1691640"/>
          </a:xfrm>
          <a:prstGeom prst="roundRect">
            <a:avLst>
              <a:gd name="adj" fmla="val 11892"/>
            </a:avLst>
          </a:prstGeom>
          <a:solidFill>
            <a:srgbClr val="1E1E1E"/>
          </a:solidFill>
          <a:ln w="12700">
            <a:solidFill>
              <a:srgbClr val="1E1E1E"/>
            </a:solidFill>
            <a:prstDash val="solid"/>
          </a:ln>
        </p:spPr>
      </p:sp>
      <p:sp>
        <p:nvSpPr>
          <p:cNvPr id="17" name="Text 14"/>
          <p:cNvSpPr txBox="1"/>
          <p:nvPr/>
        </p:nvSpPr>
        <p:spPr>
          <a:xfrm>
            <a:off x="7909560" y="4023360"/>
            <a:ext cx="2468880" cy="274320"/>
          </a:xfrm>
          <a:prstGeom prst="rect">
            <a:avLst/>
          </a:prstGeom>
          <a:noFill/>
          <a:ln/>
        </p:spPr>
        <p:txBody>
          <a:bodyPr wrap="square" lIns="0" tIns="0" rIns="0" bIns="0" rtlCol="0" anchor="t"/>
          <a:lstStyle/>
          <a:p>
            <a:pPr indent="0" marL="0">
              <a:buNone/>
            </a:pPr>
            <a:r>
              <a:rPr lang="en-US" sz="1400" b="1" dirty="0">
                <a:solidFill>
                  <a:srgbClr val="F7761F"/>
                </a:solidFill>
                <a:latin typeface="Open Sauce" pitchFamily="34" charset="0"/>
                <a:ea typeface="Open Sauce" pitchFamily="34" charset="-122"/>
                <a:cs typeface="Open Sauce" pitchFamily="34" charset="-120"/>
              </a:rPr>
              <a:t>SCORE</a:t>
            </a:r>
            <a:endParaRPr lang="en-US" sz="1400" dirty="0"/>
          </a:p>
        </p:txBody>
      </p:sp>
      <p:sp>
        <p:nvSpPr>
          <p:cNvPr id="18" name="Text 15"/>
          <p:cNvSpPr txBox="1"/>
          <p:nvPr/>
        </p:nvSpPr>
        <p:spPr>
          <a:xfrm>
            <a:off x="7909560" y="4389120"/>
            <a:ext cx="2468880" cy="1097280"/>
          </a:xfrm>
          <a:prstGeom prst="rect">
            <a:avLst/>
          </a:prstGeom>
          <a:noFill/>
          <a:ln/>
        </p:spPr>
        <p:txBody>
          <a:bodyPr wrap="square" lIns="0" tIns="0" rIns="0" bIns="0" rtlCol="0" anchor="t"/>
          <a:lstStyle/>
          <a:p>
            <a:pPr indent="0" marL="0">
              <a:buNone/>
            </a:pPr>
            <a:r>
              <a:rPr lang="en-US" sz="1800" dirty="0">
                <a:solidFill>
                  <a:srgbClr val="E4E4E4"/>
                </a:solidFill>
                <a:latin typeface="Open Sauce" pitchFamily="34" charset="0"/>
                <a:ea typeface="Open Sauce" pitchFamily="34" charset="-122"/>
                <a:cs typeface="Open Sauce" pitchFamily="34" charset="-120"/>
              </a:rPr>
              <a:t>Risk crosses the PAUSE_VERIFY threshold</a:t>
            </a:r>
            <a:endParaRPr lang="en-US" sz="1800" dirty="0"/>
          </a:p>
        </p:txBody>
      </p:sp>
      <p:sp>
        <p:nvSpPr>
          <p:cNvPr id="19" name="Text 16"/>
          <p:cNvSpPr txBox="1"/>
          <p:nvPr/>
        </p:nvSpPr>
        <p:spPr>
          <a:xfrm>
            <a:off x="10607040" y="4434840"/>
            <a:ext cx="365760" cy="548640"/>
          </a:xfrm>
          <a:prstGeom prst="rect">
            <a:avLst/>
          </a:prstGeom>
          <a:noFill/>
          <a:ln/>
        </p:spPr>
        <p:txBody>
          <a:bodyPr wrap="square" lIns="0" tIns="0" rIns="0" bIns="0" rtlCol="0" anchor="t"/>
          <a:lstStyle/>
          <a:p>
            <a:pPr algn="ctr" indent="0" marL="0">
              <a:buNone/>
            </a:pPr>
            <a:r>
              <a:rPr lang="en-US" sz="3200" b="1" dirty="0">
                <a:solidFill>
                  <a:srgbClr val="F7761F"/>
                </a:solidFill>
                <a:latin typeface="Open Sauce" pitchFamily="34" charset="0"/>
                <a:ea typeface="Open Sauce" pitchFamily="34" charset="-122"/>
                <a:cs typeface="Open Sauce" pitchFamily="34" charset="-120"/>
              </a:rPr>
              <a:t>›</a:t>
            </a:r>
            <a:endParaRPr lang="en-US" sz="3200" dirty="0"/>
          </a:p>
        </p:txBody>
      </p:sp>
      <p:sp>
        <p:nvSpPr>
          <p:cNvPr id="20" name="Shape 17"/>
          <p:cNvSpPr/>
          <p:nvPr/>
        </p:nvSpPr>
        <p:spPr>
          <a:xfrm>
            <a:off x="10972800" y="3886200"/>
            <a:ext cx="2926080" cy="1691640"/>
          </a:xfrm>
          <a:prstGeom prst="roundRect">
            <a:avLst>
              <a:gd name="adj" fmla="val 11892"/>
            </a:avLst>
          </a:prstGeom>
          <a:solidFill>
            <a:srgbClr val="1E1E1E"/>
          </a:solidFill>
          <a:ln w="12700">
            <a:solidFill>
              <a:srgbClr val="1E1E1E"/>
            </a:solidFill>
            <a:prstDash val="solid"/>
          </a:ln>
        </p:spPr>
      </p:sp>
      <p:sp>
        <p:nvSpPr>
          <p:cNvPr id="21" name="Text 18"/>
          <p:cNvSpPr txBox="1"/>
          <p:nvPr/>
        </p:nvSpPr>
        <p:spPr>
          <a:xfrm>
            <a:off x="11201400" y="4023360"/>
            <a:ext cx="2468880" cy="274320"/>
          </a:xfrm>
          <a:prstGeom prst="rect">
            <a:avLst/>
          </a:prstGeom>
          <a:noFill/>
          <a:ln/>
        </p:spPr>
        <p:txBody>
          <a:bodyPr wrap="square" lIns="0" tIns="0" rIns="0" bIns="0" rtlCol="0" anchor="t"/>
          <a:lstStyle/>
          <a:p>
            <a:pPr indent="0" marL="0">
              <a:buNone/>
            </a:pPr>
            <a:r>
              <a:rPr lang="en-US" sz="1400" b="1" dirty="0">
                <a:solidFill>
                  <a:srgbClr val="F7761F"/>
                </a:solidFill>
                <a:latin typeface="Open Sauce" pitchFamily="34" charset="0"/>
                <a:ea typeface="Open Sauce" pitchFamily="34" charset="-122"/>
                <a:cs typeface="Open Sauce" pitchFamily="34" charset="-120"/>
              </a:rPr>
              <a:t>IVR CALLBACK</a:t>
            </a:r>
            <a:endParaRPr lang="en-US" sz="1400" dirty="0"/>
          </a:p>
        </p:txBody>
      </p:sp>
      <p:sp>
        <p:nvSpPr>
          <p:cNvPr id="22" name="Text 19"/>
          <p:cNvSpPr txBox="1"/>
          <p:nvPr/>
        </p:nvSpPr>
        <p:spPr>
          <a:xfrm>
            <a:off x="11201400" y="4389120"/>
            <a:ext cx="2468880" cy="1097280"/>
          </a:xfrm>
          <a:prstGeom prst="rect">
            <a:avLst/>
          </a:prstGeom>
          <a:noFill/>
          <a:ln/>
        </p:spPr>
        <p:txBody>
          <a:bodyPr wrap="square" lIns="0" tIns="0" rIns="0" bIns="0" rtlCol="0" anchor="t"/>
          <a:lstStyle/>
          <a:p>
            <a:pPr indent="0" marL="0">
              <a:buNone/>
            </a:pPr>
            <a:r>
              <a:rPr lang="en-US" sz="1800" dirty="0">
                <a:solidFill>
                  <a:srgbClr val="E4E4E4"/>
                </a:solidFill>
                <a:latin typeface="Open Sauce" pitchFamily="34" charset="0"/>
                <a:ea typeface="Open Sauce" pitchFamily="34" charset="-122"/>
                <a:cs typeface="Open Sauce" pitchFamily="34" charset="-120"/>
              </a:rPr>
              <a:t>Bangla voice call asks the owner to confirm</a:t>
            </a:r>
            <a:endParaRPr lang="en-US" sz="1800" dirty="0"/>
          </a:p>
        </p:txBody>
      </p:sp>
      <p:sp>
        <p:nvSpPr>
          <p:cNvPr id="23" name="Text 20"/>
          <p:cNvSpPr txBox="1"/>
          <p:nvPr/>
        </p:nvSpPr>
        <p:spPr>
          <a:xfrm>
            <a:off x="13898880" y="4434840"/>
            <a:ext cx="365760" cy="548640"/>
          </a:xfrm>
          <a:prstGeom prst="rect">
            <a:avLst/>
          </a:prstGeom>
          <a:noFill/>
          <a:ln/>
        </p:spPr>
        <p:txBody>
          <a:bodyPr wrap="square" lIns="0" tIns="0" rIns="0" bIns="0" rtlCol="0" anchor="t"/>
          <a:lstStyle/>
          <a:p>
            <a:pPr algn="ctr" indent="0" marL="0">
              <a:buNone/>
            </a:pPr>
            <a:r>
              <a:rPr lang="en-US" sz="3200" b="1" dirty="0">
                <a:solidFill>
                  <a:srgbClr val="F7761F"/>
                </a:solidFill>
                <a:latin typeface="Open Sauce" pitchFamily="34" charset="0"/>
                <a:ea typeface="Open Sauce" pitchFamily="34" charset="-122"/>
                <a:cs typeface="Open Sauce" pitchFamily="34" charset="-120"/>
              </a:rPr>
              <a:t>›</a:t>
            </a:r>
            <a:endParaRPr lang="en-US" sz="3200" dirty="0"/>
          </a:p>
        </p:txBody>
      </p:sp>
      <p:sp>
        <p:nvSpPr>
          <p:cNvPr id="24" name="Shape 21"/>
          <p:cNvSpPr/>
          <p:nvPr/>
        </p:nvSpPr>
        <p:spPr>
          <a:xfrm>
            <a:off x="14264640" y="3886200"/>
            <a:ext cx="2926080" cy="1691640"/>
          </a:xfrm>
          <a:prstGeom prst="roundRect">
            <a:avLst>
              <a:gd name="adj" fmla="val 11892"/>
            </a:avLst>
          </a:prstGeom>
          <a:solidFill>
            <a:srgbClr val="F7761F"/>
          </a:solidFill>
          <a:ln w="12700">
            <a:solidFill>
              <a:srgbClr val="F7761F"/>
            </a:solidFill>
            <a:prstDash val="solid"/>
          </a:ln>
        </p:spPr>
      </p:sp>
      <p:sp>
        <p:nvSpPr>
          <p:cNvPr id="25" name="Text 22"/>
          <p:cNvSpPr txBox="1"/>
          <p:nvPr/>
        </p:nvSpPr>
        <p:spPr>
          <a:xfrm>
            <a:off x="14493240" y="4023360"/>
            <a:ext cx="2468880" cy="274320"/>
          </a:xfrm>
          <a:prstGeom prst="rect">
            <a:avLst/>
          </a:prstGeom>
          <a:noFill/>
          <a:ln/>
        </p:spPr>
        <p:txBody>
          <a:bodyPr wrap="square" lIns="0" tIns="0" rIns="0" bIns="0" rtlCol="0" anchor="t"/>
          <a:lstStyle/>
          <a:p>
            <a:pPr indent="0" marL="0">
              <a:buNone/>
            </a:pPr>
            <a:r>
              <a:rPr lang="en-US" sz="1400" b="1" dirty="0">
                <a:solidFill>
                  <a:srgbClr val="000000"/>
                </a:solidFill>
                <a:latin typeface="Open Sauce" pitchFamily="34" charset="0"/>
                <a:ea typeface="Open Sauce" pitchFamily="34" charset="-122"/>
                <a:cs typeface="Open Sauce" pitchFamily="34" charset="-120"/>
              </a:rPr>
              <a:t>OUTCOME</a:t>
            </a:r>
            <a:endParaRPr lang="en-US" sz="1400" dirty="0"/>
          </a:p>
        </p:txBody>
      </p:sp>
      <p:sp>
        <p:nvSpPr>
          <p:cNvPr id="26" name="Text 23"/>
          <p:cNvSpPr txBox="1"/>
          <p:nvPr/>
        </p:nvSpPr>
        <p:spPr>
          <a:xfrm>
            <a:off x="14493240" y="4389120"/>
            <a:ext cx="2468880" cy="1097280"/>
          </a:xfrm>
          <a:prstGeom prst="rect">
            <a:avLst/>
          </a:prstGeom>
          <a:noFill/>
          <a:ln/>
        </p:spPr>
        <p:txBody>
          <a:bodyPr wrap="square" lIns="0" tIns="0" rIns="0" bIns="0" rtlCol="0" anchor="t"/>
          <a:lstStyle/>
          <a:p>
            <a:pPr indent="0" marL="0">
              <a:buNone/>
            </a:pPr>
            <a:r>
              <a:rPr lang="en-US" sz="1800" b="1" dirty="0">
                <a:solidFill>
                  <a:srgbClr val="000000"/>
                </a:solidFill>
                <a:latin typeface="Open Sauce" pitchFamily="34" charset="0"/>
                <a:ea typeface="Open Sauce" pitchFamily="34" charset="-122"/>
                <a:cs typeface="Open Sauce" pitchFamily="34" charset="-120"/>
              </a:rPr>
              <a:t>Confirmed → release · No answer → hold</a:t>
            </a:r>
            <a:endParaRPr lang="en-US" sz="1800" dirty="0"/>
          </a:p>
        </p:txBody>
      </p:sp>
      <p:sp>
        <p:nvSpPr>
          <p:cNvPr id="27" name="Shape 24"/>
          <p:cNvSpPr/>
          <p:nvPr/>
        </p:nvSpPr>
        <p:spPr>
          <a:xfrm>
            <a:off x="1097280" y="5760720"/>
            <a:ext cx="3851910" cy="1920240"/>
          </a:xfrm>
          <a:prstGeom prst="roundRect">
            <a:avLst>
              <a:gd name="adj" fmla="val 10476"/>
            </a:avLst>
          </a:prstGeom>
          <a:solidFill>
            <a:srgbClr val="141414"/>
          </a:solidFill>
          <a:ln w="12700">
            <a:solidFill>
              <a:srgbClr val="141414"/>
            </a:solidFill>
            <a:prstDash val="solid"/>
          </a:ln>
        </p:spPr>
      </p:sp>
      <p:sp>
        <p:nvSpPr>
          <p:cNvPr id="28" name="Text 25"/>
          <p:cNvSpPr txBox="1"/>
          <p:nvPr/>
        </p:nvSpPr>
        <p:spPr>
          <a:xfrm>
            <a:off x="1371600" y="5897880"/>
            <a:ext cx="3303270" cy="365760"/>
          </a:xfrm>
          <a:prstGeom prst="rect">
            <a:avLst/>
          </a:prstGeom>
          <a:noFill/>
          <a:ln/>
        </p:spPr>
        <p:txBody>
          <a:bodyPr wrap="square" lIns="0" tIns="0" rIns="0" bIns="0" rtlCol="0" anchor="t"/>
          <a:lstStyle/>
          <a:p>
            <a:pPr indent="0" marL="0">
              <a:buNone/>
            </a:pPr>
            <a:r>
              <a:rPr lang="en-US" sz="1600" b="1" dirty="0">
                <a:solidFill>
                  <a:srgbClr val="E4E4E4"/>
                </a:solidFill>
                <a:latin typeface="Open Sauce Bold" pitchFamily="34" charset="0"/>
                <a:ea typeface="Open Sauce Bold" pitchFamily="34" charset="-122"/>
                <a:cs typeface="Open Sauce Bold" pitchFamily="34" charset="-120"/>
              </a:rPr>
              <a:t>Remote SIM-swap detection</a:t>
            </a:r>
            <a:endParaRPr lang="en-US" sz="1600" dirty="0"/>
          </a:p>
        </p:txBody>
      </p:sp>
      <p:sp>
        <p:nvSpPr>
          <p:cNvPr id="29" name="Text 26"/>
          <p:cNvSpPr txBox="1"/>
          <p:nvPr/>
        </p:nvSpPr>
        <p:spPr>
          <a:xfrm>
            <a:off x="1371600" y="6355080"/>
            <a:ext cx="3303270" cy="1280160"/>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Analyzes telecom signaling metadata. An IMSI change in under 24 hours raises account-takeover risk.</a:t>
            </a:r>
            <a:endParaRPr lang="en-US" sz="1600" dirty="0"/>
          </a:p>
        </p:txBody>
      </p:sp>
      <p:sp>
        <p:nvSpPr>
          <p:cNvPr id="30" name="Shape 27"/>
          <p:cNvSpPr/>
          <p:nvPr/>
        </p:nvSpPr>
        <p:spPr>
          <a:xfrm>
            <a:off x="5177790" y="5760720"/>
            <a:ext cx="3851910" cy="1920240"/>
          </a:xfrm>
          <a:prstGeom prst="roundRect">
            <a:avLst>
              <a:gd name="adj" fmla="val 10476"/>
            </a:avLst>
          </a:prstGeom>
          <a:solidFill>
            <a:srgbClr val="141414"/>
          </a:solidFill>
          <a:ln w="12700">
            <a:solidFill>
              <a:srgbClr val="141414"/>
            </a:solidFill>
            <a:prstDash val="solid"/>
          </a:ln>
        </p:spPr>
      </p:sp>
      <p:sp>
        <p:nvSpPr>
          <p:cNvPr id="31" name="Text 28"/>
          <p:cNvSpPr txBox="1"/>
          <p:nvPr/>
        </p:nvSpPr>
        <p:spPr>
          <a:xfrm>
            <a:off x="5452110" y="5897880"/>
            <a:ext cx="3303270" cy="365760"/>
          </a:xfrm>
          <a:prstGeom prst="rect">
            <a:avLst/>
          </a:prstGeom>
          <a:noFill/>
          <a:ln/>
        </p:spPr>
        <p:txBody>
          <a:bodyPr wrap="square" lIns="0" tIns="0" rIns="0" bIns="0" rtlCol="0" anchor="t"/>
          <a:lstStyle/>
          <a:p>
            <a:pPr indent="0" marL="0">
              <a:buNone/>
            </a:pPr>
            <a:r>
              <a:rPr lang="en-US" sz="1600" b="1" dirty="0">
                <a:solidFill>
                  <a:srgbClr val="E4E4E4"/>
                </a:solidFill>
                <a:latin typeface="Open Sauce Bold" pitchFamily="34" charset="0"/>
                <a:ea typeface="Open Sauce Bold" pitchFamily="34" charset="-122"/>
                <a:cs typeface="Open Sauce Bold" pitchFamily="34" charset="-120"/>
              </a:rPr>
              <a:t>PIN-harvesting halt</a:t>
            </a:r>
            <a:endParaRPr lang="en-US" sz="1600" dirty="0"/>
          </a:p>
        </p:txBody>
      </p:sp>
      <p:sp>
        <p:nvSpPr>
          <p:cNvPr id="32" name="Text 29"/>
          <p:cNvSpPr txBox="1"/>
          <p:nvPr/>
        </p:nvSpPr>
        <p:spPr>
          <a:xfrm>
            <a:off x="5452110" y="6355080"/>
            <a:ext cx="3303270" cy="1280160"/>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Detects sequential brute-force PIN attempts in a USSD session and stops them.</a:t>
            </a:r>
            <a:endParaRPr lang="en-US" sz="1600" dirty="0"/>
          </a:p>
        </p:txBody>
      </p:sp>
      <p:sp>
        <p:nvSpPr>
          <p:cNvPr id="33" name="Shape 30"/>
          <p:cNvSpPr/>
          <p:nvPr/>
        </p:nvSpPr>
        <p:spPr>
          <a:xfrm>
            <a:off x="9258300" y="5760720"/>
            <a:ext cx="3851910" cy="1920240"/>
          </a:xfrm>
          <a:prstGeom prst="roundRect">
            <a:avLst>
              <a:gd name="adj" fmla="val 10476"/>
            </a:avLst>
          </a:prstGeom>
          <a:solidFill>
            <a:srgbClr val="141414"/>
          </a:solidFill>
          <a:ln w="12700">
            <a:solidFill>
              <a:srgbClr val="141414"/>
            </a:solidFill>
            <a:prstDash val="solid"/>
          </a:ln>
        </p:spPr>
      </p:sp>
      <p:sp>
        <p:nvSpPr>
          <p:cNvPr id="34" name="Text 31"/>
          <p:cNvSpPr txBox="1"/>
          <p:nvPr/>
        </p:nvSpPr>
        <p:spPr>
          <a:xfrm>
            <a:off x="9532620" y="5897880"/>
            <a:ext cx="3303270" cy="365760"/>
          </a:xfrm>
          <a:prstGeom prst="rect">
            <a:avLst/>
          </a:prstGeom>
          <a:noFill/>
          <a:ln/>
        </p:spPr>
        <p:txBody>
          <a:bodyPr wrap="square" lIns="0" tIns="0" rIns="0" bIns="0" rtlCol="0" anchor="t"/>
          <a:lstStyle/>
          <a:p>
            <a:pPr indent="0" marL="0">
              <a:buNone/>
            </a:pPr>
            <a:r>
              <a:rPr lang="en-US" sz="1600" b="1" dirty="0">
                <a:solidFill>
                  <a:srgbClr val="E4E4E4"/>
                </a:solidFill>
                <a:latin typeface="Open Sauce Bold" pitchFamily="34" charset="0"/>
                <a:ea typeface="Open Sauce Bold" pitchFamily="34" charset="-122"/>
                <a:cs typeface="Open Sauce Bold" pitchFamily="34" charset="-120"/>
              </a:rPr>
              <a:t>Voice verification callback</a:t>
            </a:r>
            <a:endParaRPr lang="en-US" sz="1600" dirty="0"/>
          </a:p>
        </p:txBody>
      </p:sp>
      <p:sp>
        <p:nvSpPr>
          <p:cNvPr id="35" name="Text 32"/>
          <p:cNvSpPr txBox="1"/>
          <p:nvPr/>
        </p:nvSpPr>
        <p:spPr>
          <a:xfrm>
            <a:off x="9532620" y="6355080"/>
            <a:ext cx="3303270" cy="1280160"/>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An automated outbound IVR call asks for confirmation in plain colloquial Bangla.</a:t>
            </a:r>
            <a:endParaRPr lang="en-US" sz="1600" dirty="0"/>
          </a:p>
        </p:txBody>
      </p:sp>
      <p:sp>
        <p:nvSpPr>
          <p:cNvPr id="36" name="Shape 33"/>
          <p:cNvSpPr/>
          <p:nvPr/>
        </p:nvSpPr>
        <p:spPr>
          <a:xfrm>
            <a:off x="13338810" y="5760720"/>
            <a:ext cx="3851910" cy="1920240"/>
          </a:xfrm>
          <a:prstGeom prst="roundRect">
            <a:avLst>
              <a:gd name="adj" fmla="val 10476"/>
            </a:avLst>
          </a:prstGeom>
          <a:solidFill>
            <a:srgbClr val="141414"/>
          </a:solidFill>
          <a:ln w="12700">
            <a:solidFill>
              <a:srgbClr val="141414"/>
            </a:solidFill>
            <a:prstDash val="solid"/>
          </a:ln>
        </p:spPr>
      </p:sp>
      <p:sp>
        <p:nvSpPr>
          <p:cNvPr id="37" name="Text 34"/>
          <p:cNvSpPr txBox="1"/>
          <p:nvPr/>
        </p:nvSpPr>
        <p:spPr>
          <a:xfrm>
            <a:off x="13613130" y="5897880"/>
            <a:ext cx="3303270" cy="365760"/>
          </a:xfrm>
          <a:prstGeom prst="rect">
            <a:avLst/>
          </a:prstGeom>
          <a:noFill/>
          <a:ln/>
        </p:spPr>
        <p:txBody>
          <a:bodyPr wrap="square" lIns="0" tIns="0" rIns="0" bIns="0" rtlCol="0" anchor="t"/>
          <a:lstStyle/>
          <a:p>
            <a:pPr indent="0" marL="0">
              <a:buNone/>
            </a:pPr>
            <a:r>
              <a:rPr lang="en-US" sz="1600" b="1" dirty="0">
                <a:solidFill>
                  <a:srgbClr val="E4E4E4"/>
                </a:solidFill>
                <a:latin typeface="Open Sauce Bold" pitchFamily="34" charset="0"/>
                <a:ea typeface="Open Sauce Bold" pitchFamily="34" charset="-122"/>
                <a:cs typeface="Open Sauce Bold" pitchFamily="34" charset="-120"/>
              </a:rPr>
              <a:t>Same engine, same audit</a:t>
            </a:r>
            <a:endParaRPr lang="en-US" sz="1600" dirty="0"/>
          </a:p>
        </p:txBody>
      </p:sp>
      <p:sp>
        <p:nvSpPr>
          <p:cNvPr id="38" name="Text 35"/>
          <p:cNvSpPr txBox="1"/>
          <p:nvPr/>
        </p:nvSpPr>
        <p:spPr>
          <a:xfrm>
            <a:off x="13613130" y="6355080"/>
            <a:ext cx="3303270" cy="1280160"/>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USSD decisions use the same scoring, graph and SHA-256 ledger as the app.</a:t>
            </a:r>
            <a:endParaRPr lang="en-US" sz="1600" dirty="0"/>
          </a:p>
        </p:txBody>
      </p:sp>
      <p:sp>
        <p:nvSpPr>
          <p:cNvPr id="39" name="Shape 36"/>
          <p:cNvSpPr/>
          <p:nvPr/>
        </p:nvSpPr>
        <p:spPr>
          <a:xfrm>
            <a:off x="1097280" y="7818120"/>
            <a:ext cx="3851910" cy="1005840"/>
          </a:xfrm>
          <a:prstGeom prst="roundRect">
            <a:avLst>
              <a:gd name="adj" fmla="val 20000"/>
            </a:avLst>
          </a:prstGeom>
          <a:solidFill>
            <a:srgbClr val="1E1E1E"/>
          </a:solidFill>
          <a:ln w="12700">
            <a:solidFill>
              <a:srgbClr val="1E1E1E"/>
            </a:solidFill>
            <a:prstDash val="solid"/>
          </a:ln>
        </p:spPr>
      </p:sp>
      <p:sp>
        <p:nvSpPr>
          <p:cNvPr id="40" name="Text 37"/>
          <p:cNvSpPr txBox="1"/>
          <p:nvPr/>
        </p:nvSpPr>
        <p:spPr>
          <a:xfrm>
            <a:off x="137160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40%+</a:t>
            </a:r>
            <a:endParaRPr lang="en-US" sz="3500" dirty="0"/>
          </a:p>
        </p:txBody>
      </p:sp>
      <p:sp>
        <p:nvSpPr>
          <p:cNvPr id="41" name="Text 38"/>
          <p:cNvSpPr txBox="1"/>
          <p:nvPr/>
        </p:nvSpPr>
        <p:spPr>
          <a:xfrm>
            <a:off x="137160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Of rural volume on feature phones</a:t>
            </a:r>
            <a:endParaRPr lang="en-US" sz="1400" dirty="0"/>
          </a:p>
        </p:txBody>
      </p:sp>
      <p:sp>
        <p:nvSpPr>
          <p:cNvPr id="42" name="Shape 39"/>
          <p:cNvSpPr/>
          <p:nvPr/>
        </p:nvSpPr>
        <p:spPr>
          <a:xfrm>
            <a:off x="5177790" y="7818120"/>
            <a:ext cx="3851910" cy="1005840"/>
          </a:xfrm>
          <a:prstGeom prst="roundRect">
            <a:avLst>
              <a:gd name="adj" fmla="val 20000"/>
            </a:avLst>
          </a:prstGeom>
          <a:solidFill>
            <a:srgbClr val="1E1E1E"/>
          </a:solidFill>
          <a:ln w="12700">
            <a:solidFill>
              <a:srgbClr val="1E1E1E"/>
            </a:solidFill>
            <a:prstDash val="solid"/>
          </a:ln>
        </p:spPr>
      </p:sp>
      <p:sp>
        <p:nvSpPr>
          <p:cNvPr id="43" name="Text 40"/>
          <p:cNvSpPr txBox="1"/>
          <p:nvPr/>
        </p:nvSpPr>
        <p:spPr>
          <a:xfrm>
            <a:off x="545211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&lt;24 h</a:t>
            </a:r>
            <a:endParaRPr lang="en-US" sz="3500" dirty="0"/>
          </a:p>
        </p:txBody>
      </p:sp>
      <p:sp>
        <p:nvSpPr>
          <p:cNvPr id="44" name="Text 41"/>
          <p:cNvSpPr txBox="1"/>
          <p:nvPr/>
        </p:nvSpPr>
        <p:spPr>
          <a:xfrm>
            <a:off x="545211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IMSI-change window for SIM-swap flag</a:t>
            </a:r>
            <a:endParaRPr lang="en-US" sz="1400" dirty="0"/>
          </a:p>
        </p:txBody>
      </p:sp>
      <p:sp>
        <p:nvSpPr>
          <p:cNvPr id="45" name="Shape 42"/>
          <p:cNvSpPr/>
          <p:nvPr/>
        </p:nvSpPr>
        <p:spPr>
          <a:xfrm>
            <a:off x="9258300" y="7818120"/>
            <a:ext cx="3851910" cy="1005840"/>
          </a:xfrm>
          <a:prstGeom prst="roundRect">
            <a:avLst>
              <a:gd name="adj" fmla="val 20000"/>
            </a:avLst>
          </a:prstGeom>
          <a:solidFill>
            <a:srgbClr val="1E1E1E"/>
          </a:solidFill>
          <a:ln w="12700">
            <a:solidFill>
              <a:srgbClr val="1E1E1E"/>
            </a:solidFill>
            <a:prstDash val="solid"/>
          </a:ln>
        </p:spPr>
      </p:sp>
      <p:sp>
        <p:nvSpPr>
          <p:cNvPr id="46" name="Text 43"/>
          <p:cNvSpPr txBox="1"/>
          <p:nvPr/>
        </p:nvSpPr>
        <p:spPr>
          <a:xfrm>
            <a:off x="953262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IVR</a:t>
            </a:r>
            <a:endParaRPr lang="en-US" sz="3500" dirty="0"/>
          </a:p>
        </p:txBody>
      </p:sp>
      <p:sp>
        <p:nvSpPr>
          <p:cNvPr id="47" name="Text 44"/>
          <p:cNvSpPr txBox="1"/>
          <p:nvPr/>
        </p:nvSpPr>
        <p:spPr>
          <a:xfrm>
            <a:off x="953262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Callback in colloquial Bangla</a:t>
            </a:r>
            <a:endParaRPr lang="en-US" sz="1400" dirty="0"/>
          </a:p>
        </p:txBody>
      </p:sp>
      <p:sp>
        <p:nvSpPr>
          <p:cNvPr id="48" name="Shape 45"/>
          <p:cNvSpPr/>
          <p:nvPr/>
        </p:nvSpPr>
        <p:spPr>
          <a:xfrm>
            <a:off x="13338810" y="7818120"/>
            <a:ext cx="3851910" cy="1005840"/>
          </a:xfrm>
          <a:prstGeom prst="roundRect">
            <a:avLst>
              <a:gd name="adj" fmla="val 20000"/>
            </a:avLst>
          </a:prstGeom>
          <a:solidFill>
            <a:srgbClr val="1E1E1E"/>
          </a:solidFill>
          <a:ln w="12700">
            <a:solidFill>
              <a:srgbClr val="1E1E1E"/>
            </a:solidFill>
            <a:prstDash val="solid"/>
          </a:ln>
        </p:spPr>
      </p:sp>
      <p:sp>
        <p:nvSpPr>
          <p:cNvPr id="49" name="Text 46"/>
          <p:cNvSpPr txBox="1"/>
          <p:nvPr/>
        </p:nvSpPr>
        <p:spPr>
          <a:xfrm>
            <a:off x="1361313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*268#</a:t>
            </a:r>
            <a:endParaRPr lang="en-US" sz="3500" dirty="0"/>
          </a:p>
        </p:txBody>
      </p:sp>
      <p:sp>
        <p:nvSpPr>
          <p:cNvPr id="50" name="Text 47"/>
          <p:cNvSpPr txBox="1"/>
          <p:nvPr/>
        </p:nvSpPr>
        <p:spPr>
          <a:xfrm>
            <a:off x="1361313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Shield engine on the USSD channel</a:t>
            </a:r>
            <a:endParaRPr lang="en-US" sz="1400" dirty="0"/>
          </a:p>
        </p:txBody>
      </p:sp>
      <p:sp>
        <p:nvSpPr>
          <p:cNvPr id="25" name="Slide Number Placeholder 0"/>
          <p:cNvSpPr>
            <a:spLocks noGrp="1"/>
          </p:cNvSpPr>
          <p:nvPr>
            <p:ph type="sldNum" sz="quarter" idx="4294967295"/>
          </p:nvPr>
        </p:nvSpPr>
        <p:spPr>
          <a:xfrm>
            <a:off x="15361920" y="9418320"/>
            <a:ext cx="1828800" cy="320040"/>
          </a:xfrm>
          <a:prstGeom prst="rect">
            <a:avLst/>
          </a:prstGeom>
          <a:extLst>
            <a:ext uri="{C572A759-6A51-4108-AA02-DFA0A04FC94B}">
              <ma14:wrappingTextBoxFlag xmlns:ma14="http://schemas.microsoft.com/office/mac/drawingml/2011/main" val="0"/>
            </a:ext>
          </a:extLst>
        </p:spPr>
        <p:txBody>
          <a:bodyPr/>
          <a:lstStyle>
            <a:lvl1pPr>
              <a:defRPr sz="1600">
                <a:solidFill>
                  <a:srgbClr val="A8A8A8"/>
                </a:solidFill>
                <a:latin typeface="Open Sauce"/>
                <a:ea typeface="Open Sauce"/>
                <a:cs typeface="Open Sauce"/>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13587984" y="457200"/>
            <a:ext cx="3602736" cy="457200"/>
          </a:xfrm>
          <a:prstGeom prst="roundRect">
            <a:avLst>
              <a:gd name="adj" fmla="val 50000"/>
            </a:avLst>
          </a:prstGeom>
          <a:solidFill>
            <a:srgbClr val="FFFFFF"/>
          </a:solidFill>
          <a:ln w="12700">
            <a:solidFill>
              <a:srgbClr val="FFFFFF"/>
            </a:solidFill>
            <a:prstDash val="solid"/>
          </a:ln>
        </p:spPr>
      </p:sp>
      <p:sp>
        <p:nvSpPr>
          <p:cNvPr id="3" name="Text 1"/>
          <p:cNvSpPr txBox="1"/>
          <p:nvPr/>
        </p:nvSpPr>
        <p:spPr>
          <a:xfrm>
            <a:off x="13587984" y="457200"/>
            <a:ext cx="3602736" cy="457200"/>
          </a:xfrm>
          <a:prstGeom prst="rect">
            <a:avLst/>
          </a:prstGeom>
          <a:noFill/>
          <a:ln/>
        </p:spPr>
        <p:txBody>
          <a:bodyPr wrap="square" lIns="0" tIns="0" rIns="0" bIns="0" rtlCol="0" anchor="ctr"/>
          <a:lstStyle/>
          <a:p>
            <a:pPr algn="ctr" indent="0" marL="0">
              <a:buNone/>
            </a:pPr>
            <a:r>
              <a:rPr lang="en-US" sz="1700" dirty="0">
                <a:solidFill>
                  <a:srgbClr val="000000"/>
                </a:solidFill>
                <a:latin typeface="Open Sauce" pitchFamily="34" charset="0"/>
                <a:ea typeface="Open Sauce" pitchFamily="34" charset="-122"/>
                <a:cs typeface="Open Sauce" pitchFamily="34" charset="-120"/>
              </a:rPr>
              <a:t>12 · ECONOMIC MODEL</a:t>
            </a:r>
            <a:endParaRPr lang="en-US" sz="1700" dirty="0"/>
          </a:p>
        </p:txBody>
      </p:sp>
      <p:sp>
        <p:nvSpPr>
          <p:cNvPr id="4" name="Title"/>
          <p:cNvSpPr txBox="1"/>
          <p:nvPr/>
        </p:nvSpPr>
        <p:spPr>
          <a:xfrm>
            <a:off x="1097280" y="1188720"/>
            <a:ext cx="16093440" cy="1005840"/>
          </a:xfrm>
          <a:prstGeom prst="rect">
            <a:avLst/>
          </a:prstGeom>
          <a:noFill/>
          <a:ln/>
        </p:spPr>
        <p:txBody>
          <a:bodyPr wrap="square" lIns="0" tIns="0" rIns="0" bIns="0" rtlCol="0" anchor="t"/>
          <a:lstStyle/>
          <a:p>
            <a:pPr indent="0" marL="0">
              <a:buNone/>
            </a:pPr>
            <a:r>
              <a:rPr lang="en-US" sz="3800" b="1" dirty="0">
                <a:solidFill>
                  <a:srgbClr val="E4E4E4"/>
                </a:solidFill>
                <a:latin typeface="Open Sauce Bold" pitchFamily="34" charset="0"/>
                <a:ea typeface="Open Sauce Bold" pitchFamily="34" charset="-122"/>
                <a:cs typeface="Open Sauce Bold" pitchFamily="34" charset="-120"/>
              </a:rPr>
              <a:t>৳42.6M preserved a year and an 8.4x net Year-1 return</a:t>
            </a:r>
            <a:endParaRPr lang="en-US" sz="3800" dirty="0"/>
          </a:p>
        </p:txBody>
      </p:sp>
      <p:sp>
        <p:nvSpPr>
          <p:cNvPr id="5" name="Subtitle"/>
          <p:cNvSpPr txBox="1"/>
          <p:nvPr/>
        </p:nvSpPr>
        <p:spPr>
          <a:xfrm>
            <a:off x="1097280" y="2286000"/>
            <a:ext cx="16093440" cy="868680"/>
          </a:xfrm>
          <a:prstGeom prst="rect">
            <a:avLst/>
          </a:prstGeom>
          <a:noFill/>
          <a:ln/>
        </p:spPr>
        <p:txBody>
          <a:bodyPr wrap="square" lIns="0" tIns="0" rIns="0" bIns="0" rtlCol="0" anchor="t"/>
          <a:lstStyle/>
          <a:p>
            <a:pPr indent="0" marL="0">
              <a:buNone/>
            </a:pPr>
            <a:r>
              <a:rPr lang="en-US" sz="2100" dirty="0">
                <a:solidFill>
                  <a:srgbClr val="A8A8A8"/>
                </a:solidFill>
                <a:latin typeface="Open Sauce" pitchFamily="34" charset="0"/>
                <a:ea typeface="Open Sauce" pitchFamily="34" charset="-122"/>
                <a:cs typeface="Open Sauce" pitchFamily="34" charset="-120"/>
              </a:rPr>
              <a:t>Institutional unit economics on a ৳120M-per-month pilot. All figures are Year-1.</a:t>
            </a:r>
            <a:endParaRPr lang="en-US" sz="2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097280" y="3520440"/>
          <a:ext cx="9875520" cy="914400"/>
        </p:xfrm>
        <a:graphic>
          <a:graphicData uri="http://schemas.openxmlformats.org/drawingml/2006/table">
            <a:tbl>
              <a:tblPr/>
              <a:tblGrid>
                <a:gridCol w="3566160"/>
                <a:gridCol w="1554480"/>
                <a:gridCol w="1737360"/>
                <a:gridCol w="3017520"/>
              </a:tblGrid>
              <a:tr h="429768">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METRIC</a:t>
                      </a:r>
                      <a:endParaRPr lang="en-US" sz="1400" dirty="0">
                        <a:latin typeface="Open Sauce Bold" charset="0"/>
                        <a:ea typeface="Open Sauce Bold" charset="0"/>
                        <a:cs typeface="Open Sauce Bold"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E1E1E"/>
                    </a:solidFill>
                  </a:tcPr>
                </a:tc>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BASELINE</a:t>
                      </a:r>
                      <a:endParaRPr lang="en-US" sz="1400" dirty="0">
                        <a:latin typeface="Open Sauce Bold" charset="0"/>
                        <a:ea typeface="Open Sauce Bold" charset="0"/>
                        <a:cs typeface="Open Sauce Bold"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E1E1E"/>
                    </a:solidFill>
                  </a:tcPr>
                </a:tc>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WITH SHIELD</a:t>
                      </a:r>
                      <a:endParaRPr lang="en-US" sz="1400" dirty="0">
                        <a:latin typeface="Open Sauce Bold" charset="0"/>
                        <a:ea typeface="Open Sauce Bold" charset="0"/>
                        <a:cs typeface="Open Sauce Bold"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E1E1E"/>
                    </a:solidFill>
                  </a:tcPr>
                </a:tc>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DELTA</a:t>
                      </a:r>
                      <a:endParaRPr lang="en-US" sz="1400" dirty="0">
                        <a:latin typeface="Open Sauce Bold" charset="0"/>
                        <a:ea typeface="Open Sauce Bold" charset="0"/>
                        <a:cs typeface="Open Sauce Bold"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E1E1E"/>
                    </a:solidFill>
                  </a:tcPr>
                </a:tc>
              </a:tr>
              <a:tr h="429768">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Annual transaction volume</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A8A8A8"/>
                          </a:solidFill>
                          <a:latin typeface="Open Sauce" pitchFamily="34" charset="0"/>
                          <a:ea typeface="Open Sauce" pitchFamily="34" charset="-122"/>
                          <a:cs typeface="Open Sauce" pitchFamily="34" charset="-120"/>
                        </a:rPr>
                        <a:t>৳1.44B</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E4E4E4"/>
                          </a:solidFill>
                          <a:latin typeface="Open Sauce" pitchFamily="34" charset="0"/>
                          <a:ea typeface="Open Sauce" pitchFamily="34" charset="-122"/>
                          <a:cs typeface="Open Sauce" pitchFamily="34" charset="-120"/>
                        </a:rPr>
                        <a:t>৳1.44B</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FF9A4D"/>
                          </a:solidFill>
                          <a:latin typeface="Open Sauce" pitchFamily="34" charset="0"/>
                          <a:ea typeface="Open Sauce" pitchFamily="34" charset="-122"/>
                          <a:cs typeface="Open Sauce" pitchFamily="34" charset="-120"/>
                        </a:rPr>
                        <a:t>Pilot base</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r h="429768">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Direct fraud loss rate</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A8A8A8"/>
                          </a:solidFill>
                          <a:latin typeface="Open Sauce" pitchFamily="34" charset="0"/>
                          <a:ea typeface="Open Sauce" pitchFamily="34" charset="-122"/>
                          <a:cs typeface="Open Sauce" pitchFamily="34" charset="-120"/>
                        </a:rPr>
                        <a:t>3.50%</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E4E4E4"/>
                          </a:solidFill>
                          <a:latin typeface="Open Sauce" pitchFamily="34" charset="0"/>
                          <a:ea typeface="Open Sauce" pitchFamily="34" charset="-122"/>
                          <a:cs typeface="Open Sauce" pitchFamily="34" charset="-120"/>
                        </a:rPr>
                        <a:t>0.54%</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FF9A4D"/>
                          </a:solidFill>
                          <a:latin typeface="Open Sauce" pitchFamily="34" charset="0"/>
                          <a:ea typeface="Open Sauce" pitchFamily="34" charset="-122"/>
                          <a:cs typeface="Open Sauce" pitchFamily="34" charset="-120"/>
                        </a:rPr>
                        <a:t>−84.6%</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r h="429768">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Direct fraud loss</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A8A8A8"/>
                          </a:solidFill>
                          <a:latin typeface="Open Sauce" pitchFamily="34" charset="0"/>
                          <a:ea typeface="Open Sauce" pitchFamily="34" charset="-122"/>
                          <a:cs typeface="Open Sauce" pitchFamily="34" charset="-120"/>
                        </a:rPr>
                        <a:t>৳50.4M</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E4E4E4"/>
                          </a:solidFill>
                          <a:latin typeface="Open Sauce" pitchFamily="34" charset="0"/>
                          <a:ea typeface="Open Sauce" pitchFamily="34" charset="-122"/>
                          <a:cs typeface="Open Sauce" pitchFamily="34" charset="-120"/>
                        </a:rPr>
                        <a:t>৳7.76M</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FF9A4D"/>
                          </a:solidFill>
                          <a:latin typeface="Open Sauce" pitchFamily="34" charset="0"/>
                          <a:ea typeface="Open Sauce" pitchFamily="34" charset="-122"/>
                          <a:cs typeface="Open Sauce" pitchFamily="34" charset="-120"/>
                        </a:rPr>
                        <a:t>+৳42,638,400</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r h="429768">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Fraud recovery rate</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A8A8A8"/>
                          </a:solidFill>
                          <a:latin typeface="Open Sauce" pitchFamily="34" charset="0"/>
                          <a:ea typeface="Open Sauce" pitchFamily="34" charset="-122"/>
                          <a:cs typeface="Open Sauce" pitchFamily="34" charset="-120"/>
                        </a:rPr>
                        <a:t>10.7%</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E4E4E4"/>
                          </a:solidFill>
                          <a:latin typeface="Open Sauce" pitchFamily="34" charset="0"/>
                          <a:ea typeface="Open Sauce" pitchFamily="34" charset="-122"/>
                          <a:cs typeface="Open Sauce" pitchFamily="34" charset="-120"/>
                        </a:rPr>
                        <a:t>71.4%</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FF9A4D"/>
                          </a:solidFill>
                          <a:latin typeface="Open Sauce" pitchFamily="34" charset="0"/>
                          <a:ea typeface="Open Sauce" pitchFamily="34" charset="-122"/>
                          <a:cs typeface="Open Sauce" pitchFamily="34" charset="-120"/>
                        </a:rPr>
                        <a:t>6.6x</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r h="429768">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Analyst time per case</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A8A8A8"/>
                          </a:solidFill>
                          <a:latin typeface="Open Sauce" pitchFamily="34" charset="0"/>
                          <a:ea typeface="Open Sauce" pitchFamily="34" charset="-122"/>
                          <a:cs typeface="Open Sauce" pitchFamily="34" charset="-120"/>
                        </a:rPr>
                        <a:t>42 min</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E4E4E4"/>
                          </a:solidFill>
                          <a:latin typeface="Open Sauce" pitchFamily="34" charset="0"/>
                          <a:ea typeface="Open Sauce" pitchFamily="34" charset="-122"/>
                          <a:cs typeface="Open Sauce" pitchFamily="34" charset="-120"/>
                        </a:rPr>
                        <a:t>13.5 min</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FF9A4D"/>
                          </a:solidFill>
                          <a:latin typeface="Open Sauce" pitchFamily="34" charset="0"/>
                          <a:ea typeface="Open Sauce" pitchFamily="34" charset="-122"/>
                          <a:cs typeface="Open Sauce" pitchFamily="34" charset="-120"/>
                        </a:rPr>
                        <a:t>−68%</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r h="429768">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Customer lifetime value (Safety Mode)</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A8A8A8"/>
                          </a:solidFill>
                          <a:latin typeface="Open Sauce" pitchFamily="34" charset="0"/>
                          <a:ea typeface="Open Sauce" pitchFamily="34" charset="-122"/>
                          <a:cs typeface="Open Sauce" pitchFamily="34" charset="-120"/>
                        </a:rPr>
                        <a:t>—</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E4E4E4"/>
                          </a:solidFill>
                          <a:latin typeface="Open Sauce" pitchFamily="34" charset="0"/>
                          <a:ea typeface="Open Sauce" pitchFamily="34" charset="-122"/>
                          <a:cs typeface="Open Sauce" pitchFamily="34" charset="-120"/>
                        </a:rPr>
                        <a:t>+৳14.2M</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FF9A4D"/>
                          </a:solidFill>
                          <a:latin typeface="Open Sauce" pitchFamily="34" charset="0"/>
                          <a:ea typeface="Open Sauce" pitchFamily="34" charset="-122"/>
                          <a:cs typeface="Open Sauce" pitchFamily="34" charset="-120"/>
                        </a:rPr>
                        <a:t>Churn reduction</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r h="429768">
                <a:tc>
                  <a:txBody>
                    <a:bodyPr/>
                    <a:lstStyle/>
                    <a:p>
                      <a:pPr indent="0" marL="0">
                        <a:buNone/>
                      </a:pPr>
                      <a:r>
                        <a:rPr lang="en-US" sz="1400" dirty="0">
                          <a:solidFill>
                            <a:srgbClr val="E4E4E4"/>
                          </a:solidFill>
                          <a:latin typeface="Open Sauce" pitchFamily="34" charset="0"/>
                          <a:ea typeface="Open Sauce" pitchFamily="34" charset="-122"/>
                          <a:cs typeface="Open Sauce" pitchFamily="34" charset="-120"/>
                        </a:rPr>
                        <a:t>Net Year-1 ROI</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dirty="0">
                          <a:solidFill>
                            <a:srgbClr val="A8A8A8"/>
                          </a:solidFill>
                          <a:latin typeface="Open Sauce" pitchFamily="34" charset="0"/>
                          <a:ea typeface="Open Sauce" pitchFamily="34" charset="-122"/>
                          <a:cs typeface="Open Sauce" pitchFamily="34" charset="-120"/>
                        </a:rPr>
                        <a:t>—</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E4E4E4"/>
                          </a:solidFill>
                          <a:latin typeface="Open Sauce" pitchFamily="34" charset="0"/>
                          <a:ea typeface="Open Sauce" pitchFamily="34" charset="-122"/>
                          <a:cs typeface="Open Sauce" pitchFamily="34" charset="-120"/>
                        </a:rPr>
                        <a:t>8.4x</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400" b="1" dirty="0">
                          <a:solidFill>
                            <a:srgbClr val="FF9A4D"/>
                          </a:solidFill>
                          <a:latin typeface="Open Sauce" pitchFamily="34" charset="0"/>
                          <a:ea typeface="Open Sauce" pitchFamily="34" charset="-122"/>
                          <a:cs typeface="Open Sauce" pitchFamily="34" charset="-120"/>
                        </a:rPr>
                        <a:t>On implementation spend</a:t>
                      </a:r>
                      <a:endParaRPr lang="en-US" sz="1400" dirty="0">
                        <a:latin typeface="Open Sauce" charset="0"/>
                        <a:ea typeface="Open Sauce" charset="0"/>
                        <a:cs typeface="Open Sauce" charset="0"/>
                      </a:endParaRPr>
                    </a:p>
                  </a:txBody>
                  <a:tcPr marL="137160" marR="137160" marT="27432" marB="27432"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r>
            </a:tbl>
          </a:graphicData>
        </a:graphic>
      </p:graphicFrame>
      <p:sp>
        <p:nvSpPr>
          <p:cNvPr id="8" name="Text 4"/>
          <p:cNvSpPr txBox="1"/>
          <p:nvPr/>
        </p:nvSpPr>
        <p:spPr>
          <a:xfrm>
            <a:off x="1097280" y="7178040"/>
            <a:ext cx="9875520" cy="548640"/>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Not counted in ROI: recovery uplift, analyst capacity freed, regulatory exposure avoided, acquisition from the 32% fear-of-fraud segment.</a:t>
            </a:r>
            <a:endParaRPr lang="en-US" sz="1600" dirty="0"/>
          </a:p>
        </p:txBody>
      </p:sp>
      <p:sp>
        <p:nvSpPr>
          <p:cNvPr id="9" name="Shape 5"/>
          <p:cNvSpPr/>
          <p:nvPr/>
        </p:nvSpPr>
        <p:spPr>
          <a:xfrm>
            <a:off x="11201400" y="3520440"/>
            <a:ext cx="5989320" cy="2834640"/>
          </a:xfrm>
          <a:prstGeom prst="roundRect">
            <a:avLst>
              <a:gd name="adj" fmla="val 7097"/>
            </a:avLst>
          </a:prstGeom>
          <a:solidFill>
            <a:srgbClr val="141414"/>
          </a:solidFill>
          <a:ln w="12700">
            <a:solidFill>
              <a:srgbClr val="141414"/>
            </a:solidFill>
            <a:prstDash val="solid"/>
          </a:ln>
        </p:spPr>
      </p:sp>
      <p:graphicFrame>
        <p:nvGraphicFramePr>
          <p:cNvPr id="10" name="Chart 0" descr=""/>
          <p:cNvGraphicFramePr/>
          <p:nvPr/>
        </p:nvGraphicFramePr>
        <p:xfrm>
          <a:off x="11292840" y="3611880"/>
          <a:ext cx="5806440" cy="2651760"/>
        </p:xfrm>
        <a:graphic xmlns:a="http://schemas.openxmlformats.org/drawingml/2006/main">
          <a:graphicData uri="http://schemas.openxmlformats.org/drawingml/2006/chart">
            <c:chart xmlns:c="http://schemas.openxmlformats.org/drawingml/2006/chart" r:id="rId1"/>
          </a:graphicData>
        </a:graphic>
      </p:graphicFrame>
      <p:sp>
        <p:nvSpPr>
          <p:cNvPr id="11" name="Shape 6"/>
          <p:cNvSpPr/>
          <p:nvPr/>
        </p:nvSpPr>
        <p:spPr>
          <a:xfrm>
            <a:off x="11201400" y="6492240"/>
            <a:ext cx="5989320" cy="1188720"/>
          </a:xfrm>
          <a:prstGeom prst="roundRect">
            <a:avLst>
              <a:gd name="adj" fmla="val 16923"/>
            </a:avLst>
          </a:prstGeom>
          <a:solidFill>
            <a:srgbClr val="1E1E1E"/>
          </a:solidFill>
          <a:ln w="12700">
            <a:solidFill>
              <a:srgbClr val="1E1E1E"/>
            </a:solidFill>
            <a:prstDash val="solid"/>
          </a:ln>
        </p:spPr>
      </p:sp>
      <p:sp>
        <p:nvSpPr>
          <p:cNvPr id="12" name="Text 7"/>
          <p:cNvSpPr txBox="1"/>
          <p:nvPr/>
        </p:nvSpPr>
        <p:spPr>
          <a:xfrm>
            <a:off x="11475720" y="6583680"/>
            <a:ext cx="5440680" cy="1005840"/>
          </a:xfrm>
          <a:prstGeom prst="rect">
            <a:avLst/>
          </a:prstGeom>
          <a:noFill/>
          <a:ln/>
        </p:spPr>
        <p:txBody>
          <a:bodyPr wrap="square" lIns="0" tIns="0" rIns="0" bIns="0" rtlCol="0" anchor="ctr"/>
          <a:lstStyle/>
          <a:p>
            <a:pPr indent="0" marL="0">
              <a:buNone/>
            </a:pPr>
            <a:r>
              <a:rPr lang="en-US" sz="1600" b="1" dirty="0">
                <a:solidFill>
                  <a:srgbClr val="E4E4E4"/>
                </a:solidFill>
                <a:latin typeface="Open Sauce" pitchFamily="34" charset="0"/>
                <a:ea typeface="Open Sauce" pitchFamily="34" charset="-122"/>
                <a:cs typeface="Open Sauce" pitchFamily="34" charset="-120"/>
              </a:rPr>
              <a:t>Preserved = ৳50.4M − ৳7.76M = ৳42,638,400</a:t>
            </a:r>
            <a:endParaRPr lang="en-US" sz="1600" dirty="0"/>
          </a:p>
          <a:p>
            <a:pPr indent="0" marL="0">
              <a:buNone/>
            </a:pPr>
            <a:r>
              <a:rPr lang="en-US" sz="1600" dirty="0">
                <a:solidFill>
                  <a:srgbClr val="FF9A4D"/>
                </a:solidFill>
                <a:latin typeface="Open Sauce" pitchFamily="34" charset="0"/>
                <a:ea typeface="Open Sauce" pitchFamily="34" charset="-122"/>
                <a:cs typeface="Open Sauce" pitchFamily="34" charset="-120"/>
              </a:rPr>
              <a:t>Quantified Y1 benefit ≈ ৳42.64M + ৳14.2M ≈ ৳56.8M</a:t>
            </a:r>
            <a:endParaRPr lang="en-US" sz="1600" dirty="0"/>
          </a:p>
        </p:txBody>
      </p:sp>
      <p:sp>
        <p:nvSpPr>
          <p:cNvPr id="13" name="Shape 8"/>
          <p:cNvSpPr/>
          <p:nvPr/>
        </p:nvSpPr>
        <p:spPr>
          <a:xfrm>
            <a:off x="1097280" y="7818120"/>
            <a:ext cx="3851910" cy="1005840"/>
          </a:xfrm>
          <a:prstGeom prst="roundRect">
            <a:avLst>
              <a:gd name="adj" fmla="val 20000"/>
            </a:avLst>
          </a:prstGeom>
          <a:solidFill>
            <a:srgbClr val="1E1E1E"/>
          </a:solidFill>
          <a:ln w="12700">
            <a:solidFill>
              <a:srgbClr val="1E1E1E"/>
            </a:solidFill>
            <a:prstDash val="solid"/>
          </a:ln>
        </p:spPr>
      </p:sp>
      <p:sp>
        <p:nvSpPr>
          <p:cNvPr id="14" name="Text 9"/>
          <p:cNvSpPr txBox="1"/>
          <p:nvPr/>
        </p:nvSpPr>
        <p:spPr>
          <a:xfrm>
            <a:off x="137160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৳42.6M</a:t>
            </a:r>
            <a:endParaRPr lang="en-US" sz="3500" dirty="0"/>
          </a:p>
        </p:txBody>
      </p:sp>
      <p:sp>
        <p:nvSpPr>
          <p:cNvPr id="15" name="Text 10"/>
          <p:cNvSpPr txBox="1"/>
          <p:nvPr/>
        </p:nvSpPr>
        <p:spPr>
          <a:xfrm>
            <a:off x="137160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Capital preserved per year</a:t>
            </a:r>
            <a:endParaRPr lang="en-US" sz="1400" dirty="0"/>
          </a:p>
        </p:txBody>
      </p:sp>
      <p:sp>
        <p:nvSpPr>
          <p:cNvPr id="16" name="Shape 11"/>
          <p:cNvSpPr/>
          <p:nvPr/>
        </p:nvSpPr>
        <p:spPr>
          <a:xfrm>
            <a:off x="5177790" y="7818120"/>
            <a:ext cx="3851910" cy="1005840"/>
          </a:xfrm>
          <a:prstGeom prst="roundRect">
            <a:avLst>
              <a:gd name="adj" fmla="val 20000"/>
            </a:avLst>
          </a:prstGeom>
          <a:solidFill>
            <a:srgbClr val="1E1E1E"/>
          </a:solidFill>
          <a:ln w="12700">
            <a:solidFill>
              <a:srgbClr val="1E1E1E"/>
            </a:solidFill>
            <a:prstDash val="solid"/>
          </a:ln>
        </p:spPr>
      </p:sp>
      <p:sp>
        <p:nvSpPr>
          <p:cNvPr id="17" name="Text 12"/>
          <p:cNvSpPr txBox="1"/>
          <p:nvPr/>
        </p:nvSpPr>
        <p:spPr>
          <a:xfrm>
            <a:off x="545211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84.6%</a:t>
            </a:r>
            <a:endParaRPr lang="en-US" sz="3500" dirty="0"/>
          </a:p>
        </p:txBody>
      </p:sp>
      <p:sp>
        <p:nvSpPr>
          <p:cNvPr id="18" name="Text 13"/>
          <p:cNvSpPr txBox="1"/>
          <p:nvPr/>
        </p:nvSpPr>
        <p:spPr>
          <a:xfrm>
            <a:off x="545211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Net fraud-loss reduction</a:t>
            </a:r>
            <a:endParaRPr lang="en-US" sz="1400" dirty="0"/>
          </a:p>
        </p:txBody>
      </p:sp>
      <p:sp>
        <p:nvSpPr>
          <p:cNvPr id="19" name="Shape 14"/>
          <p:cNvSpPr/>
          <p:nvPr/>
        </p:nvSpPr>
        <p:spPr>
          <a:xfrm>
            <a:off x="9258300" y="7818120"/>
            <a:ext cx="3851910" cy="1005840"/>
          </a:xfrm>
          <a:prstGeom prst="roundRect">
            <a:avLst>
              <a:gd name="adj" fmla="val 20000"/>
            </a:avLst>
          </a:prstGeom>
          <a:solidFill>
            <a:srgbClr val="1E1E1E"/>
          </a:solidFill>
          <a:ln w="12700">
            <a:solidFill>
              <a:srgbClr val="1E1E1E"/>
            </a:solidFill>
            <a:prstDash val="solid"/>
          </a:ln>
        </p:spPr>
      </p:sp>
      <p:sp>
        <p:nvSpPr>
          <p:cNvPr id="20" name="Text 15"/>
          <p:cNvSpPr txBox="1"/>
          <p:nvPr/>
        </p:nvSpPr>
        <p:spPr>
          <a:xfrm>
            <a:off x="953262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৳14.2M</a:t>
            </a:r>
            <a:endParaRPr lang="en-US" sz="3500" dirty="0"/>
          </a:p>
        </p:txBody>
      </p:sp>
      <p:sp>
        <p:nvSpPr>
          <p:cNvPr id="21" name="Text 16"/>
          <p:cNvSpPr txBox="1"/>
          <p:nvPr/>
        </p:nvSpPr>
        <p:spPr>
          <a:xfrm>
            <a:off x="953262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Customer lifetime value saved</a:t>
            </a:r>
            <a:endParaRPr lang="en-US" sz="1400" dirty="0"/>
          </a:p>
        </p:txBody>
      </p:sp>
      <p:sp>
        <p:nvSpPr>
          <p:cNvPr id="22" name="Shape 17"/>
          <p:cNvSpPr/>
          <p:nvPr/>
        </p:nvSpPr>
        <p:spPr>
          <a:xfrm>
            <a:off x="13338810" y="7818120"/>
            <a:ext cx="3851910" cy="1005840"/>
          </a:xfrm>
          <a:prstGeom prst="roundRect">
            <a:avLst>
              <a:gd name="adj" fmla="val 20000"/>
            </a:avLst>
          </a:prstGeom>
          <a:solidFill>
            <a:srgbClr val="1E1E1E"/>
          </a:solidFill>
          <a:ln w="12700">
            <a:solidFill>
              <a:srgbClr val="1E1E1E"/>
            </a:solidFill>
            <a:prstDash val="solid"/>
          </a:ln>
        </p:spPr>
      </p:sp>
      <p:sp>
        <p:nvSpPr>
          <p:cNvPr id="23" name="Text 18"/>
          <p:cNvSpPr txBox="1"/>
          <p:nvPr/>
        </p:nvSpPr>
        <p:spPr>
          <a:xfrm>
            <a:off x="1361313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8.4x</a:t>
            </a:r>
            <a:endParaRPr lang="en-US" sz="3500" dirty="0"/>
          </a:p>
        </p:txBody>
      </p:sp>
      <p:sp>
        <p:nvSpPr>
          <p:cNvPr id="24" name="Text 19"/>
          <p:cNvSpPr txBox="1"/>
          <p:nvPr/>
        </p:nvSpPr>
        <p:spPr>
          <a:xfrm>
            <a:off x="1361313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Net Year-1 ROI</a:t>
            </a:r>
            <a:endParaRPr lang="en-US" sz="1400" dirty="0"/>
          </a:p>
        </p:txBody>
      </p:sp>
      <p:sp>
        <p:nvSpPr>
          <p:cNvPr id="25" name="Slide Number Placeholder 0"/>
          <p:cNvSpPr>
            <a:spLocks noGrp="1"/>
          </p:cNvSpPr>
          <p:nvPr>
            <p:ph type="sldNum" sz="quarter" idx="4294967295"/>
          </p:nvPr>
        </p:nvSpPr>
        <p:spPr>
          <a:xfrm>
            <a:off x="15361920" y="9418320"/>
            <a:ext cx="1828800" cy="320040"/>
          </a:xfrm>
          <a:prstGeom prst="rect">
            <a:avLst/>
          </a:prstGeom>
          <a:extLst>
            <a:ext uri="{C572A759-6A51-4108-AA02-DFA0A04FC94B}">
              <ma14:wrappingTextBoxFlag xmlns:ma14="http://schemas.microsoft.com/office/mac/drawingml/2011/main" val="0"/>
            </a:ext>
          </a:extLst>
        </p:spPr>
        <p:txBody>
          <a:bodyPr/>
          <a:lstStyle>
            <a:lvl1pPr>
              <a:defRPr sz="1600">
                <a:solidFill>
                  <a:srgbClr val="A8A8A8"/>
                </a:solidFill>
                <a:latin typeface="Open Sauce"/>
                <a:ea typeface="Open Sauce"/>
                <a:cs typeface="Open Sauce"/>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13295376" y="457200"/>
            <a:ext cx="3895344" cy="457200"/>
          </a:xfrm>
          <a:prstGeom prst="roundRect">
            <a:avLst>
              <a:gd name="adj" fmla="val 50000"/>
            </a:avLst>
          </a:prstGeom>
          <a:solidFill>
            <a:srgbClr val="FFFFFF"/>
          </a:solidFill>
          <a:ln w="12700">
            <a:solidFill>
              <a:srgbClr val="FFFFFF"/>
            </a:solidFill>
            <a:prstDash val="solid"/>
          </a:ln>
        </p:spPr>
      </p:sp>
      <p:sp>
        <p:nvSpPr>
          <p:cNvPr id="3" name="Text 1"/>
          <p:cNvSpPr txBox="1"/>
          <p:nvPr/>
        </p:nvSpPr>
        <p:spPr>
          <a:xfrm>
            <a:off x="13295376" y="457200"/>
            <a:ext cx="3895344" cy="457200"/>
          </a:xfrm>
          <a:prstGeom prst="rect">
            <a:avLst/>
          </a:prstGeom>
          <a:noFill/>
          <a:ln/>
        </p:spPr>
        <p:txBody>
          <a:bodyPr wrap="square" lIns="0" tIns="0" rIns="0" bIns="0" rtlCol="0" anchor="ctr"/>
          <a:lstStyle/>
          <a:p>
            <a:pPr algn="ctr" indent="0" marL="0">
              <a:buNone/>
            </a:pPr>
            <a:r>
              <a:rPr lang="en-US" sz="1700" dirty="0">
                <a:solidFill>
                  <a:srgbClr val="000000"/>
                </a:solidFill>
                <a:latin typeface="Open Sauce" pitchFamily="34" charset="0"/>
                <a:ea typeface="Open Sauce" pitchFamily="34" charset="-122"/>
                <a:cs typeface="Open Sauce" pitchFamily="34" charset="-120"/>
              </a:rPr>
              <a:t>13 · COMPETITIVE MOAT</a:t>
            </a:r>
            <a:endParaRPr lang="en-US" sz="1700" dirty="0"/>
          </a:p>
        </p:txBody>
      </p:sp>
      <p:sp>
        <p:nvSpPr>
          <p:cNvPr id="4" name="Title"/>
          <p:cNvSpPr txBox="1"/>
          <p:nvPr/>
        </p:nvSpPr>
        <p:spPr>
          <a:xfrm>
            <a:off x="1097280" y="1188720"/>
            <a:ext cx="16093440" cy="1005840"/>
          </a:xfrm>
          <a:prstGeom prst="rect">
            <a:avLst/>
          </a:prstGeom>
          <a:noFill/>
          <a:ln/>
        </p:spPr>
        <p:txBody>
          <a:bodyPr wrap="square" lIns="0" tIns="0" rIns="0" bIns="0" rtlCol="0" anchor="t"/>
          <a:lstStyle/>
          <a:p>
            <a:pPr indent="0" marL="0">
              <a:buNone/>
            </a:pPr>
            <a:r>
              <a:rPr lang="en-US" sz="3800" b="1" dirty="0">
                <a:solidFill>
                  <a:srgbClr val="E4E4E4"/>
                </a:solidFill>
                <a:latin typeface="Open Sauce Bold" pitchFamily="34" charset="0"/>
                <a:ea typeface="Open Sauce Bold" pitchFamily="34" charset="-122"/>
                <a:cs typeface="Open Sauce Bold" pitchFamily="34" charset="-120"/>
              </a:rPr>
              <a:t>Six axes where rules and generic ML cannot follow</a:t>
            </a:r>
            <a:endParaRPr lang="en-US" sz="3800" dirty="0"/>
          </a:p>
        </p:txBody>
      </p:sp>
      <p:sp>
        <p:nvSpPr>
          <p:cNvPr id="5" name="Subtitle"/>
          <p:cNvSpPr txBox="1"/>
          <p:nvPr/>
        </p:nvSpPr>
        <p:spPr>
          <a:xfrm>
            <a:off x="1097280" y="2286000"/>
            <a:ext cx="16093440" cy="868680"/>
          </a:xfrm>
          <a:prstGeom prst="rect">
            <a:avLst/>
          </a:prstGeom>
          <a:noFill/>
          <a:ln/>
        </p:spPr>
        <p:txBody>
          <a:bodyPr wrap="square" lIns="0" tIns="0" rIns="0" bIns="0" rtlCol="0" anchor="t"/>
          <a:lstStyle/>
          <a:p>
            <a:pPr indent="0" marL="0">
              <a:buNone/>
            </a:pPr>
            <a:r>
              <a:rPr lang="en-US" sz="2100" dirty="0">
                <a:solidFill>
                  <a:srgbClr val="A8A8A8"/>
                </a:solidFill>
                <a:latin typeface="Open Sauce" pitchFamily="34" charset="0"/>
                <a:ea typeface="Open Sauce" pitchFamily="34" charset="-122"/>
                <a:cs typeface="Open Sauce" pitchFamily="34" charset="-120"/>
              </a:rPr>
              <a:t>upay Shield benchmarked against classical rule engines (FICO / SAS class) and generic machine-learning scoring.</a:t>
            </a:r>
            <a:endParaRPr lang="en-US" sz="2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1097280" y="3520440"/>
          <a:ext cx="16093440" cy="914400"/>
        </p:xfrm>
        <a:graphic>
          <a:graphicData uri="http://schemas.openxmlformats.org/drawingml/2006/table">
            <a:tbl>
              <a:tblPr/>
              <a:tblGrid>
                <a:gridCol w="3474720"/>
                <a:gridCol w="3749040"/>
                <a:gridCol w="3749040"/>
                <a:gridCol w="5120640"/>
              </a:tblGrid>
              <a:tr h="411480">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AXIS</a:t>
                      </a:r>
                      <a:endParaRPr lang="en-US" sz="1400" dirty="0">
                        <a:latin typeface="Open Sauce Bold" charset="0"/>
                        <a:ea typeface="Open Sauce Bold" charset="0"/>
                        <a:cs typeface="Open Sauce Bold"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E1E1E"/>
                    </a:solidFill>
                  </a:tcPr>
                </a:tc>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CLASSICAL RULES</a:t>
                      </a:r>
                      <a:endParaRPr lang="en-US" sz="1400" dirty="0">
                        <a:latin typeface="Open Sauce Bold" charset="0"/>
                        <a:ea typeface="Open Sauce Bold" charset="0"/>
                        <a:cs typeface="Open Sauce Bold"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E1E1E"/>
                    </a:solidFill>
                  </a:tcPr>
                </a:tc>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GENERIC ML</a:t>
                      </a:r>
                      <a:endParaRPr lang="en-US" sz="1400" dirty="0">
                        <a:latin typeface="Open Sauce Bold" charset="0"/>
                        <a:ea typeface="Open Sauce Bold" charset="0"/>
                        <a:cs typeface="Open Sauce Bold"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E1E1E"/>
                    </a:solidFill>
                  </a:tcPr>
                </a:tc>
                <a:tc>
                  <a:txBody>
                    <a:bodyPr/>
                    <a:lstStyle/>
                    <a:p>
                      <a:pPr indent="0" marL="0">
                        <a:buNone/>
                      </a:pPr>
                      <a:r>
                        <a:rPr lang="en-US" sz="1400" b="1" dirty="0">
                          <a:solidFill>
                            <a:srgbClr val="F7761F"/>
                          </a:solidFill>
                          <a:latin typeface="Open Sauce Bold" pitchFamily="34" charset="0"/>
                          <a:ea typeface="Open Sauce Bold" pitchFamily="34" charset="-122"/>
                          <a:cs typeface="Open Sauce Bold" pitchFamily="34" charset="-120"/>
                        </a:rPr>
                        <a:t>UPAY SHIELD</a:t>
                      </a:r>
                      <a:endParaRPr lang="en-US" sz="1400" dirty="0">
                        <a:latin typeface="Open Sauce Bold" charset="0"/>
                        <a:ea typeface="Open Sauce Bold" charset="0"/>
                        <a:cs typeface="Open Sauce Bold"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3A1D0A"/>
                    </a:solidFill>
                  </a:tcPr>
                </a:tc>
              </a:tr>
              <a:tr h="594360">
                <a:tc>
                  <a:txBody>
                    <a:bodyPr/>
                    <a:lstStyle/>
                    <a:p>
                      <a:pPr indent="0" marL="0">
                        <a:buNone/>
                      </a:pPr>
                      <a:r>
                        <a:rPr lang="en-US" sz="1400" b="1" dirty="0">
                          <a:solidFill>
                            <a:srgbClr val="E4E4E4"/>
                          </a:solidFill>
                          <a:latin typeface="Open Sauce" pitchFamily="34" charset="0"/>
                          <a:ea typeface="Open Sauce" pitchFamily="34" charset="-122"/>
                          <a:cs typeface="Open Sauce" pitchFamily="34" charset="-120"/>
                        </a:rPr>
                        <a:t>Pre-transfer intervention</a:t>
                      </a:r>
                      <a:endParaRPr lang="en-US" sz="14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500" b="1" dirty="0">
                          <a:solidFill>
                            <a:srgbClr val="8A8A8A"/>
                          </a:solidFill>
                          <a:latin typeface="Open Sauce" pitchFamily="34" charset="0"/>
                          <a:ea typeface="Open Sauce" pitchFamily="34" charset="-122"/>
                          <a:cs typeface="Open Sauce" pitchFamily="34" charset="-120"/>
                        </a:rPr>
                        <a:t>✕ </a:t>
                      </a:r>
                      <a:pPr indent="0" marL="0">
                        <a:buNone/>
                      </a:pPr>
                      <a:r>
                        <a:rPr lang="en-US" sz="1500" dirty="0">
                          <a:solidFill>
                            <a:srgbClr val="A8A8A8"/>
                          </a:solidFill>
                          <a:latin typeface="Open Sauce" pitchFamily="34" charset="0"/>
                          <a:ea typeface="Open Sauce" pitchFamily="34" charset="-122"/>
                          <a:cs typeface="Open Sauce" pitchFamily="34" charset="-120"/>
                        </a:rPr>
                        <a:t>Post-transaction only</a:t>
                      </a:r>
                      <a:endParaRPr lang="en-US" sz="15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500" b="1" dirty="0">
                          <a:solidFill>
                            <a:srgbClr val="8A8A8A"/>
                          </a:solidFill>
                          <a:latin typeface="Open Sauce" pitchFamily="34" charset="0"/>
                          <a:ea typeface="Open Sauce" pitchFamily="34" charset="-122"/>
                          <a:cs typeface="Open Sauce" pitchFamily="34" charset="-120"/>
                        </a:rPr>
                        <a:t>✕ </a:t>
                      </a:r>
                      <a:pPr indent="0" marL="0">
                        <a:buNone/>
                      </a:pPr>
                      <a:r>
                        <a:rPr lang="en-US" sz="1500" dirty="0">
                          <a:solidFill>
                            <a:srgbClr val="A8A8A8"/>
                          </a:solidFill>
                          <a:latin typeface="Open Sauce" pitchFamily="34" charset="0"/>
                          <a:ea typeface="Open Sauce" pitchFamily="34" charset="-122"/>
                          <a:cs typeface="Open Sauce" pitchFamily="34" charset="-120"/>
                        </a:rPr>
                        <a:t>Post-transaction scoring</a:t>
                      </a:r>
                      <a:endParaRPr lang="en-US" sz="15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500" b="1" dirty="0">
                          <a:solidFill>
                            <a:srgbClr val="F7761F"/>
                          </a:solidFill>
                          <a:latin typeface="Open Sauce" pitchFamily="34" charset="0"/>
                          <a:ea typeface="Open Sauce" pitchFamily="34" charset="-122"/>
                          <a:cs typeface="Open Sauce" pitchFamily="34" charset="-120"/>
                        </a:rPr>
                        <a:t>✓ </a:t>
                      </a:r>
                      <a:pPr indent="0" marL="0">
                        <a:buNone/>
                      </a:pPr>
                      <a:r>
                        <a:rPr lang="en-US" sz="1500" b="1" dirty="0">
                          <a:solidFill>
                            <a:srgbClr val="E4E4E4"/>
                          </a:solidFill>
                          <a:latin typeface="Open Sauce" pitchFamily="34" charset="0"/>
                          <a:ea typeface="Open Sauce" pitchFamily="34" charset="-122"/>
                          <a:cs typeface="Open Sauce" pitchFamily="34" charset="-120"/>
                        </a:rPr>
                        <a:t>Bilingual Pause &amp; Verify before confirm</a:t>
                      </a:r>
                      <a:endParaRPr lang="en-US" sz="15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2A1608"/>
                    </a:solidFill>
                  </a:tcPr>
                </a:tc>
              </a:tr>
              <a:tr h="594360">
                <a:tc>
                  <a:txBody>
                    <a:bodyPr/>
                    <a:lstStyle/>
                    <a:p>
                      <a:pPr indent="0" marL="0">
                        <a:buNone/>
                      </a:pPr>
                      <a:r>
                        <a:rPr lang="en-US" sz="1400" b="1" dirty="0">
                          <a:solidFill>
                            <a:srgbClr val="E4E4E4"/>
                          </a:solidFill>
                          <a:latin typeface="Open Sauce" pitchFamily="34" charset="0"/>
                          <a:ea typeface="Open Sauce" pitchFamily="34" charset="-122"/>
                          <a:cs typeface="Open Sauce" pitchFamily="34" charset="-120"/>
                        </a:rPr>
                        <a:t>Dialect NLP</a:t>
                      </a:r>
                      <a:endParaRPr lang="en-US" sz="14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500" b="1" dirty="0">
                          <a:solidFill>
                            <a:srgbClr val="8A8A8A"/>
                          </a:solidFill>
                          <a:latin typeface="Open Sauce" pitchFamily="34" charset="0"/>
                          <a:ea typeface="Open Sauce" pitchFamily="34" charset="-122"/>
                          <a:cs typeface="Open Sauce" pitchFamily="34" charset="-120"/>
                        </a:rPr>
                        <a:t>✕ </a:t>
                      </a:r>
                      <a:pPr indent="0" marL="0">
                        <a:buNone/>
                      </a:pPr>
                      <a:r>
                        <a:rPr lang="en-US" sz="1500" dirty="0">
                          <a:solidFill>
                            <a:srgbClr val="A8A8A8"/>
                          </a:solidFill>
                          <a:latin typeface="Open Sauce" pitchFamily="34" charset="0"/>
                          <a:ea typeface="Open Sauce" pitchFamily="34" charset="-122"/>
                          <a:cs typeface="Open Sauce" pitchFamily="34" charset="-120"/>
                        </a:rPr>
                        <a:t>English keywords only</a:t>
                      </a:r>
                      <a:endParaRPr lang="en-US" sz="15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500" b="1" dirty="0">
                          <a:solidFill>
                            <a:srgbClr val="8A8A8A"/>
                          </a:solidFill>
                          <a:latin typeface="Open Sauce" pitchFamily="34" charset="0"/>
                          <a:ea typeface="Open Sauce" pitchFamily="34" charset="-122"/>
                          <a:cs typeface="Open Sauce" pitchFamily="34" charset="-120"/>
                        </a:rPr>
                        <a:t>✕ </a:t>
                      </a:r>
                      <a:pPr indent="0" marL="0">
                        <a:buNone/>
                      </a:pPr>
                      <a:r>
                        <a:rPr lang="en-US" sz="1500" dirty="0">
                          <a:solidFill>
                            <a:srgbClr val="A8A8A8"/>
                          </a:solidFill>
                          <a:latin typeface="Open Sauce" pitchFamily="34" charset="0"/>
                          <a:ea typeface="Open Sauce" pitchFamily="34" charset="-122"/>
                          <a:cs typeface="Open Sauce" pitchFamily="34" charset="-120"/>
                        </a:rPr>
                        <a:t>English keywords only</a:t>
                      </a:r>
                      <a:endParaRPr lang="en-US" sz="15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500" b="1" dirty="0">
                          <a:solidFill>
                            <a:srgbClr val="F7761F"/>
                          </a:solidFill>
                          <a:latin typeface="Open Sauce" pitchFamily="34" charset="0"/>
                          <a:ea typeface="Open Sauce" pitchFamily="34" charset="-122"/>
                          <a:cs typeface="Open Sauce" pitchFamily="34" charset="-120"/>
                        </a:rPr>
                        <a:t>✓ </a:t>
                      </a:r>
                      <a:pPr indent="0" marL="0">
                        <a:buNone/>
                      </a:pPr>
                      <a:r>
                        <a:rPr lang="en-US" sz="1500" b="1" dirty="0">
                          <a:solidFill>
                            <a:srgbClr val="E4E4E4"/>
                          </a:solidFill>
                          <a:latin typeface="Open Sauce" pitchFamily="34" charset="0"/>
                          <a:ea typeface="Open Sauce" pitchFamily="34" charset="-122"/>
                          <a:cs typeface="Open Sauce" pitchFamily="34" charset="-120"/>
                        </a:rPr>
                        <a:t>Bangla / Banglish / English hybrid</a:t>
                      </a:r>
                      <a:endParaRPr lang="en-US" sz="15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2A1608"/>
                    </a:solidFill>
                  </a:tcPr>
                </a:tc>
              </a:tr>
              <a:tr h="594360">
                <a:tc>
                  <a:txBody>
                    <a:bodyPr/>
                    <a:lstStyle/>
                    <a:p>
                      <a:pPr indent="0" marL="0">
                        <a:buNone/>
                      </a:pPr>
                      <a:r>
                        <a:rPr lang="en-US" sz="1400" b="1" dirty="0">
                          <a:solidFill>
                            <a:srgbClr val="E4E4E4"/>
                          </a:solidFill>
                          <a:latin typeface="Open Sauce" pitchFamily="34" charset="0"/>
                          <a:ea typeface="Open Sauce" pitchFamily="34" charset="-122"/>
                          <a:cs typeface="Open Sauce" pitchFamily="34" charset="-120"/>
                        </a:rPr>
                        <a:t>Mule-network AI</a:t>
                      </a:r>
                      <a:endParaRPr lang="en-US" sz="14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500" b="1" dirty="0">
                          <a:solidFill>
                            <a:srgbClr val="FF9A4D"/>
                          </a:solidFill>
                          <a:latin typeface="Open Sauce" pitchFamily="34" charset="0"/>
                          <a:ea typeface="Open Sauce" pitchFamily="34" charset="-122"/>
                          <a:cs typeface="Open Sauce" pitchFamily="34" charset="-120"/>
                        </a:rPr>
                        <a:t>◐ </a:t>
                      </a:r>
                      <a:pPr indent="0" marL="0">
                        <a:buNone/>
                      </a:pPr>
                      <a:r>
                        <a:rPr lang="en-US" sz="1500" dirty="0">
                          <a:solidFill>
                            <a:srgbClr val="A8A8A8"/>
                          </a:solidFill>
                          <a:latin typeface="Open Sauce" pitchFamily="34" charset="0"/>
                          <a:ea typeface="Open Sauce" pitchFamily="34" charset="-122"/>
                          <a:cs typeface="Open Sauce" pitchFamily="34" charset="-120"/>
                        </a:rPr>
                        <a:t>Single-account limits</a:t>
                      </a:r>
                      <a:endParaRPr lang="en-US" sz="15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500" b="1" dirty="0">
                          <a:solidFill>
                            <a:srgbClr val="FF9A4D"/>
                          </a:solidFill>
                          <a:latin typeface="Open Sauce" pitchFamily="34" charset="0"/>
                          <a:ea typeface="Open Sauce" pitchFamily="34" charset="-122"/>
                          <a:cs typeface="Open Sauce" pitchFamily="34" charset="-120"/>
                        </a:rPr>
                        <a:t>◐ </a:t>
                      </a:r>
                      <a:pPr indent="0" marL="0">
                        <a:buNone/>
                      </a:pPr>
                      <a:r>
                        <a:rPr lang="en-US" sz="1500" dirty="0">
                          <a:solidFill>
                            <a:srgbClr val="A8A8A8"/>
                          </a:solidFill>
                          <a:latin typeface="Open Sauce" pitchFamily="34" charset="0"/>
                          <a:ea typeface="Open Sauce" pitchFamily="34" charset="-122"/>
                          <a:cs typeface="Open Sauce" pitchFamily="34" charset="-120"/>
                        </a:rPr>
                        <a:t>Slow batch jobs</a:t>
                      </a:r>
                      <a:endParaRPr lang="en-US" sz="15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500" b="1" dirty="0">
                          <a:solidFill>
                            <a:srgbClr val="F7761F"/>
                          </a:solidFill>
                          <a:latin typeface="Open Sauce" pitchFamily="34" charset="0"/>
                          <a:ea typeface="Open Sauce" pitchFamily="34" charset="-122"/>
                          <a:cs typeface="Open Sauce" pitchFamily="34" charset="-120"/>
                        </a:rPr>
                        <a:t>✓ </a:t>
                      </a:r>
                      <a:pPr indent="0" marL="0">
                        <a:buNone/>
                      </a:pPr>
                      <a:r>
                        <a:rPr lang="en-US" sz="1500" b="1" dirty="0">
                          <a:solidFill>
                            <a:srgbClr val="E4E4E4"/>
                          </a:solidFill>
                          <a:latin typeface="Open Sauce" pitchFamily="34" charset="0"/>
                          <a:ea typeface="Open Sauce" pitchFamily="34" charset="-122"/>
                          <a:cs typeface="Open Sauce" pitchFamily="34" charset="-120"/>
                        </a:rPr>
                        <a:t>FastTree clustering in &lt;5 ms</a:t>
                      </a:r>
                      <a:endParaRPr lang="en-US" sz="15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2A1608"/>
                    </a:solidFill>
                  </a:tcPr>
                </a:tc>
              </a:tr>
              <a:tr h="594360">
                <a:tc>
                  <a:txBody>
                    <a:bodyPr/>
                    <a:lstStyle/>
                    <a:p>
                      <a:pPr indent="0" marL="0">
                        <a:buNone/>
                      </a:pPr>
                      <a:r>
                        <a:rPr lang="en-US" sz="1400" b="1" dirty="0">
                          <a:solidFill>
                            <a:srgbClr val="E4E4E4"/>
                          </a:solidFill>
                          <a:latin typeface="Open Sauce" pitchFamily="34" charset="0"/>
                          <a:ea typeface="Open Sauce" pitchFamily="34" charset="-122"/>
                          <a:cs typeface="Open Sauce" pitchFamily="34" charset="-120"/>
                        </a:rPr>
                        <a:t>Golden-hour recovery</a:t>
                      </a:r>
                      <a:endParaRPr lang="en-US" sz="14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500" b="1" dirty="0">
                          <a:solidFill>
                            <a:srgbClr val="8A8A8A"/>
                          </a:solidFill>
                          <a:latin typeface="Open Sauce" pitchFamily="34" charset="0"/>
                          <a:ea typeface="Open Sauce" pitchFamily="34" charset="-122"/>
                          <a:cs typeface="Open Sauce" pitchFamily="34" charset="-120"/>
                        </a:rPr>
                        <a:t>✕ </a:t>
                      </a:r>
                      <a:pPr indent="0" marL="0">
                        <a:buNone/>
                      </a:pPr>
                      <a:r>
                        <a:rPr lang="en-US" sz="1500" dirty="0">
                          <a:solidFill>
                            <a:srgbClr val="A8A8A8"/>
                          </a:solidFill>
                          <a:latin typeface="Open Sauce" pitchFamily="34" charset="0"/>
                          <a:ea typeface="Open Sauce" pitchFamily="34" charset="-122"/>
                          <a:cs typeface="Open Sauce" pitchFamily="34" charset="-120"/>
                        </a:rPr>
                        <a:t>None</a:t>
                      </a:r>
                      <a:endParaRPr lang="en-US" sz="15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500" b="1" dirty="0">
                          <a:solidFill>
                            <a:srgbClr val="8A8A8A"/>
                          </a:solidFill>
                          <a:latin typeface="Open Sauce" pitchFamily="34" charset="0"/>
                          <a:ea typeface="Open Sauce" pitchFamily="34" charset="-122"/>
                          <a:cs typeface="Open Sauce" pitchFamily="34" charset="-120"/>
                        </a:rPr>
                        <a:t>✕ </a:t>
                      </a:r>
                      <a:pPr indent="0" marL="0">
                        <a:buNone/>
                      </a:pPr>
                      <a:r>
                        <a:rPr lang="en-US" sz="1500" dirty="0">
                          <a:solidFill>
                            <a:srgbClr val="A8A8A8"/>
                          </a:solidFill>
                          <a:latin typeface="Open Sauce" pitchFamily="34" charset="0"/>
                          <a:ea typeface="Open Sauce" pitchFamily="34" charset="-122"/>
                          <a:cs typeface="Open Sauce" pitchFamily="34" charset="-120"/>
                        </a:rPr>
                        <a:t>None</a:t>
                      </a:r>
                      <a:endParaRPr lang="en-US" sz="15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500" b="1" dirty="0">
                          <a:solidFill>
                            <a:srgbClr val="F7761F"/>
                          </a:solidFill>
                          <a:latin typeface="Open Sauce" pitchFamily="34" charset="0"/>
                          <a:ea typeface="Open Sauce" pitchFamily="34" charset="-122"/>
                          <a:cs typeface="Open Sauce" pitchFamily="34" charset="-120"/>
                        </a:rPr>
                        <a:t>✓ </a:t>
                      </a:r>
                      <a:pPr indent="0" marL="0">
                        <a:buNone/>
                      </a:pPr>
                      <a:r>
                        <a:rPr lang="en-US" sz="1500" b="1" dirty="0">
                          <a:solidFill>
                            <a:srgbClr val="E4E4E4"/>
                          </a:solidFill>
                          <a:latin typeface="Open Sauce" pitchFamily="34" charset="0"/>
                          <a:ea typeface="Open Sauce" pitchFamily="34" charset="-122"/>
                          <a:cs typeface="Open Sauce" pitchFamily="34" charset="-120"/>
                        </a:rPr>
                        <a:t>Time-decay routing, automated freezes</a:t>
                      </a:r>
                      <a:endParaRPr lang="en-US" sz="15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2A1608"/>
                    </a:solidFill>
                  </a:tcPr>
                </a:tc>
              </a:tr>
              <a:tr h="594360">
                <a:tc>
                  <a:txBody>
                    <a:bodyPr/>
                    <a:lstStyle/>
                    <a:p>
                      <a:pPr indent="0" marL="0">
                        <a:buNone/>
                      </a:pPr>
                      <a:r>
                        <a:rPr lang="en-US" sz="1400" b="1" dirty="0">
                          <a:solidFill>
                            <a:srgbClr val="E4E4E4"/>
                          </a:solidFill>
                          <a:latin typeface="Open Sauce" pitchFamily="34" charset="0"/>
                          <a:ea typeface="Open Sauce" pitchFamily="34" charset="-122"/>
                          <a:cs typeface="Open Sauce" pitchFamily="34" charset="-120"/>
                        </a:rPr>
                        <a:t>Agent liquidity</a:t>
                      </a:r>
                      <a:endParaRPr lang="en-US" sz="14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500" b="1" dirty="0">
                          <a:solidFill>
                            <a:srgbClr val="8A8A8A"/>
                          </a:solidFill>
                          <a:latin typeface="Open Sauce" pitchFamily="34" charset="0"/>
                          <a:ea typeface="Open Sauce" pitchFamily="34" charset="-122"/>
                          <a:cs typeface="Open Sauce" pitchFamily="34" charset="-120"/>
                        </a:rPr>
                        <a:t>✕ </a:t>
                      </a:r>
                      <a:pPr indent="0" marL="0">
                        <a:buNone/>
                      </a:pPr>
                      <a:r>
                        <a:rPr lang="en-US" sz="1500" dirty="0">
                          <a:solidFill>
                            <a:srgbClr val="A8A8A8"/>
                          </a:solidFill>
                          <a:latin typeface="Open Sauce" pitchFamily="34" charset="0"/>
                          <a:ea typeface="Open Sauce" pitchFamily="34" charset="-122"/>
                          <a:cs typeface="Open Sauce" pitchFamily="34" charset="-120"/>
                        </a:rPr>
                        <a:t>Freezes agents in festivals</a:t>
                      </a:r>
                      <a:endParaRPr lang="en-US" sz="15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500" b="1" dirty="0">
                          <a:solidFill>
                            <a:srgbClr val="8A8A8A"/>
                          </a:solidFill>
                          <a:latin typeface="Open Sauce" pitchFamily="34" charset="0"/>
                          <a:ea typeface="Open Sauce" pitchFamily="34" charset="-122"/>
                          <a:cs typeface="Open Sauce" pitchFamily="34" charset="-120"/>
                        </a:rPr>
                        <a:t>✕ </a:t>
                      </a:r>
                      <a:pPr indent="0" marL="0">
                        <a:buNone/>
                      </a:pPr>
                      <a:r>
                        <a:rPr lang="en-US" sz="1500" dirty="0">
                          <a:solidFill>
                            <a:srgbClr val="A8A8A8"/>
                          </a:solidFill>
                          <a:latin typeface="Open Sauce" pitchFamily="34" charset="0"/>
                          <a:ea typeface="Open Sauce" pitchFamily="34" charset="-122"/>
                          <a:cs typeface="Open Sauce" pitchFamily="34" charset="-120"/>
                        </a:rPr>
                        <a:t>Freezes agents in festivals</a:t>
                      </a:r>
                      <a:endParaRPr lang="en-US" sz="15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500" b="1" dirty="0">
                          <a:solidFill>
                            <a:srgbClr val="F7761F"/>
                          </a:solidFill>
                          <a:latin typeface="Open Sauce" pitchFamily="34" charset="0"/>
                          <a:ea typeface="Open Sauce" pitchFamily="34" charset="-122"/>
                          <a:cs typeface="Open Sauce" pitchFamily="34" charset="-120"/>
                        </a:rPr>
                        <a:t>✓ </a:t>
                      </a:r>
                      <a:pPr indent="0" marL="0">
                        <a:buNone/>
                      </a:pPr>
                      <a:r>
                        <a:rPr lang="en-US" sz="1500" b="1" dirty="0">
                          <a:solidFill>
                            <a:srgbClr val="E4E4E4"/>
                          </a:solidFill>
                          <a:latin typeface="Open Sauce" pitchFamily="34" charset="0"/>
                          <a:ea typeface="Open Sauce" pitchFamily="34" charset="-122"/>
                          <a:cs typeface="Open Sauce" pitchFamily="34" charset="-120"/>
                        </a:rPr>
                        <a:t>Orthogonal dual-vector scoring</a:t>
                      </a:r>
                      <a:endParaRPr lang="en-US" sz="15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2A1608"/>
                    </a:solidFill>
                  </a:tcPr>
                </a:tc>
              </a:tr>
              <a:tr h="594360">
                <a:tc>
                  <a:txBody>
                    <a:bodyPr/>
                    <a:lstStyle/>
                    <a:p>
                      <a:pPr indent="0" marL="0">
                        <a:buNone/>
                      </a:pPr>
                      <a:r>
                        <a:rPr lang="en-US" sz="1400" b="1" dirty="0">
                          <a:solidFill>
                            <a:srgbClr val="E4E4E4"/>
                          </a:solidFill>
                          <a:latin typeface="Open Sauce" pitchFamily="34" charset="0"/>
                          <a:ea typeface="Open Sauce" pitchFamily="34" charset="-122"/>
                          <a:cs typeface="Open Sauce" pitchFamily="34" charset="-120"/>
                        </a:rPr>
                        <a:t>Regulatory audit</a:t>
                      </a:r>
                      <a:endParaRPr lang="en-US" sz="14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500" b="1" dirty="0">
                          <a:solidFill>
                            <a:srgbClr val="FF9A4D"/>
                          </a:solidFill>
                          <a:latin typeface="Open Sauce" pitchFamily="34" charset="0"/>
                          <a:ea typeface="Open Sauce" pitchFamily="34" charset="-122"/>
                          <a:cs typeface="Open Sauce" pitchFamily="34" charset="-120"/>
                        </a:rPr>
                        <a:t>◐ </a:t>
                      </a:r>
                      <a:pPr indent="0" marL="0">
                        <a:buNone/>
                      </a:pPr>
                      <a:r>
                        <a:rPr lang="en-US" sz="1500" dirty="0">
                          <a:solidFill>
                            <a:srgbClr val="A8A8A8"/>
                          </a:solidFill>
                          <a:latin typeface="Open Sauce" pitchFamily="34" charset="0"/>
                          <a:ea typeface="Open Sauce" pitchFamily="34" charset="-122"/>
                          <a:cs typeface="Open Sauce" pitchFamily="34" charset="-120"/>
                        </a:rPr>
                        <a:t>Editable static logs</a:t>
                      </a:r>
                      <a:endParaRPr lang="en-US" sz="15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500" b="1" dirty="0">
                          <a:solidFill>
                            <a:srgbClr val="FF9A4D"/>
                          </a:solidFill>
                          <a:latin typeface="Open Sauce" pitchFamily="34" charset="0"/>
                          <a:ea typeface="Open Sauce" pitchFamily="34" charset="-122"/>
                          <a:cs typeface="Open Sauce" pitchFamily="34" charset="-120"/>
                        </a:rPr>
                        <a:t>◐ </a:t>
                      </a:r>
                      <a:pPr indent="0" marL="0">
                        <a:buNone/>
                      </a:pPr>
                      <a:r>
                        <a:rPr lang="en-US" sz="1500" dirty="0">
                          <a:solidFill>
                            <a:srgbClr val="A8A8A8"/>
                          </a:solidFill>
                          <a:latin typeface="Open Sauce" pitchFamily="34" charset="0"/>
                          <a:ea typeface="Open Sauce" pitchFamily="34" charset="-122"/>
                          <a:cs typeface="Open Sauce" pitchFamily="34" charset="-120"/>
                        </a:rPr>
                        <a:t>Black-box scores</a:t>
                      </a:r>
                      <a:endParaRPr lang="en-US" sz="15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141414"/>
                    </a:solidFill>
                  </a:tcPr>
                </a:tc>
                <a:tc>
                  <a:txBody>
                    <a:bodyPr/>
                    <a:lstStyle/>
                    <a:p>
                      <a:pPr indent="0" marL="0">
                        <a:buNone/>
                      </a:pPr>
                      <a:r>
                        <a:rPr lang="en-US" sz="1500" b="1" dirty="0">
                          <a:solidFill>
                            <a:srgbClr val="F7761F"/>
                          </a:solidFill>
                          <a:latin typeface="Open Sauce" pitchFamily="34" charset="0"/>
                          <a:ea typeface="Open Sauce" pitchFamily="34" charset="-122"/>
                          <a:cs typeface="Open Sauce" pitchFamily="34" charset="-120"/>
                        </a:rPr>
                        <a:t>✓ </a:t>
                      </a:r>
                      <a:pPr indent="0" marL="0">
                        <a:buNone/>
                      </a:pPr>
                      <a:r>
                        <a:rPr lang="en-US" sz="1500" b="1" dirty="0">
                          <a:solidFill>
                            <a:srgbClr val="E4E4E4"/>
                          </a:solidFill>
                          <a:latin typeface="Open Sauce" pitchFamily="34" charset="0"/>
                          <a:ea typeface="Open Sauce" pitchFamily="34" charset="-122"/>
                          <a:cs typeface="Open Sauce" pitchFamily="34" charset="-120"/>
                        </a:rPr>
                        <a:t>Immutable SHA-256 chained ledger</a:t>
                      </a:r>
                      <a:endParaRPr lang="en-US" sz="1500" dirty="0">
                        <a:latin typeface="Open Sauce" charset="0"/>
                        <a:ea typeface="Open Sauce" charset="0"/>
                        <a:cs typeface="Open Sauce" charset="0"/>
                      </a:endParaRPr>
                    </a:p>
                  </a:txBody>
                  <a:tcPr marL="137160" marR="137160" marT="54864" marB="54864" anchor="ctr">
                    <a:lnL w="9525" cap="flat" cmpd="sng" algn="ctr">
                      <a:solidFill>
                        <a:srgbClr val="3A3A3A"/>
                      </a:solidFill>
                      <a:prstDash val="solid"/>
                      <a:round/>
                      <a:headEnd type="none" w="med" len="med"/>
                      <a:tailEnd type="none" w="med" len="med"/>
                    </a:lnL>
                    <a:lnR w="9525" cap="flat" cmpd="sng" algn="ctr">
                      <a:solidFill>
                        <a:srgbClr val="3A3A3A"/>
                      </a:solidFill>
                      <a:prstDash val="solid"/>
                      <a:round/>
                      <a:headEnd type="none" w="med" len="med"/>
                      <a:tailEnd type="none" w="med" len="med"/>
                    </a:lnR>
                    <a:lnT w="9525" cap="flat" cmpd="sng" algn="ctr">
                      <a:solidFill>
                        <a:srgbClr val="3A3A3A"/>
                      </a:solidFill>
                      <a:prstDash val="solid"/>
                      <a:round/>
                      <a:headEnd type="none" w="med" len="med"/>
                      <a:tailEnd type="none" w="med" len="med"/>
                    </a:lnT>
                    <a:lnB w="9525" cap="flat" cmpd="sng" algn="ctr">
                      <a:solidFill>
                        <a:srgbClr val="3A3A3A"/>
                      </a:solidFill>
                      <a:prstDash val="solid"/>
                      <a:round/>
                      <a:headEnd type="none" w="med" len="med"/>
                      <a:tailEnd type="none" w="med" len="med"/>
                    </a:lnB>
                    <a:solidFill>
                      <a:srgbClr val="2A1608"/>
                    </a:solidFill>
                  </a:tcPr>
                </a:tc>
              </a:tr>
            </a:tbl>
          </a:graphicData>
        </a:graphic>
      </p:graphicFrame>
      <p:sp>
        <p:nvSpPr>
          <p:cNvPr id="8" name="Shape 4"/>
          <p:cNvSpPr/>
          <p:nvPr/>
        </p:nvSpPr>
        <p:spPr>
          <a:xfrm>
            <a:off x="1097280" y="7818120"/>
            <a:ext cx="3851910" cy="1005840"/>
          </a:xfrm>
          <a:prstGeom prst="roundRect">
            <a:avLst>
              <a:gd name="adj" fmla="val 20000"/>
            </a:avLst>
          </a:prstGeom>
          <a:solidFill>
            <a:srgbClr val="1E1E1E"/>
          </a:solidFill>
          <a:ln w="12700">
            <a:solidFill>
              <a:srgbClr val="1E1E1E"/>
            </a:solidFill>
            <a:prstDash val="solid"/>
          </a:ln>
        </p:spPr>
      </p:sp>
      <p:sp>
        <p:nvSpPr>
          <p:cNvPr id="9" name="Text 5"/>
          <p:cNvSpPr txBox="1"/>
          <p:nvPr/>
        </p:nvSpPr>
        <p:spPr>
          <a:xfrm>
            <a:off x="137160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6 / 6</a:t>
            </a:r>
            <a:endParaRPr lang="en-US" sz="3500" dirty="0"/>
          </a:p>
        </p:txBody>
      </p:sp>
      <p:sp>
        <p:nvSpPr>
          <p:cNvPr id="10" name="Text 6"/>
          <p:cNvSpPr txBox="1"/>
          <p:nvPr/>
        </p:nvSpPr>
        <p:spPr>
          <a:xfrm>
            <a:off x="137160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Axes won by upay Shield</a:t>
            </a:r>
            <a:endParaRPr lang="en-US" sz="1400" dirty="0"/>
          </a:p>
        </p:txBody>
      </p:sp>
      <p:sp>
        <p:nvSpPr>
          <p:cNvPr id="11" name="Shape 7"/>
          <p:cNvSpPr/>
          <p:nvPr/>
        </p:nvSpPr>
        <p:spPr>
          <a:xfrm>
            <a:off x="5177790" y="7818120"/>
            <a:ext cx="3851910" cy="1005840"/>
          </a:xfrm>
          <a:prstGeom prst="roundRect">
            <a:avLst>
              <a:gd name="adj" fmla="val 20000"/>
            </a:avLst>
          </a:prstGeom>
          <a:solidFill>
            <a:srgbClr val="1E1E1E"/>
          </a:solidFill>
          <a:ln w="12700">
            <a:solidFill>
              <a:srgbClr val="1E1E1E"/>
            </a:solidFill>
            <a:prstDash val="solid"/>
          </a:ln>
        </p:spPr>
      </p:sp>
      <p:sp>
        <p:nvSpPr>
          <p:cNvPr id="12" name="Text 8"/>
          <p:cNvSpPr txBox="1"/>
          <p:nvPr/>
        </p:nvSpPr>
        <p:spPr>
          <a:xfrm>
            <a:off x="545211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0</a:t>
            </a:r>
            <a:endParaRPr lang="en-US" sz="3500" dirty="0"/>
          </a:p>
        </p:txBody>
      </p:sp>
      <p:sp>
        <p:nvSpPr>
          <p:cNvPr id="13" name="Text 9"/>
          <p:cNvSpPr txBox="1"/>
          <p:nvPr/>
        </p:nvSpPr>
        <p:spPr>
          <a:xfrm>
            <a:off x="545211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Competitor recovery mechanisms</a:t>
            </a:r>
            <a:endParaRPr lang="en-US" sz="1400" dirty="0"/>
          </a:p>
        </p:txBody>
      </p:sp>
      <p:sp>
        <p:nvSpPr>
          <p:cNvPr id="14" name="Shape 10"/>
          <p:cNvSpPr/>
          <p:nvPr/>
        </p:nvSpPr>
        <p:spPr>
          <a:xfrm>
            <a:off x="9258300" y="7818120"/>
            <a:ext cx="3851910" cy="1005840"/>
          </a:xfrm>
          <a:prstGeom prst="roundRect">
            <a:avLst>
              <a:gd name="adj" fmla="val 20000"/>
            </a:avLst>
          </a:prstGeom>
          <a:solidFill>
            <a:srgbClr val="1E1E1E"/>
          </a:solidFill>
          <a:ln w="12700">
            <a:solidFill>
              <a:srgbClr val="1E1E1E"/>
            </a:solidFill>
            <a:prstDash val="solid"/>
          </a:ln>
        </p:spPr>
      </p:sp>
      <p:sp>
        <p:nvSpPr>
          <p:cNvPr id="15" name="Text 11"/>
          <p:cNvSpPr txBox="1"/>
          <p:nvPr/>
        </p:nvSpPr>
        <p:spPr>
          <a:xfrm>
            <a:off x="953262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&lt;5 ms</a:t>
            </a:r>
            <a:endParaRPr lang="en-US" sz="3500" dirty="0"/>
          </a:p>
        </p:txBody>
      </p:sp>
      <p:sp>
        <p:nvSpPr>
          <p:cNvPr id="16" name="Text 12"/>
          <p:cNvSpPr txBox="1"/>
          <p:nvPr/>
        </p:nvSpPr>
        <p:spPr>
          <a:xfrm>
            <a:off x="953262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vs batch-job mule detection</a:t>
            </a:r>
            <a:endParaRPr lang="en-US" sz="1400" dirty="0"/>
          </a:p>
        </p:txBody>
      </p:sp>
      <p:sp>
        <p:nvSpPr>
          <p:cNvPr id="17" name="Shape 13"/>
          <p:cNvSpPr/>
          <p:nvPr/>
        </p:nvSpPr>
        <p:spPr>
          <a:xfrm>
            <a:off x="13338810" y="7818120"/>
            <a:ext cx="3851910" cy="1005840"/>
          </a:xfrm>
          <a:prstGeom prst="roundRect">
            <a:avLst>
              <a:gd name="adj" fmla="val 20000"/>
            </a:avLst>
          </a:prstGeom>
          <a:solidFill>
            <a:srgbClr val="1E1E1E"/>
          </a:solidFill>
          <a:ln w="12700">
            <a:solidFill>
              <a:srgbClr val="1E1E1E"/>
            </a:solidFill>
            <a:prstDash val="solid"/>
          </a:ln>
        </p:spPr>
      </p:sp>
      <p:sp>
        <p:nvSpPr>
          <p:cNvPr id="18" name="Text 14"/>
          <p:cNvSpPr txBox="1"/>
          <p:nvPr/>
        </p:nvSpPr>
        <p:spPr>
          <a:xfrm>
            <a:off x="1361313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3</a:t>
            </a:r>
            <a:endParaRPr lang="en-US" sz="3500" dirty="0"/>
          </a:p>
        </p:txBody>
      </p:sp>
      <p:sp>
        <p:nvSpPr>
          <p:cNvPr id="19" name="Text 15"/>
          <p:cNvSpPr txBox="1"/>
          <p:nvPr/>
        </p:nvSpPr>
        <p:spPr>
          <a:xfrm>
            <a:off x="1361313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Languages understood</a:t>
            </a:r>
            <a:endParaRPr lang="en-US" sz="1400" dirty="0"/>
          </a:p>
        </p:txBody>
      </p:sp>
      <p:sp>
        <p:nvSpPr>
          <p:cNvPr id="25" name="Slide Number Placeholder 0"/>
          <p:cNvSpPr>
            <a:spLocks noGrp="1"/>
          </p:cNvSpPr>
          <p:nvPr>
            <p:ph type="sldNum" sz="quarter" idx="4294967295"/>
          </p:nvPr>
        </p:nvSpPr>
        <p:spPr>
          <a:xfrm>
            <a:off x="15361920" y="9418320"/>
            <a:ext cx="1828800" cy="320040"/>
          </a:xfrm>
          <a:prstGeom prst="rect">
            <a:avLst/>
          </a:prstGeom>
          <a:extLst>
            <a:ext uri="{C572A759-6A51-4108-AA02-DFA0A04FC94B}">
              <ma14:wrappingTextBoxFlag xmlns:ma14="http://schemas.microsoft.com/office/mac/drawingml/2011/main" val="0"/>
            </a:ext>
          </a:extLst>
        </p:spPr>
        <p:txBody>
          <a:bodyPr/>
          <a:lstStyle>
            <a:lvl1pPr>
              <a:defRPr sz="1600">
                <a:solidFill>
                  <a:srgbClr val="A8A8A8"/>
                </a:solidFill>
                <a:latin typeface="Open Sauce"/>
                <a:ea typeface="Open Sauce"/>
                <a:cs typeface="Open Sauce"/>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13441680" y="457200"/>
            <a:ext cx="3749040" cy="457200"/>
          </a:xfrm>
          <a:prstGeom prst="roundRect">
            <a:avLst>
              <a:gd name="adj" fmla="val 50000"/>
            </a:avLst>
          </a:prstGeom>
          <a:solidFill>
            <a:srgbClr val="FFFFFF"/>
          </a:solidFill>
          <a:ln w="12700">
            <a:solidFill>
              <a:srgbClr val="FFFFFF"/>
            </a:solidFill>
            <a:prstDash val="solid"/>
          </a:ln>
        </p:spPr>
      </p:sp>
      <p:sp>
        <p:nvSpPr>
          <p:cNvPr id="3" name="Text 1"/>
          <p:cNvSpPr txBox="1"/>
          <p:nvPr/>
        </p:nvSpPr>
        <p:spPr>
          <a:xfrm>
            <a:off x="13441680" y="457200"/>
            <a:ext cx="3749040" cy="457200"/>
          </a:xfrm>
          <a:prstGeom prst="rect">
            <a:avLst/>
          </a:prstGeom>
          <a:noFill/>
          <a:ln/>
        </p:spPr>
        <p:txBody>
          <a:bodyPr wrap="square" lIns="0" tIns="0" rIns="0" bIns="0" rtlCol="0" anchor="ctr"/>
          <a:lstStyle/>
          <a:p>
            <a:pPr algn="ctr" indent="0" marL="0">
              <a:buNone/>
            </a:pPr>
            <a:r>
              <a:rPr lang="en-US" sz="1700" dirty="0">
                <a:solidFill>
                  <a:srgbClr val="000000"/>
                </a:solidFill>
                <a:latin typeface="Open Sauce" pitchFamily="34" charset="0"/>
                <a:ea typeface="Open Sauce" pitchFamily="34" charset="-122"/>
                <a:cs typeface="Open Sauce" pitchFamily="34" charset="-120"/>
              </a:rPr>
              <a:t>14 · ROLLOUT ROADMAP</a:t>
            </a:r>
            <a:endParaRPr lang="en-US" sz="1700" dirty="0"/>
          </a:p>
        </p:txBody>
      </p:sp>
      <p:sp>
        <p:nvSpPr>
          <p:cNvPr id="4" name="Title"/>
          <p:cNvSpPr txBox="1"/>
          <p:nvPr/>
        </p:nvSpPr>
        <p:spPr>
          <a:xfrm>
            <a:off x="1097280" y="1188720"/>
            <a:ext cx="16093440" cy="1005840"/>
          </a:xfrm>
          <a:prstGeom prst="rect">
            <a:avLst/>
          </a:prstGeom>
          <a:noFill/>
          <a:ln/>
        </p:spPr>
        <p:txBody>
          <a:bodyPr wrap="square" lIns="0" tIns="0" rIns="0" bIns="0" rtlCol="0" anchor="t"/>
          <a:lstStyle/>
          <a:p>
            <a:pPr indent="0" marL="0">
              <a:buNone/>
            </a:pPr>
            <a:r>
              <a:rPr lang="en-US" sz="3800" b="1" dirty="0">
                <a:solidFill>
                  <a:srgbClr val="E4E4E4"/>
                </a:solidFill>
                <a:latin typeface="Open Sauce Bold" pitchFamily="34" charset="0"/>
                <a:ea typeface="Open Sauce Bold" pitchFamily="34" charset="-122"/>
                <a:cs typeface="Open Sauce Bold" pitchFamily="34" charset="-120"/>
              </a:rPr>
              <a:t>Twelve weeks from shadow mode to golden-hour recovery</a:t>
            </a:r>
            <a:endParaRPr lang="en-US" sz="3800" dirty="0"/>
          </a:p>
        </p:txBody>
      </p:sp>
      <p:sp>
        <p:nvSpPr>
          <p:cNvPr id="5" name="Subtitle"/>
          <p:cNvSpPr txBox="1"/>
          <p:nvPr/>
        </p:nvSpPr>
        <p:spPr>
          <a:xfrm>
            <a:off x="1097280" y="2286000"/>
            <a:ext cx="16093440" cy="868680"/>
          </a:xfrm>
          <a:prstGeom prst="rect">
            <a:avLst/>
          </a:prstGeom>
          <a:noFill/>
          <a:ln/>
        </p:spPr>
        <p:txBody>
          <a:bodyPr wrap="square" lIns="0" tIns="0" rIns="0" bIns="0" rtlCol="0" anchor="t"/>
          <a:lstStyle/>
          <a:p>
            <a:pPr indent="0" marL="0">
              <a:buNone/>
            </a:pPr>
            <a:r>
              <a:rPr lang="en-US" sz="2100" dirty="0">
                <a:solidFill>
                  <a:srgbClr val="A8A8A8"/>
                </a:solidFill>
                <a:latin typeface="Open Sauce" pitchFamily="34" charset="0"/>
                <a:ea typeface="Open Sauce" pitchFamily="34" charset="-122"/>
                <a:cs typeface="Open Sauce" pitchFamily="34" charset="-120"/>
              </a:rPr>
              <a:t>A non-disruptive sidecar. Every phase is additive, and nothing blocks a customer until it has been proven in shadow.</a:t>
            </a:r>
            <a:endParaRPr lang="en-US" sz="2100" dirty="0"/>
          </a:p>
        </p:txBody>
      </p:sp>
      <p:sp>
        <p:nvSpPr>
          <p:cNvPr id="7" name="Text 4"/>
          <p:cNvSpPr txBox="1"/>
          <p:nvPr/>
        </p:nvSpPr>
        <p:spPr>
          <a:xfrm>
            <a:off x="1097280" y="3520440"/>
            <a:ext cx="1237957" cy="274320"/>
          </a:xfrm>
          <a:prstGeom prst="rect">
            <a:avLst/>
          </a:prstGeom>
          <a:noFill/>
          <a:ln/>
        </p:spPr>
        <p:txBody>
          <a:bodyPr wrap="square" lIns="0" tIns="0" rIns="0" bIns="0" rtlCol="0" anchor="t"/>
          <a:lstStyle/>
          <a:p>
            <a:pPr algn="ctr" indent="0" marL="0">
              <a:buNone/>
            </a:pPr>
            <a:r>
              <a:rPr lang="en-US" sz="1400" dirty="0">
                <a:solidFill>
                  <a:srgbClr val="A8A8A8"/>
                </a:solidFill>
                <a:latin typeface="Open Sauce" pitchFamily="34" charset="0"/>
                <a:ea typeface="Open Sauce" pitchFamily="34" charset="-122"/>
                <a:cs typeface="Open Sauce" pitchFamily="34" charset="-120"/>
              </a:rPr>
              <a:t>W1</a:t>
            </a:r>
            <a:endParaRPr lang="en-US" sz="1400" dirty="0"/>
          </a:p>
        </p:txBody>
      </p:sp>
      <p:sp>
        <p:nvSpPr>
          <p:cNvPr id="8" name="Text 5"/>
          <p:cNvSpPr txBox="1"/>
          <p:nvPr/>
        </p:nvSpPr>
        <p:spPr>
          <a:xfrm>
            <a:off x="2335237" y="3520440"/>
            <a:ext cx="1237957" cy="274320"/>
          </a:xfrm>
          <a:prstGeom prst="rect">
            <a:avLst/>
          </a:prstGeom>
          <a:noFill/>
          <a:ln/>
        </p:spPr>
        <p:txBody>
          <a:bodyPr wrap="square" lIns="0" tIns="0" rIns="0" bIns="0" rtlCol="0" anchor="t"/>
          <a:lstStyle/>
          <a:p>
            <a:pPr algn="ctr" indent="0" marL="0">
              <a:buNone/>
            </a:pPr>
            <a:r>
              <a:rPr lang="en-US" sz="1400" dirty="0">
                <a:solidFill>
                  <a:srgbClr val="A8A8A8"/>
                </a:solidFill>
                <a:latin typeface="Open Sauce" pitchFamily="34" charset="0"/>
                <a:ea typeface="Open Sauce" pitchFamily="34" charset="-122"/>
                <a:cs typeface="Open Sauce" pitchFamily="34" charset="-120"/>
              </a:rPr>
              <a:t>W2</a:t>
            </a:r>
            <a:endParaRPr lang="en-US" sz="1400" dirty="0"/>
          </a:p>
        </p:txBody>
      </p:sp>
      <p:sp>
        <p:nvSpPr>
          <p:cNvPr id="9" name="Text 6"/>
          <p:cNvSpPr txBox="1"/>
          <p:nvPr/>
        </p:nvSpPr>
        <p:spPr>
          <a:xfrm>
            <a:off x="3573194" y="3520440"/>
            <a:ext cx="1237957" cy="274320"/>
          </a:xfrm>
          <a:prstGeom prst="rect">
            <a:avLst/>
          </a:prstGeom>
          <a:noFill/>
          <a:ln/>
        </p:spPr>
        <p:txBody>
          <a:bodyPr wrap="square" lIns="0" tIns="0" rIns="0" bIns="0" rtlCol="0" anchor="t"/>
          <a:lstStyle/>
          <a:p>
            <a:pPr algn="ctr" indent="0" marL="0">
              <a:buNone/>
            </a:pPr>
            <a:r>
              <a:rPr lang="en-US" sz="1400" dirty="0">
                <a:solidFill>
                  <a:srgbClr val="A8A8A8"/>
                </a:solidFill>
                <a:latin typeface="Open Sauce" pitchFamily="34" charset="0"/>
                <a:ea typeface="Open Sauce" pitchFamily="34" charset="-122"/>
                <a:cs typeface="Open Sauce" pitchFamily="34" charset="-120"/>
              </a:rPr>
              <a:t>W3</a:t>
            </a:r>
            <a:endParaRPr lang="en-US" sz="1400" dirty="0"/>
          </a:p>
        </p:txBody>
      </p:sp>
      <p:sp>
        <p:nvSpPr>
          <p:cNvPr id="10" name="Text 7"/>
          <p:cNvSpPr txBox="1"/>
          <p:nvPr/>
        </p:nvSpPr>
        <p:spPr>
          <a:xfrm>
            <a:off x="4811151" y="3520440"/>
            <a:ext cx="1237957" cy="274320"/>
          </a:xfrm>
          <a:prstGeom prst="rect">
            <a:avLst/>
          </a:prstGeom>
          <a:noFill/>
          <a:ln/>
        </p:spPr>
        <p:txBody>
          <a:bodyPr wrap="square" lIns="0" tIns="0" rIns="0" bIns="0" rtlCol="0" anchor="t"/>
          <a:lstStyle/>
          <a:p>
            <a:pPr algn="ctr" indent="0" marL="0">
              <a:buNone/>
            </a:pPr>
            <a:r>
              <a:rPr lang="en-US" sz="1400" dirty="0">
                <a:solidFill>
                  <a:srgbClr val="A8A8A8"/>
                </a:solidFill>
                <a:latin typeface="Open Sauce" pitchFamily="34" charset="0"/>
                <a:ea typeface="Open Sauce" pitchFamily="34" charset="-122"/>
                <a:cs typeface="Open Sauce" pitchFamily="34" charset="-120"/>
              </a:rPr>
              <a:t>W4</a:t>
            </a:r>
            <a:endParaRPr lang="en-US" sz="1400" dirty="0"/>
          </a:p>
        </p:txBody>
      </p:sp>
      <p:sp>
        <p:nvSpPr>
          <p:cNvPr id="11" name="Text 8"/>
          <p:cNvSpPr txBox="1"/>
          <p:nvPr/>
        </p:nvSpPr>
        <p:spPr>
          <a:xfrm>
            <a:off x="6049108" y="3520440"/>
            <a:ext cx="1237957" cy="274320"/>
          </a:xfrm>
          <a:prstGeom prst="rect">
            <a:avLst/>
          </a:prstGeom>
          <a:noFill/>
          <a:ln/>
        </p:spPr>
        <p:txBody>
          <a:bodyPr wrap="square" lIns="0" tIns="0" rIns="0" bIns="0" rtlCol="0" anchor="t"/>
          <a:lstStyle/>
          <a:p>
            <a:pPr algn="ctr" indent="0" marL="0">
              <a:buNone/>
            </a:pPr>
            <a:r>
              <a:rPr lang="en-US" sz="1400" dirty="0">
                <a:solidFill>
                  <a:srgbClr val="A8A8A8"/>
                </a:solidFill>
                <a:latin typeface="Open Sauce" pitchFamily="34" charset="0"/>
                <a:ea typeface="Open Sauce" pitchFamily="34" charset="-122"/>
                <a:cs typeface="Open Sauce" pitchFamily="34" charset="-120"/>
              </a:rPr>
              <a:t>W5</a:t>
            </a:r>
            <a:endParaRPr lang="en-US" sz="1400" dirty="0"/>
          </a:p>
        </p:txBody>
      </p:sp>
      <p:sp>
        <p:nvSpPr>
          <p:cNvPr id="12" name="Text 9"/>
          <p:cNvSpPr txBox="1"/>
          <p:nvPr/>
        </p:nvSpPr>
        <p:spPr>
          <a:xfrm>
            <a:off x="7287065" y="3520440"/>
            <a:ext cx="1237957" cy="274320"/>
          </a:xfrm>
          <a:prstGeom prst="rect">
            <a:avLst/>
          </a:prstGeom>
          <a:noFill/>
          <a:ln/>
        </p:spPr>
        <p:txBody>
          <a:bodyPr wrap="square" lIns="0" tIns="0" rIns="0" bIns="0" rtlCol="0" anchor="t"/>
          <a:lstStyle/>
          <a:p>
            <a:pPr algn="ctr" indent="0" marL="0">
              <a:buNone/>
            </a:pPr>
            <a:r>
              <a:rPr lang="en-US" sz="1400" dirty="0">
                <a:solidFill>
                  <a:srgbClr val="A8A8A8"/>
                </a:solidFill>
                <a:latin typeface="Open Sauce" pitchFamily="34" charset="0"/>
                <a:ea typeface="Open Sauce" pitchFamily="34" charset="-122"/>
                <a:cs typeface="Open Sauce" pitchFamily="34" charset="-120"/>
              </a:rPr>
              <a:t>W6</a:t>
            </a:r>
            <a:endParaRPr lang="en-US" sz="1400" dirty="0"/>
          </a:p>
        </p:txBody>
      </p:sp>
      <p:sp>
        <p:nvSpPr>
          <p:cNvPr id="13" name="Text 10"/>
          <p:cNvSpPr txBox="1"/>
          <p:nvPr/>
        </p:nvSpPr>
        <p:spPr>
          <a:xfrm>
            <a:off x="8525022" y="3520440"/>
            <a:ext cx="1237957" cy="274320"/>
          </a:xfrm>
          <a:prstGeom prst="rect">
            <a:avLst/>
          </a:prstGeom>
          <a:noFill/>
          <a:ln/>
        </p:spPr>
        <p:txBody>
          <a:bodyPr wrap="square" lIns="0" tIns="0" rIns="0" bIns="0" rtlCol="0" anchor="t"/>
          <a:lstStyle/>
          <a:p>
            <a:pPr algn="ctr" indent="0" marL="0">
              <a:buNone/>
            </a:pPr>
            <a:r>
              <a:rPr lang="en-US" sz="1400" dirty="0">
                <a:solidFill>
                  <a:srgbClr val="A8A8A8"/>
                </a:solidFill>
                <a:latin typeface="Open Sauce" pitchFamily="34" charset="0"/>
                <a:ea typeface="Open Sauce" pitchFamily="34" charset="-122"/>
                <a:cs typeface="Open Sauce" pitchFamily="34" charset="-120"/>
              </a:rPr>
              <a:t>W7</a:t>
            </a:r>
            <a:endParaRPr lang="en-US" sz="1400" dirty="0"/>
          </a:p>
        </p:txBody>
      </p:sp>
      <p:sp>
        <p:nvSpPr>
          <p:cNvPr id="14" name="Text 11"/>
          <p:cNvSpPr txBox="1"/>
          <p:nvPr/>
        </p:nvSpPr>
        <p:spPr>
          <a:xfrm>
            <a:off x="9762978" y="3520440"/>
            <a:ext cx="1237957" cy="274320"/>
          </a:xfrm>
          <a:prstGeom prst="rect">
            <a:avLst/>
          </a:prstGeom>
          <a:noFill/>
          <a:ln/>
        </p:spPr>
        <p:txBody>
          <a:bodyPr wrap="square" lIns="0" tIns="0" rIns="0" bIns="0" rtlCol="0" anchor="t"/>
          <a:lstStyle/>
          <a:p>
            <a:pPr algn="ctr" indent="0" marL="0">
              <a:buNone/>
            </a:pPr>
            <a:r>
              <a:rPr lang="en-US" sz="1400" dirty="0">
                <a:solidFill>
                  <a:srgbClr val="A8A8A8"/>
                </a:solidFill>
                <a:latin typeface="Open Sauce" pitchFamily="34" charset="0"/>
                <a:ea typeface="Open Sauce" pitchFamily="34" charset="-122"/>
                <a:cs typeface="Open Sauce" pitchFamily="34" charset="-120"/>
              </a:rPr>
              <a:t>W8</a:t>
            </a:r>
            <a:endParaRPr lang="en-US" sz="1400" dirty="0"/>
          </a:p>
        </p:txBody>
      </p:sp>
      <p:sp>
        <p:nvSpPr>
          <p:cNvPr id="15" name="Text 12"/>
          <p:cNvSpPr txBox="1"/>
          <p:nvPr/>
        </p:nvSpPr>
        <p:spPr>
          <a:xfrm>
            <a:off x="11000935" y="3520440"/>
            <a:ext cx="1237957" cy="274320"/>
          </a:xfrm>
          <a:prstGeom prst="rect">
            <a:avLst/>
          </a:prstGeom>
          <a:noFill/>
          <a:ln/>
        </p:spPr>
        <p:txBody>
          <a:bodyPr wrap="square" lIns="0" tIns="0" rIns="0" bIns="0" rtlCol="0" anchor="t"/>
          <a:lstStyle/>
          <a:p>
            <a:pPr algn="ctr" indent="0" marL="0">
              <a:buNone/>
            </a:pPr>
            <a:r>
              <a:rPr lang="en-US" sz="1400" dirty="0">
                <a:solidFill>
                  <a:srgbClr val="A8A8A8"/>
                </a:solidFill>
                <a:latin typeface="Open Sauce" pitchFamily="34" charset="0"/>
                <a:ea typeface="Open Sauce" pitchFamily="34" charset="-122"/>
                <a:cs typeface="Open Sauce" pitchFamily="34" charset="-120"/>
              </a:rPr>
              <a:t>W9</a:t>
            </a:r>
            <a:endParaRPr lang="en-US" sz="1400" dirty="0"/>
          </a:p>
        </p:txBody>
      </p:sp>
      <p:sp>
        <p:nvSpPr>
          <p:cNvPr id="16" name="Text 13"/>
          <p:cNvSpPr txBox="1"/>
          <p:nvPr/>
        </p:nvSpPr>
        <p:spPr>
          <a:xfrm>
            <a:off x="12238892" y="3520440"/>
            <a:ext cx="1237957" cy="274320"/>
          </a:xfrm>
          <a:prstGeom prst="rect">
            <a:avLst/>
          </a:prstGeom>
          <a:noFill/>
          <a:ln/>
        </p:spPr>
        <p:txBody>
          <a:bodyPr wrap="square" lIns="0" tIns="0" rIns="0" bIns="0" rtlCol="0" anchor="t"/>
          <a:lstStyle/>
          <a:p>
            <a:pPr algn="ctr" indent="0" marL="0">
              <a:buNone/>
            </a:pPr>
            <a:r>
              <a:rPr lang="en-US" sz="1400" dirty="0">
                <a:solidFill>
                  <a:srgbClr val="A8A8A8"/>
                </a:solidFill>
                <a:latin typeface="Open Sauce" pitchFamily="34" charset="0"/>
                <a:ea typeface="Open Sauce" pitchFamily="34" charset="-122"/>
                <a:cs typeface="Open Sauce" pitchFamily="34" charset="-120"/>
              </a:rPr>
              <a:t>W10</a:t>
            </a:r>
            <a:endParaRPr lang="en-US" sz="1400" dirty="0"/>
          </a:p>
        </p:txBody>
      </p:sp>
      <p:sp>
        <p:nvSpPr>
          <p:cNvPr id="17" name="Text 14"/>
          <p:cNvSpPr txBox="1"/>
          <p:nvPr/>
        </p:nvSpPr>
        <p:spPr>
          <a:xfrm>
            <a:off x="13476849" y="3520440"/>
            <a:ext cx="1237957" cy="274320"/>
          </a:xfrm>
          <a:prstGeom prst="rect">
            <a:avLst/>
          </a:prstGeom>
          <a:noFill/>
          <a:ln/>
        </p:spPr>
        <p:txBody>
          <a:bodyPr wrap="square" lIns="0" tIns="0" rIns="0" bIns="0" rtlCol="0" anchor="t"/>
          <a:lstStyle/>
          <a:p>
            <a:pPr algn="ctr" indent="0" marL="0">
              <a:buNone/>
            </a:pPr>
            <a:r>
              <a:rPr lang="en-US" sz="1400" dirty="0">
                <a:solidFill>
                  <a:srgbClr val="A8A8A8"/>
                </a:solidFill>
                <a:latin typeface="Open Sauce" pitchFamily="34" charset="0"/>
                <a:ea typeface="Open Sauce" pitchFamily="34" charset="-122"/>
                <a:cs typeface="Open Sauce" pitchFamily="34" charset="-120"/>
              </a:rPr>
              <a:t>W11</a:t>
            </a:r>
            <a:endParaRPr lang="en-US" sz="1400" dirty="0"/>
          </a:p>
        </p:txBody>
      </p:sp>
      <p:sp>
        <p:nvSpPr>
          <p:cNvPr id="18" name="Text 15"/>
          <p:cNvSpPr txBox="1"/>
          <p:nvPr/>
        </p:nvSpPr>
        <p:spPr>
          <a:xfrm>
            <a:off x="14714806" y="3520440"/>
            <a:ext cx="1237957" cy="274320"/>
          </a:xfrm>
          <a:prstGeom prst="rect">
            <a:avLst/>
          </a:prstGeom>
          <a:noFill/>
          <a:ln/>
        </p:spPr>
        <p:txBody>
          <a:bodyPr wrap="square" lIns="0" tIns="0" rIns="0" bIns="0" rtlCol="0" anchor="t"/>
          <a:lstStyle/>
          <a:p>
            <a:pPr algn="ctr" indent="0" marL="0">
              <a:buNone/>
            </a:pPr>
            <a:r>
              <a:rPr lang="en-US" sz="1400" dirty="0">
                <a:solidFill>
                  <a:srgbClr val="A8A8A8"/>
                </a:solidFill>
                <a:latin typeface="Open Sauce" pitchFamily="34" charset="0"/>
                <a:ea typeface="Open Sauce" pitchFamily="34" charset="-122"/>
                <a:cs typeface="Open Sauce" pitchFamily="34" charset="-120"/>
              </a:rPr>
              <a:t>W12</a:t>
            </a:r>
            <a:endParaRPr lang="en-US" sz="1400" dirty="0"/>
          </a:p>
        </p:txBody>
      </p:sp>
      <p:sp>
        <p:nvSpPr>
          <p:cNvPr id="19" name="Text 16"/>
          <p:cNvSpPr txBox="1"/>
          <p:nvPr/>
        </p:nvSpPr>
        <p:spPr>
          <a:xfrm>
            <a:off x="15952763" y="3520440"/>
            <a:ext cx="1237957" cy="274320"/>
          </a:xfrm>
          <a:prstGeom prst="rect">
            <a:avLst/>
          </a:prstGeom>
          <a:noFill/>
          <a:ln/>
        </p:spPr>
        <p:txBody>
          <a:bodyPr wrap="square" lIns="0" tIns="0" rIns="0" bIns="0" rtlCol="0" anchor="t"/>
          <a:lstStyle/>
          <a:p>
            <a:pPr algn="ctr" indent="0" marL="0">
              <a:buNone/>
            </a:pPr>
            <a:r>
              <a:rPr lang="en-US" sz="1400" dirty="0">
                <a:solidFill>
                  <a:srgbClr val="A8A8A8"/>
                </a:solidFill>
                <a:latin typeface="Open Sauce" pitchFamily="34" charset="0"/>
                <a:ea typeface="Open Sauce" pitchFamily="34" charset="-122"/>
                <a:cs typeface="Open Sauce" pitchFamily="34" charset="-120"/>
              </a:rPr>
              <a:t>W13+</a:t>
            </a:r>
            <a:endParaRPr lang="en-US" sz="1400" dirty="0"/>
          </a:p>
        </p:txBody>
      </p:sp>
      <p:sp>
        <p:nvSpPr>
          <p:cNvPr id="20" name="Shape 17"/>
          <p:cNvSpPr/>
          <p:nvPr/>
        </p:nvSpPr>
        <p:spPr>
          <a:xfrm>
            <a:off x="1124712" y="3886200"/>
            <a:ext cx="4896964" cy="411480"/>
          </a:xfrm>
          <a:prstGeom prst="roundRect">
            <a:avLst>
              <a:gd name="adj" fmla="val 48889"/>
            </a:avLst>
          </a:prstGeom>
          <a:solidFill>
            <a:srgbClr val="6B3414"/>
          </a:solidFill>
          <a:ln w="12700">
            <a:solidFill>
              <a:srgbClr val="6B3414"/>
            </a:solidFill>
            <a:prstDash val="solid"/>
          </a:ln>
        </p:spPr>
      </p:sp>
      <p:sp>
        <p:nvSpPr>
          <p:cNvPr id="21" name="Shape 18"/>
          <p:cNvSpPr/>
          <p:nvPr/>
        </p:nvSpPr>
        <p:spPr>
          <a:xfrm>
            <a:off x="6076540" y="3886200"/>
            <a:ext cx="4896964" cy="411480"/>
          </a:xfrm>
          <a:prstGeom prst="roundRect">
            <a:avLst>
              <a:gd name="adj" fmla="val 48889"/>
            </a:avLst>
          </a:prstGeom>
          <a:solidFill>
            <a:srgbClr val="B8501A"/>
          </a:solidFill>
          <a:ln w="12700">
            <a:solidFill>
              <a:srgbClr val="B8501A"/>
            </a:solidFill>
            <a:prstDash val="solid"/>
          </a:ln>
        </p:spPr>
      </p:sp>
      <p:sp>
        <p:nvSpPr>
          <p:cNvPr id="22" name="Shape 19"/>
          <p:cNvSpPr/>
          <p:nvPr/>
        </p:nvSpPr>
        <p:spPr>
          <a:xfrm>
            <a:off x="11028367" y="3886200"/>
            <a:ext cx="4896964" cy="411480"/>
          </a:xfrm>
          <a:prstGeom prst="roundRect">
            <a:avLst>
              <a:gd name="adj" fmla="val 48889"/>
            </a:avLst>
          </a:prstGeom>
          <a:solidFill>
            <a:srgbClr val="F7761F"/>
          </a:solidFill>
          <a:ln w="12700">
            <a:solidFill>
              <a:srgbClr val="F7761F"/>
            </a:solidFill>
            <a:prstDash val="solid"/>
          </a:ln>
        </p:spPr>
      </p:sp>
      <p:sp>
        <p:nvSpPr>
          <p:cNvPr id="23" name="Shape 20"/>
          <p:cNvSpPr/>
          <p:nvPr/>
        </p:nvSpPr>
        <p:spPr>
          <a:xfrm>
            <a:off x="15980195" y="3886200"/>
            <a:ext cx="1183093" cy="411480"/>
          </a:xfrm>
          <a:prstGeom prst="roundRect">
            <a:avLst>
              <a:gd name="adj" fmla="val 48889"/>
            </a:avLst>
          </a:prstGeom>
          <a:solidFill>
            <a:srgbClr val="FF9A4D"/>
          </a:solidFill>
          <a:ln w="12700">
            <a:solidFill>
              <a:srgbClr val="FF9A4D"/>
            </a:solidFill>
            <a:prstDash val="solid"/>
          </a:ln>
        </p:spPr>
      </p:sp>
      <p:sp>
        <p:nvSpPr>
          <p:cNvPr id="24" name="Shape 21"/>
          <p:cNvSpPr/>
          <p:nvPr/>
        </p:nvSpPr>
        <p:spPr>
          <a:xfrm>
            <a:off x="1097280" y="4526280"/>
            <a:ext cx="3851910" cy="3154680"/>
          </a:xfrm>
          <a:prstGeom prst="roundRect">
            <a:avLst>
              <a:gd name="adj" fmla="val 6377"/>
            </a:avLst>
          </a:prstGeom>
          <a:solidFill>
            <a:srgbClr val="1E1E1E"/>
          </a:solidFill>
          <a:ln w="12700">
            <a:solidFill>
              <a:srgbClr val="1E1E1E"/>
            </a:solidFill>
            <a:prstDash val="solid"/>
          </a:ln>
        </p:spPr>
      </p:sp>
      <p:sp>
        <p:nvSpPr>
          <p:cNvPr id="25" name="Text 22"/>
          <p:cNvSpPr txBox="1"/>
          <p:nvPr/>
        </p:nvSpPr>
        <p:spPr>
          <a:xfrm>
            <a:off x="1371600" y="4663440"/>
            <a:ext cx="3303270" cy="274320"/>
          </a:xfrm>
          <a:prstGeom prst="rect">
            <a:avLst/>
          </a:prstGeom>
          <a:noFill/>
          <a:ln/>
        </p:spPr>
        <p:txBody>
          <a:bodyPr wrap="square" lIns="0" tIns="0" rIns="0" bIns="0" rtlCol="0" anchor="t"/>
          <a:lstStyle/>
          <a:p>
            <a:pPr indent="0" marL="0">
              <a:buNone/>
            </a:pPr>
            <a:r>
              <a:rPr lang="en-US" sz="1400" b="1" dirty="0">
                <a:solidFill>
                  <a:srgbClr val="F7761F"/>
                </a:solidFill>
                <a:latin typeface="Open Sauce" pitchFamily="34" charset="0"/>
                <a:ea typeface="Open Sauce" pitchFamily="34" charset="-122"/>
                <a:cs typeface="Open Sauce" pitchFamily="34" charset="-120"/>
              </a:rPr>
              <a:t>PHASE 1  ·  WEEKS 1–4</a:t>
            </a:r>
            <a:endParaRPr lang="en-US" sz="1400" dirty="0"/>
          </a:p>
        </p:txBody>
      </p:sp>
      <p:sp>
        <p:nvSpPr>
          <p:cNvPr id="26" name="Text 23"/>
          <p:cNvSpPr txBox="1"/>
          <p:nvPr/>
        </p:nvSpPr>
        <p:spPr>
          <a:xfrm>
            <a:off x="1371600" y="4983480"/>
            <a:ext cx="3303270" cy="685800"/>
          </a:xfrm>
          <a:prstGeom prst="rect">
            <a:avLst/>
          </a:prstGeom>
          <a:noFill/>
          <a:ln/>
        </p:spPr>
        <p:txBody>
          <a:bodyPr wrap="square" lIns="0" tIns="0" rIns="0" bIns="0" rtlCol="0" anchor="t"/>
          <a:lstStyle/>
          <a:p>
            <a:pPr indent="0" marL="0">
              <a:buNone/>
            </a:pPr>
            <a:r>
              <a:rPr lang="en-US" sz="2200" b="1" dirty="0">
                <a:solidFill>
                  <a:srgbClr val="E4E4E4"/>
                </a:solidFill>
                <a:latin typeface="Open Sauce Bold" pitchFamily="34" charset="0"/>
                <a:ea typeface="Open Sauce Bold" pitchFamily="34" charset="-122"/>
                <a:cs typeface="Open Sauce Bold" pitchFamily="34" charset="-120"/>
              </a:rPr>
              <a:t>Shadow mode</a:t>
            </a:r>
            <a:endParaRPr lang="en-US" sz="2200" dirty="0"/>
          </a:p>
        </p:txBody>
      </p:sp>
      <p:sp>
        <p:nvSpPr>
          <p:cNvPr id="27" name="Text 24"/>
          <p:cNvSpPr txBox="1"/>
          <p:nvPr/>
        </p:nvSpPr>
        <p:spPr>
          <a:xfrm>
            <a:off x="1371600" y="5760720"/>
            <a:ext cx="3303270" cy="1828800"/>
          </a:xfrm>
          <a:prstGeom prst="rect">
            <a:avLst/>
          </a:prstGeom>
          <a:noFill/>
          <a:ln/>
        </p:spPr>
        <p:txBody>
          <a:bodyPr wrap="square" lIns="0" tIns="0" rIns="0" bIns="0" rtlCol="0" anchor="t"/>
          <a:lstStyle/>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Sidecar API deployed beside core wallet engines</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Zero-blocking telemetry scoring</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Regional graph baseline calibration</a:t>
            </a:r>
            <a:endParaRPr lang="en-US" sz="1600" dirty="0"/>
          </a:p>
        </p:txBody>
      </p:sp>
      <p:sp>
        <p:nvSpPr>
          <p:cNvPr id="28" name="Shape 25"/>
          <p:cNvSpPr/>
          <p:nvPr/>
        </p:nvSpPr>
        <p:spPr>
          <a:xfrm>
            <a:off x="5177790" y="4526280"/>
            <a:ext cx="3851910" cy="3154680"/>
          </a:xfrm>
          <a:prstGeom prst="roundRect">
            <a:avLst>
              <a:gd name="adj" fmla="val 6377"/>
            </a:avLst>
          </a:prstGeom>
          <a:solidFill>
            <a:srgbClr val="1E1E1E"/>
          </a:solidFill>
          <a:ln w="12700">
            <a:solidFill>
              <a:srgbClr val="1E1E1E"/>
            </a:solidFill>
            <a:prstDash val="solid"/>
          </a:ln>
        </p:spPr>
      </p:sp>
      <p:sp>
        <p:nvSpPr>
          <p:cNvPr id="29" name="Text 26"/>
          <p:cNvSpPr txBox="1"/>
          <p:nvPr/>
        </p:nvSpPr>
        <p:spPr>
          <a:xfrm>
            <a:off x="5452110" y="4663440"/>
            <a:ext cx="3303270" cy="274320"/>
          </a:xfrm>
          <a:prstGeom prst="rect">
            <a:avLst/>
          </a:prstGeom>
          <a:noFill/>
          <a:ln/>
        </p:spPr>
        <p:txBody>
          <a:bodyPr wrap="square" lIns="0" tIns="0" rIns="0" bIns="0" rtlCol="0" anchor="t"/>
          <a:lstStyle/>
          <a:p>
            <a:pPr indent="0" marL="0">
              <a:buNone/>
            </a:pPr>
            <a:r>
              <a:rPr lang="en-US" sz="1400" b="1" dirty="0">
                <a:solidFill>
                  <a:srgbClr val="F7761F"/>
                </a:solidFill>
                <a:latin typeface="Open Sauce" pitchFamily="34" charset="0"/>
                <a:ea typeface="Open Sauce" pitchFamily="34" charset="-122"/>
                <a:cs typeface="Open Sauce" pitchFamily="34" charset="-120"/>
              </a:rPr>
              <a:t>PHASE 2  ·  WEEKS 5–8</a:t>
            </a:r>
            <a:endParaRPr lang="en-US" sz="1400" dirty="0"/>
          </a:p>
        </p:txBody>
      </p:sp>
      <p:sp>
        <p:nvSpPr>
          <p:cNvPr id="30" name="Text 27"/>
          <p:cNvSpPr txBox="1"/>
          <p:nvPr/>
        </p:nvSpPr>
        <p:spPr>
          <a:xfrm>
            <a:off x="5452110" y="4983480"/>
            <a:ext cx="3303270" cy="685800"/>
          </a:xfrm>
          <a:prstGeom prst="rect">
            <a:avLst/>
          </a:prstGeom>
          <a:noFill/>
          <a:ln/>
        </p:spPr>
        <p:txBody>
          <a:bodyPr wrap="square" lIns="0" tIns="0" rIns="0" bIns="0" rtlCol="0" anchor="t"/>
          <a:lstStyle/>
          <a:p>
            <a:pPr indent="0" marL="0">
              <a:buNone/>
            </a:pPr>
            <a:r>
              <a:rPr lang="en-US" sz="2200" b="1" dirty="0">
                <a:solidFill>
                  <a:srgbClr val="E4E4E4"/>
                </a:solidFill>
                <a:latin typeface="Open Sauce Bold" pitchFamily="34" charset="0"/>
                <a:ea typeface="Open Sauce Bold" pitchFamily="34" charset="-122"/>
                <a:cs typeface="Open Sauce Bold" pitchFamily="34" charset="-120"/>
              </a:rPr>
              <a:t>Pilot launch</a:t>
            </a:r>
            <a:endParaRPr lang="en-US" sz="2200" dirty="0"/>
          </a:p>
        </p:txBody>
      </p:sp>
      <p:sp>
        <p:nvSpPr>
          <p:cNvPr id="31" name="Text 28"/>
          <p:cNvSpPr txBox="1"/>
          <p:nvPr/>
        </p:nvSpPr>
        <p:spPr>
          <a:xfrm>
            <a:off x="5452110" y="5760720"/>
            <a:ext cx="3303270" cy="1828800"/>
          </a:xfrm>
          <a:prstGeom prst="rect">
            <a:avLst/>
          </a:prstGeom>
          <a:noFill/>
          <a:ln/>
        </p:spPr>
        <p:txBody>
          <a:bodyPr wrap="square" lIns="0" tIns="0" rIns="0" bIns="0" rtlCol="0" anchor="t"/>
          <a:lstStyle/>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Agent Guard live in border corridors</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Customer Pause &amp; Verify dialogs live</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USSD signaling connected</a:t>
            </a:r>
            <a:endParaRPr lang="en-US" sz="1600" dirty="0"/>
          </a:p>
        </p:txBody>
      </p:sp>
      <p:sp>
        <p:nvSpPr>
          <p:cNvPr id="32" name="Shape 29"/>
          <p:cNvSpPr/>
          <p:nvPr/>
        </p:nvSpPr>
        <p:spPr>
          <a:xfrm>
            <a:off x="9258300" y="4526280"/>
            <a:ext cx="3851910" cy="3154680"/>
          </a:xfrm>
          <a:prstGeom prst="roundRect">
            <a:avLst>
              <a:gd name="adj" fmla="val 6377"/>
            </a:avLst>
          </a:prstGeom>
          <a:solidFill>
            <a:srgbClr val="1E1E1E"/>
          </a:solidFill>
          <a:ln w="12700">
            <a:solidFill>
              <a:srgbClr val="1E1E1E"/>
            </a:solidFill>
            <a:prstDash val="solid"/>
          </a:ln>
        </p:spPr>
      </p:sp>
      <p:sp>
        <p:nvSpPr>
          <p:cNvPr id="33" name="Text 30"/>
          <p:cNvSpPr txBox="1"/>
          <p:nvPr/>
        </p:nvSpPr>
        <p:spPr>
          <a:xfrm>
            <a:off x="9532620" y="4663440"/>
            <a:ext cx="3303270" cy="274320"/>
          </a:xfrm>
          <a:prstGeom prst="rect">
            <a:avLst/>
          </a:prstGeom>
          <a:noFill/>
          <a:ln/>
        </p:spPr>
        <p:txBody>
          <a:bodyPr wrap="square" lIns="0" tIns="0" rIns="0" bIns="0" rtlCol="0" anchor="t"/>
          <a:lstStyle/>
          <a:p>
            <a:pPr indent="0" marL="0">
              <a:buNone/>
            </a:pPr>
            <a:r>
              <a:rPr lang="en-US" sz="1400" b="1" dirty="0">
                <a:solidFill>
                  <a:srgbClr val="F7761F"/>
                </a:solidFill>
                <a:latin typeface="Open Sauce" pitchFamily="34" charset="0"/>
                <a:ea typeface="Open Sauce" pitchFamily="34" charset="-122"/>
                <a:cs typeface="Open Sauce" pitchFamily="34" charset="-120"/>
              </a:rPr>
              <a:t>PHASE 3  ·  WEEKS 9–12</a:t>
            </a:r>
            <a:endParaRPr lang="en-US" sz="1400" dirty="0"/>
          </a:p>
        </p:txBody>
      </p:sp>
      <p:sp>
        <p:nvSpPr>
          <p:cNvPr id="34" name="Text 31"/>
          <p:cNvSpPr txBox="1"/>
          <p:nvPr/>
        </p:nvSpPr>
        <p:spPr>
          <a:xfrm>
            <a:off x="9532620" y="4983480"/>
            <a:ext cx="3303270" cy="685800"/>
          </a:xfrm>
          <a:prstGeom prst="rect">
            <a:avLst/>
          </a:prstGeom>
          <a:noFill/>
          <a:ln/>
        </p:spPr>
        <p:txBody>
          <a:bodyPr wrap="square" lIns="0" tIns="0" rIns="0" bIns="0" rtlCol="0" anchor="t"/>
          <a:lstStyle/>
          <a:p>
            <a:pPr indent="0" marL="0">
              <a:buNone/>
            </a:pPr>
            <a:r>
              <a:rPr lang="en-US" sz="2200" b="1" dirty="0">
                <a:solidFill>
                  <a:srgbClr val="E4E4E4"/>
                </a:solidFill>
                <a:latin typeface="Open Sauce Bold" pitchFamily="34" charset="0"/>
                <a:ea typeface="Open Sauce Bold" pitchFamily="34" charset="-122"/>
                <a:cs typeface="Open Sauce Bold" pitchFamily="34" charset="-120"/>
              </a:rPr>
              <a:t>Golden-hour integration</a:t>
            </a:r>
            <a:endParaRPr lang="en-US" sz="2200" dirty="0"/>
          </a:p>
        </p:txBody>
      </p:sp>
      <p:sp>
        <p:nvSpPr>
          <p:cNvPr id="35" name="Text 32"/>
          <p:cNvSpPr txBox="1"/>
          <p:nvPr/>
        </p:nvSpPr>
        <p:spPr>
          <a:xfrm>
            <a:off x="9532620" y="5760720"/>
            <a:ext cx="3303270" cy="1828800"/>
          </a:xfrm>
          <a:prstGeom prst="rect">
            <a:avLst/>
          </a:prstGeom>
          <a:noFill/>
          <a:ln/>
        </p:spPr>
        <p:txBody>
          <a:bodyPr wrap="square" lIns="0" tIns="0" rIns="0" bIns="0" rtlCol="0" anchor="t"/>
          <a:lstStyle/>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Settlement router connected to recovery optimizer</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Automated BFIU / STR drafts enabled</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Downstream escrow freeze requests</a:t>
            </a:r>
            <a:endParaRPr lang="en-US" sz="1600" dirty="0"/>
          </a:p>
        </p:txBody>
      </p:sp>
      <p:sp>
        <p:nvSpPr>
          <p:cNvPr id="36" name="Shape 33"/>
          <p:cNvSpPr/>
          <p:nvPr/>
        </p:nvSpPr>
        <p:spPr>
          <a:xfrm>
            <a:off x="13338810" y="4526280"/>
            <a:ext cx="3851910" cy="3154680"/>
          </a:xfrm>
          <a:prstGeom prst="roundRect">
            <a:avLst>
              <a:gd name="adj" fmla="val 6377"/>
            </a:avLst>
          </a:prstGeom>
          <a:solidFill>
            <a:srgbClr val="1E1E1E"/>
          </a:solidFill>
          <a:ln w="12700">
            <a:solidFill>
              <a:srgbClr val="1E1E1E"/>
            </a:solidFill>
            <a:prstDash val="solid"/>
          </a:ln>
        </p:spPr>
      </p:sp>
      <p:sp>
        <p:nvSpPr>
          <p:cNvPr id="37" name="Text 34"/>
          <p:cNvSpPr txBox="1"/>
          <p:nvPr/>
        </p:nvSpPr>
        <p:spPr>
          <a:xfrm>
            <a:off x="13613130" y="4663440"/>
            <a:ext cx="3303270" cy="274320"/>
          </a:xfrm>
          <a:prstGeom prst="rect">
            <a:avLst/>
          </a:prstGeom>
          <a:noFill/>
          <a:ln/>
        </p:spPr>
        <p:txBody>
          <a:bodyPr wrap="square" lIns="0" tIns="0" rIns="0" bIns="0" rtlCol="0" anchor="t"/>
          <a:lstStyle/>
          <a:p>
            <a:pPr indent="0" marL="0">
              <a:buNone/>
            </a:pPr>
            <a:r>
              <a:rPr lang="en-US" sz="1400" b="1" dirty="0">
                <a:solidFill>
                  <a:srgbClr val="F7761F"/>
                </a:solidFill>
                <a:latin typeface="Open Sauce" pitchFamily="34" charset="0"/>
                <a:ea typeface="Open Sauce" pitchFamily="34" charset="-122"/>
                <a:cs typeface="Open Sauce" pitchFamily="34" charset="-120"/>
              </a:rPr>
              <a:t>PHASE 4  ·  WEEKS 13+</a:t>
            </a:r>
            <a:endParaRPr lang="en-US" sz="1400" dirty="0"/>
          </a:p>
        </p:txBody>
      </p:sp>
      <p:sp>
        <p:nvSpPr>
          <p:cNvPr id="38" name="Text 35"/>
          <p:cNvSpPr txBox="1"/>
          <p:nvPr/>
        </p:nvSpPr>
        <p:spPr>
          <a:xfrm>
            <a:off x="13613130" y="4983480"/>
            <a:ext cx="3303270" cy="685800"/>
          </a:xfrm>
          <a:prstGeom prst="rect">
            <a:avLst/>
          </a:prstGeom>
          <a:noFill/>
          <a:ln/>
        </p:spPr>
        <p:txBody>
          <a:bodyPr wrap="square" lIns="0" tIns="0" rIns="0" bIns="0" rtlCol="0" anchor="t"/>
          <a:lstStyle/>
          <a:p>
            <a:pPr indent="0" marL="0">
              <a:buNone/>
            </a:pPr>
            <a:r>
              <a:rPr lang="en-US" sz="2200" b="1" dirty="0">
                <a:solidFill>
                  <a:srgbClr val="E4E4E4"/>
                </a:solidFill>
                <a:latin typeface="Open Sauce Bold" pitchFamily="34" charset="0"/>
                <a:ea typeface="Open Sauce Bold" pitchFamily="34" charset="-122"/>
                <a:cs typeface="Open Sauce Bold" pitchFamily="34" charset="-120"/>
              </a:rPr>
              <a:t>Autonomous defense</a:t>
            </a:r>
            <a:endParaRPr lang="en-US" sz="2200" dirty="0"/>
          </a:p>
        </p:txBody>
      </p:sp>
      <p:sp>
        <p:nvSpPr>
          <p:cNvPr id="39" name="Text 36"/>
          <p:cNvSpPr txBox="1"/>
          <p:nvPr/>
        </p:nvSpPr>
        <p:spPr>
          <a:xfrm>
            <a:off x="13613130" y="5760720"/>
            <a:ext cx="3303270" cy="1828800"/>
          </a:xfrm>
          <a:prstGeom prst="rect">
            <a:avLst/>
          </a:prstGeom>
          <a:noFill/>
          <a:ln/>
        </p:spPr>
        <p:txBody>
          <a:bodyPr wrap="square" lIns="0" tIns="0" rIns="0" bIns="0" rtlCol="0" anchor="t"/>
          <a:lstStyle/>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Full autonomous multi-factor policy</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Continuous drift monitoring</a:t>
            </a:r>
            <a:endParaRPr lang="en-US" sz="1600" dirty="0"/>
          </a:p>
          <a:p>
            <a:pPr marL="203200" indent="-203200">
              <a:spcAft>
                <a:spcPts val="500"/>
              </a:spcAft>
              <a:buSzPct val="100000"/>
              <a:buChar char="•"/>
            </a:pPr>
            <a:r>
              <a:rPr lang="en-US" sz="1600" dirty="0">
                <a:solidFill>
                  <a:srgbClr val="E4E4E4"/>
                </a:solidFill>
                <a:latin typeface="Open Sauce" pitchFamily="34" charset="0"/>
                <a:ea typeface="Open Sauce" pitchFamily="34" charset="-122"/>
                <a:cs typeface="Open Sauce" pitchFamily="34" charset="-120"/>
              </a:rPr>
              <a:t>Demographic fairness auditing</a:t>
            </a:r>
            <a:endParaRPr lang="en-US" sz="1600" dirty="0"/>
          </a:p>
        </p:txBody>
      </p:sp>
      <p:sp>
        <p:nvSpPr>
          <p:cNvPr id="40" name="Shape 37"/>
          <p:cNvSpPr/>
          <p:nvPr/>
        </p:nvSpPr>
        <p:spPr>
          <a:xfrm>
            <a:off x="1097280" y="7818120"/>
            <a:ext cx="3851910" cy="1005840"/>
          </a:xfrm>
          <a:prstGeom prst="roundRect">
            <a:avLst>
              <a:gd name="adj" fmla="val 20000"/>
            </a:avLst>
          </a:prstGeom>
          <a:solidFill>
            <a:srgbClr val="1E1E1E"/>
          </a:solidFill>
          <a:ln w="12700">
            <a:solidFill>
              <a:srgbClr val="1E1E1E"/>
            </a:solidFill>
            <a:prstDash val="solid"/>
          </a:ln>
        </p:spPr>
      </p:sp>
      <p:sp>
        <p:nvSpPr>
          <p:cNvPr id="41" name="Text 38"/>
          <p:cNvSpPr txBox="1"/>
          <p:nvPr/>
        </p:nvSpPr>
        <p:spPr>
          <a:xfrm>
            <a:off x="137160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12</a:t>
            </a:r>
            <a:endParaRPr lang="en-US" sz="3500" dirty="0"/>
          </a:p>
        </p:txBody>
      </p:sp>
      <p:sp>
        <p:nvSpPr>
          <p:cNvPr id="42" name="Text 39"/>
          <p:cNvSpPr txBox="1"/>
          <p:nvPr/>
        </p:nvSpPr>
        <p:spPr>
          <a:xfrm>
            <a:off x="137160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Weeks to full pilot integration</a:t>
            </a:r>
            <a:endParaRPr lang="en-US" sz="1400" dirty="0"/>
          </a:p>
        </p:txBody>
      </p:sp>
      <p:sp>
        <p:nvSpPr>
          <p:cNvPr id="43" name="Shape 40"/>
          <p:cNvSpPr/>
          <p:nvPr/>
        </p:nvSpPr>
        <p:spPr>
          <a:xfrm>
            <a:off x="5177790" y="7818120"/>
            <a:ext cx="3851910" cy="1005840"/>
          </a:xfrm>
          <a:prstGeom prst="roundRect">
            <a:avLst>
              <a:gd name="adj" fmla="val 20000"/>
            </a:avLst>
          </a:prstGeom>
          <a:solidFill>
            <a:srgbClr val="1E1E1E"/>
          </a:solidFill>
          <a:ln w="12700">
            <a:solidFill>
              <a:srgbClr val="1E1E1E"/>
            </a:solidFill>
            <a:prstDash val="solid"/>
          </a:ln>
        </p:spPr>
      </p:sp>
      <p:sp>
        <p:nvSpPr>
          <p:cNvPr id="44" name="Text 41"/>
          <p:cNvSpPr txBox="1"/>
          <p:nvPr/>
        </p:nvSpPr>
        <p:spPr>
          <a:xfrm>
            <a:off x="545211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0</a:t>
            </a:r>
            <a:endParaRPr lang="en-US" sz="3500" dirty="0"/>
          </a:p>
        </p:txBody>
      </p:sp>
      <p:sp>
        <p:nvSpPr>
          <p:cNvPr id="45" name="Text 42"/>
          <p:cNvSpPr txBox="1"/>
          <p:nvPr/>
        </p:nvSpPr>
        <p:spPr>
          <a:xfrm>
            <a:off x="545211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Customer-blocking decisions in Phase 1</a:t>
            </a:r>
            <a:endParaRPr lang="en-US" sz="1400" dirty="0"/>
          </a:p>
        </p:txBody>
      </p:sp>
      <p:sp>
        <p:nvSpPr>
          <p:cNvPr id="46" name="Shape 43"/>
          <p:cNvSpPr/>
          <p:nvPr/>
        </p:nvSpPr>
        <p:spPr>
          <a:xfrm>
            <a:off x="9258300" y="7818120"/>
            <a:ext cx="3851910" cy="1005840"/>
          </a:xfrm>
          <a:prstGeom prst="roundRect">
            <a:avLst>
              <a:gd name="adj" fmla="val 20000"/>
            </a:avLst>
          </a:prstGeom>
          <a:solidFill>
            <a:srgbClr val="1E1E1E"/>
          </a:solidFill>
          <a:ln w="12700">
            <a:solidFill>
              <a:srgbClr val="1E1E1E"/>
            </a:solidFill>
            <a:prstDash val="solid"/>
          </a:ln>
        </p:spPr>
      </p:sp>
      <p:sp>
        <p:nvSpPr>
          <p:cNvPr id="47" name="Text 44"/>
          <p:cNvSpPr txBox="1"/>
          <p:nvPr/>
        </p:nvSpPr>
        <p:spPr>
          <a:xfrm>
            <a:off x="953262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4</a:t>
            </a:r>
            <a:endParaRPr lang="en-US" sz="3500" dirty="0"/>
          </a:p>
        </p:txBody>
      </p:sp>
      <p:sp>
        <p:nvSpPr>
          <p:cNvPr id="48" name="Text 45"/>
          <p:cNvSpPr txBox="1"/>
          <p:nvPr/>
        </p:nvSpPr>
        <p:spPr>
          <a:xfrm>
            <a:off x="953262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Phases, each additive</a:t>
            </a:r>
            <a:endParaRPr lang="en-US" sz="1400" dirty="0"/>
          </a:p>
        </p:txBody>
      </p:sp>
      <p:sp>
        <p:nvSpPr>
          <p:cNvPr id="49" name="Shape 46"/>
          <p:cNvSpPr/>
          <p:nvPr/>
        </p:nvSpPr>
        <p:spPr>
          <a:xfrm>
            <a:off x="13338810" y="7818120"/>
            <a:ext cx="3851910" cy="1005840"/>
          </a:xfrm>
          <a:prstGeom prst="roundRect">
            <a:avLst>
              <a:gd name="adj" fmla="val 20000"/>
            </a:avLst>
          </a:prstGeom>
          <a:solidFill>
            <a:srgbClr val="1E1E1E"/>
          </a:solidFill>
          <a:ln w="12700">
            <a:solidFill>
              <a:srgbClr val="1E1E1E"/>
            </a:solidFill>
            <a:prstDash val="solid"/>
          </a:ln>
        </p:spPr>
      </p:sp>
      <p:sp>
        <p:nvSpPr>
          <p:cNvPr id="50" name="Text 47"/>
          <p:cNvSpPr txBox="1"/>
          <p:nvPr/>
        </p:nvSpPr>
        <p:spPr>
          <a:xfrm>
            <a:off x="1361313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W13+</a:t>
            </a:r>
            <a:endParaRPr lang="en-US" sz="3500" dirty="0"/>
          </a:p>
        </p:txBody>
      </p:sp>
      <p:sp>
        <p:nvSpPr>
          <p:cNvPr id="51" name="Text 48"/>
          <p:cNvSpPr txBox="1"/>
          <p:nvPr/>
        </p:nvSpPr>
        <p:spPr>
          <a:xfrm>
            <a:off x="1361313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Autonomous multi-factor policy</a:t>
            </a:r>
            <a:endParaRPr lang="en-US" sz="1400" dirty="0"/>
          </a:p>
        </p:txBody>
      </p:sp>
      <p:sp>
        <p:nvSpPr>
          <p:cNvPr id="25" name="Slide Number Placeholder 0"/>
          <p:cNvSpPr>
            <a:spLocks noGrp="1"/>
          </p:cNvSpPr>
          <p:nvPr>
            <p:ph type="sldNum" sz="quarter" idx="4294967295"/>
          </p:nvPr>
        </p:nvSpPr>
        <p:spPr>
          <a:xfrm>
            <a:off x="15361920" y="9418320"/>
            <a:ext cx="1828800" cy="320040"/>
          </a:xfrm>
          <a:prstGeom prst="rect">
            <a:avLst/>
          </a:prstGeom>
          <a:extLst>
            <a:ext uri="{C572A759-6A51-4108-AA02-DFA0A04FC94B}">
              <ma14:wrappingTextBoxFlag xmlns:ma14="http://schemas.microsoft.com/office/mac/drawingml/2011/main" val="0"/>
            </a:ext>
          </a:extLst>
        </p:spPr>
        <p:txBody>
          <a:bodyPr/>
          <a:lstStyle>
            <a:lvl1pPr>
              <a:defRPr sz="1600">
                <a:solidFill>
                  <a:srgbClr val="A8A8A8"/>
                </a:solidFill>
                <a:latin typeface="Open Sauce"/>
                <a:ea typeface="Open Sauce"/>
                <a:cs typeface="Open Sauce"/>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12271248" y="457200"/>
            <a:ext cx="4919472" cy="457200"/>
          </a:xfrm>
          <a:prstGeom prst="roundRect">
            <a:avLst>
              <a:gd name="adj" fmla="val 50000"/>
            </a:avLst>
          </a:prstGeom>
          <a:solidFill>
            <a:srgbClr val="FFFFFF"/>
          </a:solidFill>
          <a:ln w="12700">
            <a:solidFill>
              <a:srgbClr val="FFFFFF"/>
            </a:solidFill>
            <a:prstDash val="solid"/>
          </a:ln>
        </p:spPr>
      </p:sp>
      <p:sp>
        <p:nvSpPr>
          <p:cNvPr id="3" name="Text 1"/>
          <p:cNvSpPr txBox="1"/>
          <p:nvPr/>
        </p:nvSpPr>
        <p:spPr>
          <a:xfrm>
            <a:off x="12271248" y="457200"/>
            <a:ext cx="4919472" cy="457200"/>
          </a:xfrm>
          <a:prstGeom prst="rect">
            <a:avLst/>
          </a:prstGeom>
          <a:noFill/>
          <a:ln/>
        </p:spPr>
        <p:txBody>
          <a:bodyPr wrap="square" lIns="0" tIns="0" rIns="0" bIns="0" rtlCol="0" anchor="ctr"/>
          <a:lstStyle/>
          <a:p>
            <a:pPr algn="ctr" indent="0" marL="0">
              <a:buNone/>
            </a:pPr>
            <a:r>
              <a:rPr lang="en-US" sz="1700" dirty="0">
                <a:solidFill>
                  <a:srgbClr val="000000"/>
                </a:solidFill>
                <a:latin typeface="Open Sauce" pitchFamily="34" charset="0"/>
                <a:ea typeface="Open Sauce" pitchFamily="34" charset="-122"/>
                <a:cs typeface="Open Sauce" pitchFamily="34" charset="-120"/>
              </a:rPr>
              <a:t>15 · VISION &amp; CALL TO ACTION</a:t>
            </a:r>
            <a:endParaRPr lang="en-US" sz="1700" dirty="0"/>
          </a:p>
        </p:txBody>
      </p:sp>
      <p:sp>
        <p:nvSpPr>
          <p:cNvPr id="4" name="Title"/>
          <p:cNvSpPr txBox="1"/>
          <p:nvPr/>
        </p:nvSpPr>
        <p:spPr>
          <a:xfrm>
            <a:off x="1097280" y="1188720"/>
            <a:ext cx="16093440" cy="1005840"/>
          </a:xfrm>
          <a:prstGeom prst="rect">
            <a:avLst/>
          </a:prstGeom>
          <a:noFill/>
          <a:ln/>
        </p:spPr>
        <p:txBody>
          <a:bodyPr wrap="square" lIns="0" tIns="0" rIns="0" bIns="0" rtlCol="0" anchor="t"/>
          <a:lstStyle/>
          <a:p>
            <a:pPr indent="0" marL="0">
              <a:buNone/>
            </a:pPr>
            <a:r>
              <a:rPr lang="en-US" sz="3800" b="1" dirty="0">
                <a:solidFill>
                  <a:srgbClr val="E4E4E4"/>
                </a:solidFill>
                <a:latin typeface="Open Sauce Bold" pitchFamily="34" charset="0"/>
                <a:ea typeface="Open Sauce Bold" pitchFamily="34" charset="-122"/>
                <a:cs typeface="Open Sauce Bold" pitchFamily="34" charset="-120"/>
              </a:rPr>
              <a:t>Make trust the default for Smart Bangladesh 2041</a:t>
            </a:r>
            <a:endParaRPr lang="en-US" sz="3800" dirty="0"/>
          </a:p>
        </p:txBody>
      </p:sp>
      <p:sp>
        <p:nvSpPr>
          <p:cNvPr id="5" name="Subtitle"/>
          <p:cNvSpPr txBox="1"/>
          <p:nvPr/>
        </p:nvSpPr>
        <p:spPr>
          <a:xfrm>
            <a:off x="1097280" y="2286000"/>
            <a:ext cx="16093440" cy="868680"/>
          </a:xfrm>
          <a:prstGeom prst="rect">
            <a:avLst/>
          </a:prstGeom>
          <a:noFill/>
          <a:ln/>
        </p:spPr>
        <p:txBody>
          <a:bodyPr wrap="square" lIns="0" tIns="0" rIns="0" bIns="0" rtlCol="0" anchor="t"/>
          <a:lstStyle/>
          <a:p>
            <a:pPr indent="0" marL="0">
              <a:buNone/>
            </a:pPr>
            <a:r>
              <a:rPr lang="en-US" sz="2100" dirty="0">
                <a:solidFill>
                  <a:srgbClr val="A8A8A8"/>
                </a:solidFill>
                <a:latin typeface="Open Sauce" pitchFamily="34" charset="0"/>
                <a:ea typeface="Open Sauce" pitchFamily="34" charset="-122"/>
                <a:cs typeface="Open Sauce" pitchFamily="34" charset="-120"/>
              </a:rPr>
              <a:t>Digital finance for 240 million wallets only scales if people stop fearing it.</a:t>
            </a:r>
            <a:endParaRPr lang="en-US" sz="2100" dirty="0"/>
          </a:p>
        </p:txBody>
      </p:sp>
      <p:sp>
        <p:nvSpPr>
          <p:cNvPr id="7" name="Shape 4"/>
          <p:cNvSpPr/>
          <p:nvPr/>
        </p:nvSpPr>
        <p:spPr>
          <a:xfrm>
            <a:off x="1097280" y="3520440"/>
            <a:ext cx="5212080" cy="2103120"/>
          </a:xfrm>
          <a:prstGeom prst="roundRect">
            <a:avLst>
              <a:gd name="adj" fmla="val 9565"/>
            </a:avLst>
          </a:prstGeom>
          <a:solidFill>
            <a:srgbClr val="F7761F"/>
          </a:solidFill>
          <a:ln w="12700">
            <a:solidFill>
              <a:srgbClr val="F7761F"/>
            </a:solidFill>
            <a:prstDash val="solid"/>
          </a:ln>
        </p:spPr>
      </p:sp>
      <p:sp>
        <p:nvSpPr>
          <p:cNvPr id="8" name="Text 5"/>
          <p:cNvSpPr txBox="1"/>
          <p:nvPr/>
        </p:nvSpPr>
        <p:spPr>
          <a:xfrm>
            <a:off x="1371600" y="3657600"/>
            <a:ext cx="4663440" cy="274320"/>
          </a:xfrm>
          <a:prstGeom prst="rect">
            <a:avLst/>
          </a:prstGeom>
          <a:noFill/>
          <a:ln/>
        </p:spPr>
        <p:txBody>
          <a:bodyPr wrap="square" lIns="0" tIns="0" rIns="0" bIns="0" rtlCol="0" anchor="t"/>
          <a:lstStyle/>
          <a:p>
            <a:pPr indent="0" marL="0">
              <a:buNone/>
            </a:pPr>
            <a:r>
              <a:rPr lang="en-US" sz="1500" b="1" dirty="0">
                <a:solidFill>
                  <a:srgbClr val="000000"/>
                </a:solidFill>
                <a:latin typeface="Open Sauce" pitchFamily="34" charset="0"/>
                <a:ea typeface="Open Sauce" pitchFamily="34" charset="-122"/>
                <a:cs typeface="Open Sauce" pitchFamily="34" charset="-120"/>
              </a:rPr>
              <a:t>ASK 1</a:t>
            </a:r>
            <a:endParaRPr lang="en-US" sz="1500" dirty="0"/>
          </a:p>
        </p:txBody>
      </p:sp>
      <p:sp>
        <p:nvSpPr>
          <p:cNvPr id="9" name="Text 6"/>
          <p:cNvSpPr txBox="1"/>
          <p:nvPr/>
        </p:nvSpPr>
        <p:spPr>
          <a:xfrm>
            <a:off x="1371600" y="3977640"/>
            <a:ext cx="4663440" cy="777240"/>
          </a:xfrm>
          <a:prstGeom prst="rect">
            <a:avLst/>
          </a:prstGeom>
          <a:noFill/>
          <a:ln/>
        </p:spPr>
        <p:txBody>
          <a:bodyPr wrap="square" lIns="0" tIns="0" rIns="0" bIns="0" rtlCol="0" anchor="t"/>
          <a:lstStyle/>
          <a:p>
            <a:pPr indent="0" marL="0">
              <a:buNone/>
            </a:pPr>
            <a:r>
              <a:rPr lang="en-US" sz="2200" b="1" dirty="0">
                <a:solidFill>
                  <a:srgbClr val="000000"/>
                </a:solidFill>
                <a:latin typeface="Open Sauce Bold" pitchFamily="34" charset="0"/>
                <a:ea typeface="Open Sauce Bold" pitchFamily="34" charset="-122"/>
                <a:cs typeface="Open Sauce Bold" pitchFamily="34" charset="-120"/>
              </a:rPr>
              <a:t>Approve a 12-week shadow-mode pilot</a:t>
            </a:r>
            <a:endParaRPr lang="en-US" sz="2200" dirty="0"/>
          </a:p>
        </p:txBody>
      </p:sp>
      <p:sp>
        <p:nvSpPr>
          <p:cNvPr id="10" name="Text 7"/>
          <p:cNvSpPr txBox="1"/>
          <p:nvPr/>
        </p:nvSpPr>
        <p:spPr>
          <a:xfrm>
            <a:off x="1371600" y="4800600"/>
            <a:ext cx="4663440" cy="777240"/>
          </a:xfrm>
          <a:prstGeom prst="rect">
            <a:avLst/>
          </a:prstGeom>
          <a:noFill/>
          <a:ln/>
        </p:spPr>
        <p:txBody>
          <a:bodyPr wrap="square" lIns="0" tIns="0" rIns="0" bIns="0" rtlCol="0" anchor="t"/>
          <a:lstStyle/>
          <a:p>
            <a:pPr indent="0" marL="0">
              <a:buNone/>
            </a:pPr>
            <a:r>
              <a:rPr lang="en-US" sz="1600" dirty="0">
                <a:solidFill>
                  <a:srgbClr val="000000"/>
                </a:solidFill>
                <a:latin typeface="Open Sauce" pitchFamily="34" charset="0"/>
                <a:ea typeface="Open Sauce" pitchFamily="34" charset="-122"/>
                <a:cs typeface="Open Sauce" pitchFamily="34" charset="-120"/>
              </a:rPr>
              <a:t>Phase 1 blocks nothing. It proves detection on live traffic at zero customer risk.</a:t>
            </a:r>
            <a:endParaRPr lang="en-US" sz="1600" dirty="0"/>
          </a:p>
        </p:txBody>
      </p:sp>
      <p:sp>
        <p:nvSpPr>
          <p:cNvPr id="11" name="Shape 8"/>
          <p:cNvSpPr/>
          <p:nvPr/>
        </p:nvSpPr>
        <p:spPr>
          <a:xfrm>
            <a:off x="6537960" y="3520440"/>
            <a:ext cx="5212080" cy="2103120"/>
          </a:xfrm>
          <a:prstGeom prst="roundRect">
            <a:avLst>
              <a:gd name="adj" fmla="val 9565"/>
            </a:avLst>
          </a:prstGeom>
          <a:solidFill>
            <a:srgbClr val="1E1E1E"/>
          </a:solidFill>
          <a:ln w="12700">
            <a:solidFill>
              <a:srgbClr val="1E1E1E"/>
            </a:solidFill>
            <a:prstDash val="solid"/>
          </a:ln>
        </p:spPr>
      </p:sp>
      <p:sp>
        <p:nvSpPr>
          <p:cNvPr id="12" name="Text 9"/>
          <p:cNvSpPr txBox="1"/>
          <p:nvPr/>
        </p:nvSpPr>
        <p:spPr>
          <a:xfrm>
            <a:off x="6812280" y="3657600"/>
            <a:ext cx="466344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ASK 2</a:t>
            </a:r>
            <a:endParaRPr lang="en-US" sz="1500" dirty="0"/>
          </a:p>
        </p:txBody>
      </p:sp>
      <p:sp>
        <p:nvSpPr>
          <p:cNvPr id="13" name="Text 10"/>
          <p:cNvSpPr txBox="1"/>
          <p:nvPr/>
        </p:nvSpPr>
        <p:spPr>
          <a:xfrm>
            <a:off x="6812280" y="3977640"/>
            <a:ext cx="4663440" cy="777240"/>
          </a:xfrm>
          <a:prstGeom prst="rect">
            <a:avLst/>
          </a:prstGeom>
          <a:noFill/>
          <a:ln/>
        </p:spPr>
        <p:txBody>
          <a:bodyPr wrap="square" lIns="0" tIns="0" rIns="0" bIns="0" rtlCol="0" anchor="t"/>
          <a:lstStyle/>
          <a:p>
            <a:pPr indent="0" marL="0">
              <a:buNone/>
            </a:pPr>
            <a:r>
              <a:rPr lang="en-US" sz="2200" b="1" dirty="0">
                <a:solidFill>
                  <a:srgbClr val="E4E4E4"/>
                </a:solidFill>
                <a:latin typeface="Open Sauce Bold" pitchFamily="34" charset="0"/>
                <a:ea typeface="Open Sauce Bold" pitchFamily="34" charset="-122"/>
                <a:cs typeface="Open Sauce Bold" pitchFamily="34" charset="-120"/>
              </a:rPr>
              <a:t>Nominate pilot corridors and agent clusters</a:t>
            </a:r>
            <a:endParaRPr lang="en-US" sz="2200" dirty="0"/>
          </a:p>
        </p:txBody>
      </p:sp>
      <p:sp>
        <p:nvSpPr>
          <p:cNvPr id="14" name="Text 11"/>
          <p:cNvSpPr txBox="1"/>
          <p:nvPr/>
        </p:nvSpPr>
        <p:spPr>
          <a:xfrm>
            <a:off x="6812280" y="4800600"/>
            <a:ext cx="4663440" cy="777240"/>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Border corridors host Agent Guard and the Pause &amp; Verify dialogs in Phase 2.</a:t>
            </a:r>
            <a:endParaRPr lang="en-US" sz="1600" dirty="0"/>
          </a:p>
        </p:txBody>
      </p:sp>
      <p:sp>
        <p:nvSpPr>
          <p:cNvPr id="15" name="Shape 12"/>
          <p:cNvSpPr/>
          <p:nvPr/>
        </p:nvSpPr>
        <p:spPr>
          <a:xfrm>
            <a:off x="11978640" y="3520440"/>
            <a:ext cx="5212080" cy="2103120"/>
          </a:xfrm>
          <a:prstGeom prst="roundRect">
            <a:avLst>
              <a:gd name="adj" fmla="val 9565"/>
            </a:avLst>
          </a:prstGeom>
          <a:solidFill>
            <a:srgbClr val="1E1E1E"/>
          </a:solidFill>
          <a:ln w="12700">
            <a:solidFill>
              <a:srgbClr val="1E1E1E"/>
            </a:solidFill>
            <a:prstDash val="solid"/>
          </a:ln>
        </p:spPr>
      </p:sp>
      <p:sp>
        <p:nvSpPr>
          <p:cNvPr id="16" name="Text 13"/>
          <p:cNvSpPr txBox="1"/>
          <p:nvPr/>
        </p:nvSpPr>
        <p:spPr>
          <a:xfrm>
            <a:off x="12252960" y="3657600"/>
            <a:ext cx="466344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ASK 3</a:t>
            </a:r>
            <a:endParaRPr lang="en-US" sz="1500" dirty="0"/>
          </a:p>
        </p:txBody>
      </p:sp>
      <p:sp>
        <p:nvSpPr>
          <p:cNvPr id="17" name="Text 14"/>
          <p:cNvSpPr txBox="1"/>
          <p:nvPr/>
        </p:nvSpPr>
        <p:spPr>
          <a:xfrm>
            <a:off x="12252960" y="3977640"/>
            <a:ext cx="4663440" cy="777240"/>
          </a:xfrm>
          <a:prstGeom prst="rect">
            <a:avLst/>
          </a:prstGeom>
          <a:noFill/>
          <a:ln/>
        </p:spPr>
        <p:txBody>
          <a:bodyPr wrap="square" lIns="0" tIns="0" rIns="0" bIns="0" rtlCol="0" anchor="t"/>
          <a:lstStyle/>
          <a:p>
            <a:pPr indent="0" marL="0">
              <a:buNone/>
            </a:pPr>
            <a:r>
              <a:rPr lang="en-US" sz="2200" b="1" dirty="0">
                <a:solidFill>
                  <a:srgbClr val="E4E4E4"/>
                </a:solidFill>
                <a:latin typeface="Open Sauce Bold" pitchFamily="34" charset="0"/>
                <a:ea typeface="Open Sauce Bold" pitchFamily="34" charset="-122"/>
                <a:cs typeface="Open Sauce Bold" pitchFamily="34" charset="-120"/>
              </a:rPr>
              <a:t>Open settlement-router access</a:t>
            </a:r>
            <a:endParaRPr lang="en-US" sz="2200" dirty="0"/>
          </a:p>
        </p:txBody>
      </p:sp>
      <p:sp>
        <p:nvSpPr>
          <p:cNvPr id="18" name="Text 15"/>
          <p:cNvSpPr txBox="1"/>
          <p:nvPr/>
        </p:nvSpPr>
        <p:spPr>
          <a:xfrm>
            <a:off x="12252960" y="4800600"/>
            <a:ext cx="4663440" cy="777240"/>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Phase 3 connects the recovery optimizer for automated golden-hour holds.</a:t>
            </a:r>
            <a:endParaRPr lang="en-US" sz="1600" dirty="0"/>
          </a:p>
        </p:txBody>
      </p:sp>
      <p:sp>
        <p:nvSpPr>
          <p:cNvPr id="19" name="Shape 16"/>
          <p:cNvSpPr/>
          <p:nvPr/>
        </p:nvSpPr>
        <p:spPr>
          <a:xfrm>
            <a:off x="1097280" y="5852160"/>
            <a:ext cx="7955280" cy="1828800"/>
          </a:xfrm>
          <a:prstGeom prst="roundRect">
            <a:avLst>
              <a:gd name="adj" fmla="val 11000"/>
            </a:avLst>
          </a:prstGeom>
          <a:solidFill>
            <a:srgbClr val="141414"/>
          </a:solidFill>
          <a:ln w="12700">
            <a:solidFill>
              <a:srgbClr val="141414"/>
            </a:solidFill>
            <a:prstDash val="solid"/>
          </a:ln>
        </p:spPr>
      </p:sp>
      <p:sp>
        <p:nvSpPr>
          <p:cNvPr id="20" name="Text 17"/>
          <p:cNvSpPr txBox="1"/>
          <p:nvPr/>
        </p:nvSpPr>
        <p:spPr>
          <a:xfrm>
            <a:off x="1371600" y="5989320"/>
            <a:ext cx="548640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VERIFIED, NOT PROMISED</a:t>
            </a:r>
            <a:endParaRPr lang="en-US" sz="1500" dirty="0"/>
          </a:p>
        </p:txBody>
      </p:sp>
      <p:sp>
        <p:nvSpPr>
          <p:cNvPr id="21" name="Text 18"/>
          <p:cNvSpPr txBox="1"/>
          <p:nvPr/>
        </p:nvSpPr>
        <p:spPr>
          <a:xfrm>
            <a:off x="1371600" y="6355080"/>
            <a:ext cx="2926080" cy="822960"/>
          </a:xfrm>
          <a:prstGeom prst="rect">
            <a:avLst/>
          </a:prstGeom>
          <a:noFill/>
          <a:ln/>
        </p:spPr>
        <p:txBody>
          <a:bodyPr wrap="square" lIns="0" tIns="0" rIns="0" bIns="0" rtlCol="0" anchor="ctr"/>
          <a:lstStyle/>
          <a:p>
            <a:pPr indent="0" marL="0">
              <a:buNone/>
            </a:pPr>
            <a:r>
              <a:rPr lang="en-US" sz="4600" b="1" dirty="0">
                <a:solidFill>
                  <a:srgbClr val="F7761F"/>
                </a:solidFill>
                <a:latin typeface="Open Sauce Bold" pitchFamily="34" charset="0"/>
                <a:ea typeface="Open Sauce Bold" pitchFamily="34" charset="-122"/>
                <a:cs typeface="Open Sauce Bold" pitchFamily="34" charset="-120"/>
              </a:rPr>
              <a:t>151 / 151</a:t>
            </a:r>
            <a:endParaRPr lang="en-US" sz="4600" dirty="0"/>
          </a:p>
        </p:txBody>
      </p:sp>
      <p:sp>
        <p:nvSpPr>
          <p:cNvPr id="22" name="Text 19"/>
          <p:cNvSpPr txBox="1"/>
          <p:nvPr/>
        </p:nvSpPr>
        <p:spPr>
          <a:xfrm>
            <a:off x="4389120" y="6309360"/>
            <a:ext cx="4434840" cy="1280160"/>
          </a:xfrm>
          <a:prstGeom prst="rect">
            <a:avLst/>
          </a:prstGeom>
          <a:noFill/>
          <a:ln/>
        </p:spPr>
        <p:txBody>
          <a:bodyPr wrap="square" lIns="0" tIns="0" rIns="0" bIns="0" rtlCol="0" anchor="t"/>
          <a:lstStyle/>
          <a:p>
            <a:pPr indent="0" marL="0">
              <a:buNone/>
            </a:pPr>
            <a:r>
              <a:rPr lang="en-US" sz="1600" dirty="0">
                <a:solidFill>
                  <a:srgbClr val="A8A8A8"/>
                </a:solidFill>
                <a:latin typeface="Open Sauce" pitchFamily="34" charset="0"/>
                <a:ea typeface="Open Sauce" pitchFamily="34" charset="-122"/>
                <a:cs typeface="Open Sauce" pitchFamily="34" charset="-120"/>
              </a:rPr>
              <a:t>Vitest suites passing across the Next.js 15, React 19, TypeScript and Express stack, with a working executive dashboard and live-interception simulator.</a:t>
            </a:r>
            <a:endParaRPr lang="en-US" sz="1600" dirty="0"/>
          </a:p>
        </p:txBody>
      </p:sp>
      <p:sp>
        <p:nvSpPr>
          <p:cNvPr id="23" name="Shape 20"/>
          <p:cNvSpPr/>
          <p:nvPr/>
        </p:nvSpPr>
        <p:spPr>
          <a:xfrm>
            <a:off x="9281160" y="5852160"/>
            <a:ext cx="7909560" cy="1828800"/>
          </a:xfrm>
          <a:prstGeom prst="roundRect">
            <a:avLst>
              <a:gd name="adj" fmla="val 11000"/>
            </a:avLst>
          </a:prstGeom>
          <a:solidFill>
            <a:srgbClr val="141414"/>
          </a:solidFill>
          <a:ln w="12700">
            <a:solidFill>
              <a:srgbClr val="141414"/>
            </a:solidFill>
            <a:prstDash val="solid"/>
          </a:ln>
        </p:spPr>
      </p:sp>
      <p:sp>
        <p:nvSpPr>
          <p:cNvPr id="24" name="Text 21"/>
          <p:cNvSpPr txBox="1"/>
          <p:nvPr/>
        </p:nvSpPr>
        <p:spPr>
          <a:xfrm>
            <a:off x="9555480" y="5989320"/>
            <a:ext cx="5486400" cy="274320"/>
          </a:xfrm>
          <a:prstGeom prst="rect">
            <a:avLst/>
          </a:prstGeom>
          <a:noFill/>
          <a:ln/>
        </p:spPr>
        <p:txBody>
          <a:bodyPr wrap="square" lIns="0" tIns="0" rIns="0" bIns="0" rtlCol="0" anchor="t"/>
          <a:lstStyle/>
          <a:p>
            <a:pPr indent="0" marL="0">
              <a:buNone/>
            </a:pPr>
            <a:r>
              <a:rPr lang="en-US" sz="1500" b="1" dirty="0">
                <a:solidFill>
                  <a:srgbClr val="F7761F"/>
                </a:solidFill>
                <a:latin typeface="Open Sauce" pitchFamily="34" charset="0"/>
                <a:ea typeface="Open Sauce" pitchFamily="34" charset="-122"/>
                <a:cs typeface="Open Sauce" pitchFamily="34" charset="-120"/>
              </a:rPr>
              <a:t>WHAT CHANGES</a:t>
            </a:r>
            <a:endParaRPr lang="en-US" sz="1500" dirty="0"/>
          </a:p>
        </p:txBody>
      </p:sp>
      <p:sp>
        <p:nvSpPr>
          <p:cNvPr id="25" name="Text 22"/>
          <p:cNvSpPr txBox="1"/>
          <p:nvPr/>
        </p:nvSpPr>
        <p:spPr>
          <a:xfrm>
            <a:off x="9555480" y="6355080"/>
            <a:ext cx="7360920" cy="1280160"/>
          </a:xfrm>
          <a:prstGeom prst="rect">
            <a:avLst/>
          </a:prstGeom>
          <a:noFill/>
          <a:ln/>
        </p:spPr>
        <p:txBody>
          <a:bodyPr wrap="square" lIns="0" tIns="0" rIns="0" bIns="0" rtlCol="0" anchor="t"/>
          <a:lstStyle/>
          <a:p>
            <a:pPr marL="203200" indent="-203200">
              <a:spcAft>
                <a:spcPts val="500"/>
              </a:spcAft>
              <a:buSzPct val="100000"/>
              <a:buChar char="•"/>
            </a:pPr>
            <a:r>
              <a:rPr lang="en-US" sz="1700" dirty="0">
                <a:solidFill>
                  <a:srgbClr val="E4E4E4"/>
                </a:solidFill>
                <a:latin typeface="Open Sauce" pitchFamily="34" charset="0"/>
                <a:ea typeface="Open Sauce" pitchFamily="34" charset="-122"/>
                <a:cs typeface="Open Sauce" pitchFamily="34" charset="-120"/>
              </a:rPr>
              <a:t>Scams are interrupted before money moves</a:t>
            </a:r>
            <a:endParaRPr lang="en-US" sz="1700" dirty="0"/>
          </a:p>
          <a:p>
            <a:pPr marL="203200" indent="-203200">
              <a:spcAft>
                <a:spcPts val="500"/>
              </a:spcAft>
              <a:buSzPct val="100000"/>
              <a:buChar char="•"/>
            </a:pPr>
            <a:r>
              <a:rPr lang="en-US" sz="1700" dirty="0">
                <a:solidFill>
                  <a:srgbClr val="E4E4E4"/>
                </a:solidFill>
                <a:latin typeface="Open Sauce" pitchFamily="34" charset="0"/>
                <a:ea typeface="Open Sauce" pitchFamily="34" charset="-122"/>
                <a:cs typeface="Open Sauce" pitchFamily="34" charset="-120"/>
              </a:rPr>
              <a:t>Mule rings are frozen in milliseconds</a:t>
            </a:r>
            <a:endParaRPr lang="en-US" sz="1700" dirty="0"/>
          </a:p>
          <a:p>
            <a:pPr marL="203200" indent="-203200">
              <a:spcAft>
                <a:spcPts val="500"/>
              </a:spcAft>
              <a:buSzPct val="100000"/>
              <a:buChar char="•"/>
            </a:pPr>
            <a:r>
              <a:rPr lang="en-US" sz="1700" dirty="0">
                <a:solidFill>
                  <a:srgbClr val="E4E4E4"/>
                </a:solidFill>
                <a:latin typeface="Open Sauce" pitchFamily="34" charset="0"/>
                <a:ea typeface="Open Sauce" pitchFamily="34" charset="-122"/>
                <a:cs typeface="Open Sauce" pitchFamily="34" charset="-120"/>
              </a:rPr>
              <a:t>Honest agents stay open during Eid</a:t>
            </a:r>
            <a:endParaRPr lang="en-US" sz="1700" dirty="0"/>
          </a:p>
          <a:p>
            <a:pPr marL="203200" indent="-203200">
              <a:spcAft>
                <a:spcPts val="500"/>
              </a:spcAft>
              <a:buSzPct val="100000"/>
              <a:buChar char="•"/>
            </a:pPr>
            <a:r>
              <a:rPr lang="en-US" sz="1700" dirty="0">
                <a:solidFill>
                  <a:srgbClr val="E4E4E4"/>
                </a:solidFill>
                <a:latin typeface="Open Sauce" pitchFamily="34" charset="0"/>
                <a:ea typeface="Open Sauce" pitchFamily="34" charset="-122"/>
                <a:cs typeface="Open Sauce" pitchFamily="34" charset="-120"/>
              </a:rPr>
              <a:t>Every decision is auditable by the regulator</a:t>
            </a:r>
            <a:endParaRPr lang="en-US" sz="1700" dirty="0"/>
          </a:p>
        </p:txBody>
      </p:sp>
      <p:sp>
        <p:nvSpPr>
          <p:cNvPr id="26" name="Shape 23"/>
          <p:cNvSpPr/>
          <p:nvPr/>
        </p:nvSpPr>
        <p:spPr>
          <a:xfrm>
            <a:off x="1097280" y="7818120"/>
            <a:ext cx="3851910" cy="1005840"/>
          </a:xfrm>
          <a:prstGeom prst="roundRect">
            <a:avLst>
              <a:gd name="adj" fmla="val 20000"/>
            </a:avLst>
          </a:prstGeom>
          <a:solidFill>
            <a:srgbClr val="1E1E1E"/>
          </a:solidFill>
          <a:ln w="12700">
            <a:solidFill>
              <a:srgbClr val="1E1E1E"/>
            </a:solidFill>
            <a:prstDash val="solid"/>
          </a:ln>
        </p:spPr>
      </p:sp>
      <p:sp>
        <p:nvSpPr>
          <p:cNvPr id="27" name="Text 24"/>
          <p:cNvSpPr txBox="1"/>
          <p:nvPr/>
        </p:nvSpPr>
        <p:spPr>
          <a:xfrm>
            <a:off x="137160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84.6%</a:t>
            </a:r>
            <a:endParaRPr lang="en-US" sz="3500" dirty="0"/>
          </a:p>
        </p:txBody>
      </p:sp>
      <p:sp>
        <p:nvSpPr>
          <p:cNvPr id="28" name="Text 25"/>
          <p:cNvSpPr txBox="1"/>
          <p:nvPr/>
        </p:nvSpPr>
        <p:spPr>
          <a:xfrm>
            <a:off x="137160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Fewer net fraud losses</a:t>
            </a:r>
            <a:endParaRPr lang="en-US" sz="1400" dirty="0"/>
          </a:p>
        </p:txBody>
      </p:sp>
      <p:sp>
        <p:nvSpPr>
          <p:cNvPr id="29" name="Shape 26"/>
          <p:cNvSpPr/>
          <p:nvPr/>
        </p:nvSpPr>
        <p:spPr>
          <a:xfrm>
            <a:off x="5177790" y="7818120"/>
            <a:ext cx="3851910" cy="1005840"/>
          </a:xfrm>
          <a:prstGeom prst="roundRect">
            <a:avLst>
              <a:gd name="adj" fmla="val 20000"/>
            </a:avLst>
          </a:prstGeom>
          <a:solidFill>
            <a:srgbClr val="1E1E1E"/>
          </a:solidFill>
          <a:ln w="12700">
            <a:solidFill>
              <a:srgbClr val="1E1E1E"/>
            </a:solidFill>
            <a:prstDash val="solid"/>
          </a:ln>
        </p:spPr>
      </p:sp>
      <p:sp>
        <p:nvSpPr>
          <p:cNvPr id="30" name="Text 27"/>
          <p:cNvSpPr txBox="1"/>
          <p:nvPr/>
        </p:nvSpPr>
        <p:spPr>
          <a:xfrm>
            <a:off x="545211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৳42.6M</a:t>
            </a:r>
            <a:endParaRPr lang="en-US" sz="3500" dirty="0"/>
          </a:p>
        </p:txBody>
      </p:sp>
      <p:sp>
        <p:nvSpPr>
          <p:cNvPr id="31" name="Text 28"/>
          <p:cNvSpPr txBox="1"/>
          <p:nvPr/>
        </p:nvSpPr>
        <p:spPr>
          <a:xfrm>
            <a:off x="545211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Preserved a year on the pilot</a:t>
            </a:r>
            <a:endParaRPr lang="en-US" sz="1400" dirty="0"/>
          </a:p>
        </p:txBody>
      </p:sp>
      <p:sp>
        <p:nvSpPr>
          <p:cNvPr id="32" name="Shape 29"/>
          <p:cNvSpPr/>
          <p:nvPr/>
        </p:nvSpPr>
        <p:spPr>
          <a:xfrm>
            <a:off x="9258300" y="7818120"/>
            <a:ext cx="3851910" cy="1005840"/>
          </a:xfrm>
          <a:prstGeom prst="roundRect">
            <a:avLst>
              <a:gd name="adj" fmla="val 20000"/>
            </a:avLst>
          </a:prstGeom>
          <a:solidFill>
            <a:srgbClr val="1E1E1E"/>
          </a:solidFill>
          <a:ln w="12700">
            <a:solidFill>
              <a:srgbClr val="1E1E1E"/>
            </a:solidFill>
            <a:prstDash val="solid"/>
          </a:ln>
        </p:spPr>
      </p:sp>
      <p:sp>
        <p:nvSpPr>
          <p:cNvPr id="33" name="Text 30"/>
          <p:cNvSpPr txBox="1"/>
          <p:nvPr/>
        </p:nvSpPr>
        <p:spPr>
          <a:xfrm>
            <a:off x="953262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8.4x</a:t>
            </a:r>
            <a:endParaRPr lang="en-US" sz="3500" dirty="0"/>
          </a:p>
        </p:txBody>
      </p:sp>
      <p:sp>
        <p:nvSpPr>
          <p:cNvPr id="34" name="Text 31"/>
          <p:cNvSpPr txBox="1"/>
          <p:nvPr/>
        </p:nvSpPr>
        <p:spPr>
          <a:xfrm>
            <a:off x="953262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Net Year-1 ROI</a:t>
            </a:r>
            <a:endParaRPr lang="en-US" sz="1400" dirty="0"/>
          </a:p>
        </p:txBody>
      </p:sp>
      <p:sp>
        <p:nvSpPr>
          <p:cNvPr id="35" name="Shape 32"/>
          <p:cNvSpPr/>
          <p:nvPr/>
        </p:nvSpPr>
        <p:spPr>
          <a:xfrm>
            <a:off x="13338810" y="7818120"/>
            <a:ext cx="3851910" cy="1005840"/>
          </a:xfrm>
          <a:prstGeom prst="roundRect">
            <a:avLst>
              <a:gd name="adj" fmla="val 20000"/>
            </a:avLst>
          </a:prstGeom>
          <a:solidFill>
            <a:srgbClr val="1E1E1E"/>
          </a:solidFill>
          <a:ln w="12700">
            <a:solidFill>
              <a:srgbClr val="1E1E1E"/>
            </a:solidFill>
            <a:prstDash val="solid"/>
          </a:ln>
        </p:spPr>
      </p:sp>
      <p:sp>
        <p:nvSpPr>
          <p:cNvPr id="36" name="Text 33"/>
          <p:cNvSpPr txBox="1"/>
          <p:nvPr/>
        </p:nvSpPr>
        <p:spPr>
          <a:xfrm>
            <a:off x="13613130" y="7909560"/>
            <a:ext cx="3303270" cy="502920"/>
          </a:xfrm>
          <a:prstGeom prst="rect">
            <a:avLst/>
          </a:prstGeom>
          <a:noFill/>
          <a:ln/>
        </p:spPr>
        <p:txBody>
          <a:bodyPr wrap="square" lIns="0" tIns="0" rIns="0" bIns="0" rtlCol="0" anchor="ctr"/>
          <a:lstStyle/>
          <a:p>
            <a:pPr indent="0" marL="0">
              <a:buNone/>
            </a:pPr>
            <a:r>
              <a:rPr lang="en-US" sz="3500" b="1" dirty="0">
                <a:solidFill>
                  <a:srgbClr val="F7761F"/>
                </a:solidFill>
                <a:latin typeface="Open Sauce Bold" pitchFamily="34" charset="0"/>
                <a:ea typeface="Open Sauce Bold" pitchFamily="34" charset="-122"/>
                <a:cs typeface="Open Sauce Bold" pitchFamily="34" charset="-120"/>
              </a:rPr>
              <a:t>12 wks</a:t>
            </a:r>
            <a:endParaRPr lang="en-US" sz="3500" dirty="0"/>
          </a:p>
        </p:txBody>
      </p:sp>
      <p:sp>
        <p:nvSpPr>
          <p:cNvPr id="37" name="Text 34"/>
          <p:cNvSpPr txBox="1"/>
          <p:nvPr/>
        </p:nvSpPr>
        <p:spPr>
          <a:xfrm>
            <a:off x="13613130" y="8421624"/>
            <a:ext cx="3303270" cy="310896"/>
          </a:xfrm>
          <a:prstGeom prst="rect">
            <a:avLst/>
          </a:prstGeom>
          <a:noFill/>
          <a:ln/>
        </p:spPr>
        <p:txBody>
          <a:bodyPr wrap="square" lIns="0" tIns="0" rIns="0" bIns="0" rtlCol="0" anchor="t"/>
          <a:lstStyle/>
          <a:p>
            <a:pPr indent="0" marL="0">
              <a:buNone/>
            </a:pPr>
            <a:r>
              <a:rPr lang="en-US" sz="1400" dirty="0">
                <a:solidFill>
                  <a:srgbClr val="A8A8A8"/>
                </a:solidFill>
                <a:latin typeface="Open Sauce" pitchFamily="34" charset="0"/>
                <a:ea typeface="Open Sauce" pitchFamily="34" charset="-122"/>
                <a:cs typeface="Open Sauce" pitchFamily="34" charset="-120"/>
              </a:rPr>
              <a:t>To a fully integrated pilot</a:t>
            </a:r>
            <a:endParaRPr lang="en-US" sz="1400" dirty="0"/>
          </a:p>
        </p:txBody>
      </p:sp>
      <p:sp>
        <p:nvSpPr>
          <p:cNvPr id="25" name="Slide Number Placeholder 0"/>
          <p:cNvSpPr>
            <a:spLocks noGrp="1"/>
          </p:cNvSpPr>
          <p:nvPr>
            <p:ph type="sldNum" sz="quarter" idx="4294967295"/>
          </p:nvPr>
        </p:nvSpPr>
        <p:spPr>
          <a:xfrm>
            <a:off x="15361920" y="9418320"/>
            <a:ext cx="1828800" cy="320040"/>
          </a:xfrm>
          <a:prstGeom prst="rect">
            <a:avLst/>
          </a:prstGeom>
          <a:extLst>
            <a:ext uri="{C572A759-6A51-4108-AA02-DFA0A04FC94B}">
              <ma14:wrappingTextBoxFlag xmlns:ma14="http://schemas.microsoft.com/office/mac/drawingml/2011/main" val="0"/>
            </a:ext>
          </a:extLst>
        </p:spPr>
        <p:txBody>
          <a:bodyPr/>
          <a:lstStyle>
            <a:lvl1pPr>
              <a:defRPr sz="1600">
                <a:solidFill>
                  <a:srgbClr val="A8A8A8"/>
                </a:solidFill>
                <a:latin typeface="Open Sauce"/>
                <a:ea typeface="Open Sauce"/>
                <a:cs typeface="Open Sauce"/>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Upay Shield">
  <a:themeElements>
    <a:clrScheme name="Upay Shield">
      <a:dk1>
        <a:srgbClr val="000000"/>
      </a:dk1>
      <a:lt1>
        <a:srgbClr val="E4E4E4"/>
      </a:lt1>
      <a:dk2>
        <a:srgbClr val="1E1E1E"/>
      </a:dk2>
      <a:lt2>
        <a:srgbClr val="FFFFFF"/>
      </a:lt2>
      <a:accent1>
        <a:srgbClr val="F7761F"/>
      </a:accent1>
      <a:accent2>
        <a:srgbClr val="FF9A4D"/>
      </a:accent2>
      <a:accent3>
        <a:srgbClr val="B8501A"/>
      </a:accent3>
      <a:accent4>
        <a:srgbClr val="A8A8A8"/>
      </a:accent4>
      <a:accent5>
        <a:srgbClr val="3A3A3A"/>
      </a:accent5>
      <a:accent6>
        <a:srgbClr val="6B3414"/>
      </a:accent6>
      <a:hlink>
        <a:srgbClr val="FF9A4D"/>
      </a:hlink>
      <a:folHlink>
        <a:srgbClr val="A8A8A8"/>
      </a:folHlink>
    </a:clrScheme>
    <a:fontScheme name="Upay Shield">
      <a:majorFont>
        <a:latin typeface="Open Sauce 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en Sauc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upay Shield – Business Case 2026</dc:title>
  <dc:subject>PptxGenJS Presentation</dc:subject>
  <dc:creator>PptxGenJS</dc:creator>
  <cp:lastModifiedBy>PptxGenJS</cp:lastModifiedBy>
  <cp:revision>1</cp:revision>
  <dcterms:created xsi:type="dcterms:W3CDTF">2026-10-03T11:58:25Z</dcterms:created>
  <dcterms:modified xsi:type="dcterms:W3CDTF">2026-10-03T11:58:25Z</dcterms:modified>
</cp:coreProperties>
</file>
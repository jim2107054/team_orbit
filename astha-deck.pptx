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0287000" cy="18288000"/>
  <p:embeddedFontLst>
    <p:embeddedFont>
      <p:font typeface="DM Sans" pitchFamily="2" charset="0"/>
      <p:regular r:id="rId22"/>
    </p:embeddedFont>
    <p:embeddedFont>
      <p:font typeface="Open Sauce" panose="020B0604020202020204" charset="0"/>
      <p:regular r:id="rId23"/>
    </p:embeddedFont>
    <p:embeddedFont>
      <p:font typeface="Open Sauce 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B9A67CE-728A-EE2C-D1F0-52D1BB61B30B}">
          <p14:sldIdLst>
            <p14:sldId id="256"/>
            <p14:sldId id="257"/>
          </p14:sldIdLst>
        </p14:section>
        <p14:section name="The problem" id="{762575ED-456C-6AA1-B759-C53595161462}">
          <p14:sldIdLst>
            <p14:sldId id="258"/>
            <p14:sldId id="259"/>
            <p14:sldId id="260"/>
          </p14:sldIdLst>
        </p14:section>
        <p14:section name="The platform" id="{2A300B36-2010-51B0-5594-70E7D848DAF9}">
          <p14:sldIdLst>
            <p14:sldId id="261"/>
            <p14:sldId id="262"/>
          </p14:sldIdLst>
        </p14:section>
        <p14:section name="Architecture" id="{D66C664C-37AA-A6D3-569C-B652C09F1D14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Evidence" id="{6250F436-F79B-1086-2198-45CB454E65E4}">
          <p14:sldIdLst>
            <p14:sldId id="272"/>
            <p14:sldId id="273"/>
          </p14:sldIdLst>
        </p14:section>
        <p14:section name="Close" id="{7006494B-4D29-D6A9-F6EE-4D7995E0CBA2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479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Astha is a working, end-to-end fraud and scam defence platform for mobile financial services in Bangladesh. Everything in this deck runs against a live Neon PostgreSQL database and was verified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attack is social, not technical. The transaction is authorised by the genuine account holder, so classic fraud rules see nothing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8.png"/><Relationship Id="rId15" Type="http://schemas.openxmlformats.org/officeDocument/2006/relationships/image" Target="../media/image21.png"/><Relationship Id="rId10" Type="http://schemas.openxmlformats.org/officeDocument/2006/relationships/image" Target="../media/image28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Relationship Id="rId1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21.png"/><Relationship Id="rId3" Type="http://schemas.openxmlformats.org/officeDocument/2006/relationships/image" Target="../media/image37.png"/><Relationship Id="rId7" Type="http://schemas.openxmlformats.org/officeDocument/2006/relationships/image" Target="../media/image38.pn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1.png"/><Relationship Id="rId5" Type="http://schemas.openxmlformats.org/officeDocument/2006/relationships/image" Target="../media/image33.png"/><Relationship Id="rId10" Type="http://schemas.openxmlformats.org/officeDocument/2006/relationships/image" Target="../media/image30.png"/><Relationship Id="rId4" Type="http://schemas.openxmlformats.org/officeDocument/2006/relationships/image" Target="../media/image31.png"/><Relationship Id="rId9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4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30.png"/><Relationship Id="rId3" Type="http://schemas.openxmlformats.org/officeDocument/2006/relationships/image" Target="../media/image14.png"/><Relationship Id="rId7" Type="http://schemas.openxmlformats.org/officeDocument/2006/relationships/image" Target="../media/image47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17.png"/><Relationship Id="rId15" Type="http://schemas.openxmlformats.org/officeDocument/2006/relationships/image" Target="../media/image53.png"/><Relationship Id="rId10" Type="http://schemas.openxmlformats.org/officeDocument/2006/relationships/image" Target="../media/image50.png"/><Relationship Id="rId4" Type="http://schemas.openxmlformats.org/officeDocument/2006/relationships/image" Target="../media/image15.png"/><Relationship Id="rId9" Type="http://schemas.openxmlformats.org/officeDocument/2006/relationships/image" Target="../media/image49.png"/><Relationship Id="rId1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10" Type="http://schemas.openxmlformats.org/officeDocument/2006/relationships/image" Target="../media/image20.png"/><Relationship Id="rId4" Type="http://schemas.openxmlformats.org/officeDocument/2006/relationships/image" Target="../media/image3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" descr="D:\claude-tmp\claude\d--Team-Orbit\7330a9ca-124e-4916-82f3-b05cfdf2a85d\scratchpad\deck\assets\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76872" y="-1837944"/>
            <a:ext cx="13962888" cy="13962888"/>
          </a:xfrm>
          <a:prstGeom prst="rect">
            <a:avLst/>
          </a:prstGeom>
        </p:spPr>
      </p:pic>
      <p:pic>
        <p:nvPicPr>
          <p:cNvPr id="3" name="hero-asterisk" descr="D:\claude-tmp\claude\d--Team-Orbit\7330a9ca-124e-4916-82f3-b05cfdf2a85d\scratchpad\deck\assets\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584" y="621792"/>
            <a:ext cx="9043416" cy="9043416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pic>
        <p:nvPicPr>
          <p:cNvPr id="7" name="astha-mark" descr="D:\claude-tmp\claude\d--Team-Orbit\7330a9ca-124e-4916-82f3-b05cfdf2a85d\scratchpad\deck\assets\astha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1783080"/>
            <a:ext cx="2103120" cy="2103120"/>
          </a:xfrm>
          <a:prstGeom prst="rect">
            <a:avLst/>
          </a:prstGeom>
        </p:spPr>
      </p:pic>
      <p:sp>
        <p:nvSpPr>
          <p:cNvPr id="8" name="hero"/>
          <p:cNvSpPr txBox="1"/>
          <p:nvPr/>
        </p:nvSpPr>
        <p:spPr>
          <a:xfrm>
            <a:off x="978408" y="4206240"/>
            <a:ext cx="1224381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0" dirty="0">
                <a:solidFill>
                  <a:srgbClr val="E4E4E4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Astha</a:t>
            </a:r>
            <a:endParaRPr lang="en-US" sz="20000" dirty="0"/>
          </a:p>
        </p:txBody>
      </p:sp>
      <p:sp>
        <p:nvSpPr>
          <p:cNvPr id="9" name="hero-sub"/>
          <p:cNvSpPr txBox="1"/>
          <p:nvPr/>
        </p:nvSpPr>
        <p:spPr>
          <a:xfrm>
            <a:off x="1133856" y="7059168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3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AUTONOMOUS MFS</a:t>
            </a:r>
            <a:endParaRPr lang="en-US" sz="33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3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SCAM &amp; FRAUD</a:t>
            </a:r>
            <a:endParaRPr lang="en-US" sz="33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3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DEFENSE PLATFORM</a:t>
            </a:r>
            <a:endParaRPr lang="en-US" sz="3300" dirty="0"/>
          </a:p>
        </p:txBody>
      </p:sp>
      <p:sp>
        <p:nvSpPr>
          <p:cNvPr id="10" name="rule"/>
          <p:cNvSpPr/>
          <p:nvPr/>
        </p:nvSpPr>
        <p:spPr>
          <a:xfrm>
            <a:off x="-438912" y="8915400"/>
            <a:ext cx="19156680" cy="0"/>
          </a:xfrm>
          <a:prstGeom prst="line">
            <a:avLst/>
          </a:prstGeom>
          <a:noFill/>
          <a:ln w="9525">
            <a:solidFill>
              <a:srgbClr val="E4E4E4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1024128" y="938174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Bangla scam interception  ·  mule-ring intelligence  ·  golden-hour recovery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0" y="9381744"/>
            <a:ext cx="5833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  ·  UCB Fintech Hackathon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ircles" descr="D:\claude-tmp\claude\d--Team-Orbit\7330a9ca-124e-4916-82f3-b05cfdf2a85d\scratchpad\deck\assets\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868680"/>
            <a:ext cx="11430000" cy="15078456"/>
          </a:xfrm>
          <a:prstGeom prst="rect">
            <a:avLst/>
          </a:prstGeom>
        </p:spPr>
      </p:pic>
      <p:sp>
        <p:nvSpPr>
          <p:cNvPr id="3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4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6" name="title"/>
          <p:cNvSpPr txBox="1"/>
          <p:nvPr/>
        </p:nvSpPr>
        <p:spPr>
          <a:xfrm>
            <a:off x="1024128" y="15544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Agenda</a:t>
            </a:r>
            <a:endParaRPr lang="en-US" sz="13500" dirty="0"/>
          </a:p>
        </p:txBody>
      </p:sp>
      <p:sp>
        <p:nvSpPr>
          <p:cNvPr id="7" name="pill"/>
          <p:cNvSpPr/>
          <p:nvPr/>
        </p:nvSpPr>
        <p:spPr>
          <a:xfrm>
            <a:off x="1024128" y="5111496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-disc"/>
          <p:cNvSpPr/>
          <p:nvPr/>
        </p:nvSpPr>
        <p:spPr>
          <a:xfrm>
            <a:off x="1170432" y="5207508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53263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67712" y="5111496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problem we attack</a:t>
            </a:r>
            <a:endParaRPr lang="en-US" sz="3600" dirty="0"/>
          </a:p>
        </p:txBody>
      </p:sp>
      <p:sp>
        <p:nvSpPr>
          <p:cNvPr id="11" name="pill"/>
          <p:cNvSpPr/>
          <p:nvPr/>
        </p:nvSpPr>
        <p:spPr>
          <a:xfrm>
            <a:off x="9683496" y="5111496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-disc"/>
          <p:cNvSpPr/>
          <p:nvPr/>
        </p:nvSpPr>
        <p:spPr>
          <a:xfrm>
            <a:off x="9829800" y="5207508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53263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27080" y="5111496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Five roles, one system</a:t>
            </a:r>
            <a:endParaRPr lang="en-US" sz="3600" dirty="0"/>
          </a:p>
        </p:txBody>
      </p:sp>
      <p:sp>
        <p:nvSpPr>
          <p:cNvPr id="15" name="pill"/>
          <p:cNvSpPr/>
          <p:nvPr/>
        </p:nvSpPr>
        <p:spPr>
          <a:xfrm>
            <a:off x="1024128" y="6565392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-disc"/>
          <p:cNvSpPr/>
          <p:nvPr/>
        </p:nvSpPr>
        <p:spPr>
          <a:xfrm>
            <a:off x="1170432" y="6661404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6780276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2267712" y="6565392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What the platform does</a:t>
            </a:r>
            <a:endParaRPr lang="en-US" sz="3600" dirty="0"/>
          </a:p>
        </p:txBody>
      </p:sp>
      <p:sp>
        <p:nvSpPr>
          <p:cNvPr id="19" name="pill"/>
          <p:cNvSpPr/>
          <p:nvPr/>
        </p:nvSpPr>
        <p:spPr>
          <a:xfrm>
            <a:off x="9683496" y="6565392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adge-disc"/>
          <p:cNvSpPr/>
          <p:nvPr/>
        </p:nvSpPr>
        <p:spPr>
          <a:xfrm>
            <a:off x="9829800" y="6661404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6780276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927080" y="6565392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23" name="pill"/>
          <p:cNvSpPr/>
          <p:nvPr/>
        </p:nvSpPr>
        <p:spPr>
          <a:xfrm>
            <a:off x="1024128" y="8028432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adge-disc"/>
          <p:cNvSpPr/>
          <p:nvPr/>
        </p:nvSpPr>
        <p:spPr>
          <a:xfrm>
            <a:off x="1170432" y="8124444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304" y="8243316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2267712" y="8028432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Decision engines</a:t>
            </a:r>
            <a:endParaRPr lang="en-US" sz="3600" dirty="0"/>
          </a:p>
        </p:txBody>
      </p:sp>
      <p:sp>
        <p:nvSpPr>
          <p:cNvPr id="27" name="pill"/>
          <p:cNvSpPr/>
          <p:nvPr/>
        </p:nvSpPr>
        <p:spPr>
          <a:xfrm>
            <a:off x="9683496" y="8028432"/>
            <a:ext cx="7251192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adge-disc"/>
          <p:cNvSpPr/>
          <p:nvPr/>
        </p:nvSpPr>
        <p:spPr>
          <a:xfrm>
            <a:off x="9829800" y="8124444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72" y="8243316"/>
            <a:ext cx="502920" cy="502920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0927080" y="8028432"/>
            <a:ext cx="5788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Scale and results</a:t>
            </a:r>
            <a:endParaRPr lang="en-US" sz="3600" dirty="0"/>
          </a:p>
        </p:txBody>
      </p:sp>
      <p:sp>
        <p:nvSpPr>
          <p:cNvPr id="31" name="sep"/>
          <p:cNvSpPr/>
          <p:nvPr/>
        </p:nvSpPr>
        <p:spPr>
          <a:xfrm>
            <a:off x="1024128" y="6272784"/>
            <a:ext cx="16230600" cy="0"/>
          </a:xfrm>
          <a:prstGeom prst="line">
            <a:avLst/>
          </a:prstGeom>
          <a:noFill/>
          <a:ln w="9525">
            <a:solidFill>
              <a:srgbClr val="9C9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ep"/>
          <p:cNvSpPr/>
          <p:nvPr/>
        </p:nvSpPr>
        <p:spPr>
          <a:xfrm>
            <a:off x="1024128" y="7726680"/>
            <a:ext cx="16230600" cy="0"/>
          </a:xfrm>
          <a:prstGeom prst="line">
            <a:avLst/>
          </a:prstGeom>
          <a:noFill/>
          <a:ln w="9525">
            <a:solidFill>
              <a:srgbClr val="9C9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ep"/>
          <p:cNvSpPr/>
          <p:nvPr/>
        </p:nvSpPr>
        <p:spPr>
          <a:xfrm>
            <a:off x="1024128" y="9189720"/>
            <a:ext cx="16230600" cy="0"/>
          </a:xfrm>
          <a:prstGeom prst="line">
            <a:avLst/>
          </a:prstGeom>
          <a:noFill/>
          <a:ln w="9525">
            <a:solidFill>
              <a:srgbClr val="9C9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left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76872" y="-1837944"/>
            <a:ext cx="13962888" cy="13962888"/>
          </a:xfrm>
          <a:prstGeom prst="rect">
            <a:avLst/>
          </a:prstGeom>
        </p:spPr>
      </p:pic>
      <p:pic>
        <p:nvPicPr>
          <p:cNvPr id="3" name="glow-right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28" y="-1837944"/>
            <a:ext cx="13962888" cy="13962888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section-title"/>
          <p:cNvSpPr txBox="1"/>
          <p:nvPr/>
        </p:nvSpPr>
        <p:spPr>
          <a:xfrm>
            <a:off x="1024128" y="1965960"/>
            <a:ext cx="8229600" cy="1558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4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Problem</a:t>
            </a:r>
            <a:endParaRPr lang="en-US" sz="10400" dirty="0"/>
          </a:p>
        </p:txBody>
      </p:sp>
      <p:sp>
        <p:nvSpPr>
          <p:cNvPr id="8" name="motif-disc"/>
          <p:cNvSpPr/>
          <p:nvPr/>
        </p:nvSpPr>
        <p:spPr>
          <a:xfrm>
            <a:off x="1133856" y="7589520"/>
            <a:ext cx="1435608" cy="1435608"/>
          </a:xfrm>
          <a:prstGeom prst="ellipse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motif-asterisk" descr="D:\claude-tmp\claude\d--Team-Orbit\7330a9ca-124e-4916-82f3-b05cfdf2a85d\scratchpad\deck\assets\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690" y="7905354"/>
            <a:ext cx="803940" cy="8039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24128" y="379476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Bangladesh, mobile money is how tens of millions of people hold and move money. It is also where they get robbed — not by someone breaking encryption, but by someone calling them and talking them into sending the money themselves.</a:t>
            </a:r>
            <a:endParaRPr lang="en-US" sz="2500" dirty="0"/>
          </a:p>
        </p:txBody>
      </p:sp>
      <p:sp>
        <p:nvSpPr>
          <p:cNvPr id="11" name="step-0"/>
          <p:cNvSpPr/>
          <p:nvPr/>
        </p:nvSpPr>
        <p:spPr>
          <a:xfrm>
            <a:off x="9829800" y="1965960"/>
            <a:ext cx="7434072" cy="1790446"/>
          </a:xfrm>
          <a:prstGeom prst="roundRect">
            <a:avLst>
              <a:gd name="adj" fmla="val 2554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 txBox="1"/>
          <p:nvPr/>
        </p:nvSpPr>
        <p:spPr>
          <a:xfrm>
            <a:off x="10305288" y="2331720"/>
            <a:ext cx="64830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01   The call</a:t>
            </a:r>
            <a:endParaRPr lang="en-US" sz="2500" dirty="0"/>
          </a:p>
        </p:txBody>
      </p:sp>
      <p:sp>
        <p:nvSpPr>
          <p:cNvPr id="13" name="Text 8"/>
          <p:cNvSpPr txBox="1"/>
          <p:nvPr/>
        </p:nvSpPr>
        <p:spPr>
          <a:xfrm>
            <a:off x="10305288" y="2882138"/>
            <a:ext cx="6483096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"I am from upay head office — your account will be blocked." The victim panics.</a:t>
            </a:r>
            <a:endParaRPr lang="en-US" sz="1700" dirty="0"/>
          </a:p>
        </p:txBody>
      </p:sp>
      <p:sp>
        <p:nvSpPr>
          <p:cNvPr id="14" name="step-1"/>
          <p:cNvSpPr/>
          <p:nvPr/>
        </p:nvSpPr>
        <p:spPr>
          <a:xfrm>
            <a:off x="9829800" y="4049014"/>
            <a:ext cx="7434072" cy="1790446"/>
          </a:xfrm>
          <a:prstGeom prst="roundRect">
            <a:avLst>
              <a:gd name="adj" fmla="val 2554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 txBox="1"/>
          <p:nvPr/>
        </p:nvSpPr>
        <p:spPr>
          <a:xfrm>
            <a:off x="10305288" y="4414774"/>
            <a:ext cx="64830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02   The handover</a:t>
            </a:r>
            <a:endParaRPr lang="en-US" sz="2500" dirty="0"/>
          </a:p>
        </p:txBody>
      </p:sp>
      <p:sp>
        <p:nvSpPr>
          <p:cNvPr id="16" name="Text 11"/>
          <p:cNvSpPr txBox="1"/>
          <p:nvPr/>
        </p:nvSpPr>
        <p:spPr>
          <a:xfrm>
            <a:off x="10305288" y="4965192"/>
            <a:ext cx="6483096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OTP is read out, or money is sent to "verify" the account.</a:t>
            </a:r>
            <a:endParaRPr lang="en-US" sz="1700" dirty="0"/>
          </a:p>
        </p:txBody>
      </p:sp>
      <p:sp>
        <p:nvSpPr>
          <p:cNvPr id="17" name="step-2"/>
          <p:cNvSpPr/>
          <p:nvPr/>
        </p:nvSpPr>
        <p:spPr>
          <a:xfrm>
            <a:off x="9829800" y="6132068"/>
            <a:ext cx="7434072" cy="1790446"/>
          </a:xfrm>
          <a:prstGeom prst="roundRect">
            <a:avLst>
              <a:gd name="adj" fmla="val 2554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 txBox="1"/>
          <p:nvPr/>
        </p:nvSpPr>
        <p:spPr>
          <a:xfrm>
            <a:off x="10305288" y="6497828"/>
            <a:ext cx="64830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03   The layering</a:t>
            </a:r>
            <a:endParaRPr lang="en-US" sz="2500" dirty="0"/>
          </a:p>
        </p:txBody>
      </p:sp>
      <p:sp>
        <p:nvSpPr>
          <p:cNvPr id="19" name="Text 14"/>
          <p:cNvSpPr txBox="1"/>
          <p:nvPr/>
        </p:nvSpPr>
        <p:spPr>
          <a:xfrm>
            <a:off x="10305288" y="7048246"/>
            <a:ext cx="6483096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Funds land in a mule wallet and hop two or three more within minutes.</a:t>
            </a:r>
            <a:endParaRPr lang="en-US" sz="1700" dirty="0"/>
          </a:p>
        </p:txBody>
      </p:sp>
      <p:sp>
        <p:nvSpPr>
          <p:cNvPr id="20" name="step-3"/>
          <p:cNvSpPr/>
          <p:nvPr/>
        </p:nvSpPr>
        <p:spPr>
          <a:xfrm>
            <a:off x="9829800" y="8215122"/>
            <a:ext cx="7434072" cy="1790446"/>
          </a:xfrm>
          <a:prstGeom prst="roundRect">
            <a:avLst>
              <a:gd name="adj" fmla="val 2554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10305288" y="8580882"/>
            <a:ext cx="64830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04   The cash-out</a:t>
            </a:r>
            <a:endParaRPr lang="en-US" sz="2500" dirty="0"/>
          </a:p>
        </p:txBody>
      </p:sp>
      <p:sp>
        <p:nvSpPr>
          <p:cNvPr id="22" name="Text 17"/>
          <p:cNvSpPr txBox="1"/>
          <p:nvPr/>
        </p:nvSpPr>
        <p:spPr>
          <a:xfrm>
            <a:off x="10305288" y="9131300"/>
            <a:ext cx="6483096" cy="526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Collected at an agent counter. After about an hour, it is gone.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bl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76872" y="3295840"/>
            <a:ext cx="13962888" cy="13962888"/>
          </a:xfrm>
          <a:prstGeom prst="rect">
            <a:avLst/>
          </a:prstGeom>
        </p:spPr>
      </p:pic>
      <p:pic>
        <p:nvPicPr>
          <p:cNvPr id="3" name="glow-tr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28" y="-6976872"/>
            <a:ext cx="13962888" cy="13962888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title"/>
          <p:cNvSpPr txBox="1"/>
          <p:nvPr/>
        </p:nvSpPr>
        <p:spPr>
          <a:xfrm>
            <a:off x="842963" y="1645920"/>
            <a:ext cx="1641176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4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Why ordinary fraud rules miss it</a:t>
            </a:r>
            <a:endParaRPr lang="en-US" sz="8400" dirty="0"/>
          </a:p>
        </p:txBody>
      </p:sp>
      <p:sp>
        <p:nvSpPr>
          <p:cNvPr id="8" name="stat-disc"/>
          <p:cNvSpPr/>
          <p:nvPr/>
        </p:nvSpPr>
        <p:spPr>
          <a:xfrm>
            <a:off x="2423160" y="3611880"/>
            <a:ext cx="3017520" cy="30175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2423160" y="36118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60</a:t>
            </a:r>
            <a:endParaRPr lang="en-US" sz="9600" dirty="0"/>
          </a:p>
        </p:txBody>
      </p:sp>
      <p:sp>
        <p:nvSpPr>
          <p:cNvPr id="10" name="Text 6"/>
          <p:cNvSpPr txBox="1"/>
          <p:nvPr/>
        </p:nvSpPr>
        <p:spPr>
          <a:xfrm>
            <a:off x="2286000" y="701344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696772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MINUTES OF GOLDEN HOUR</a:t>
            </a:r>
            <a:endParaRPr lang="en-US" sz="25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BEFORE CASH-OUT</a:t>
            </a:r>
            <a:endParaRPr lang="en-US" sz="2500" dirty="0"/>
          </a:p>
        </p:txBody>
      </p:sp>
      <p:sp>
        <p:nvSpPr>
          <p:cNvPr id="12" name="stat-disc"/>
          <p:cNvSpPr/>
          <p:nvPr/>
        </p:nvSpPr>
        <p:spPr>
          <a:xfrm>
            <a:off x="7635240" y="3611880"/>
            <a:ext cx="3017520" cy="30175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7635240" y="36118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3</a:t>
            </a:r>
            <a:endParaRPr lang="en-US" sz="9600" dirty="0"/>
          </a:p>
        </p:txBody>
      </p:sp>
      <p:sp>
        <p:nvSpPr>
          <p:cNvPr id="14" name="Text 10"/>
          <p:cNvSpPr txBox="1"/>
          <p:nvPr/>
        </p:nvSpPr>
        <p:spPr>
          <a:xfrm>
            <a:off x="7498080" y="701344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0" y="6967728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SCRIPTS ONE COMPLAINT</a:t>
            </a:r>
            <a:endParaRPr lang="en-US" sz="25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ARRIVES IN</a:t>
            </a:r>
            <a:endParaRPr lang="en-US" sz="2500" dirty="0"/>
          </a:p>
        </p:txBody>
      </p:sp>
      <p:sp>
        <p:nvSpPr>
          <p:cNvPr id="16" name="stat-disc"/>
          <p:cNvSpPr/>
          <p:nvPr/>
        </p:nvSpPr>
        <p:spPr>
          <a:xfrm>
            <a:off x="12847320" y="3611880"/>
            <a:ext cx="3017520" cy="30175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12847320" y="361188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0</a:t>
            </a:r>
            <a:endParaRPr lang="en-US" sz="9600" dirty="0"/>
          </a:p>
        </p:txBody>
      </p:sp>
      <p:sp>
        <p:nvSpPr>
          <p:cNvPr id="18" name="Text 14"/>
          <p:cNvSpPr txBox="1"/>
          <p:nvPr/>
        </p:nvSpPr>
        <p:spPr>
          <a:xfrm>
            <a:off x="12710160" y="701344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19" name="Text 15"/>
          <p:cNvSpPr txBox="1"/>
          <p:nvPr/>
        </p:nvSpPr>
        <p:spPr>
          <a:xfrm>
            <a:off x="12088368" y="6967728"/>
            <a:ext cx="47000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PAYMENT ANOMALIES WHEN</a:t>
            </a:r>
            <a:endParaRPr lang="en-US" sz="25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2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VICTIM AUTHORISES</a:t>
            </a:r>
            <a:endParaRPr lang="en-US" sz="2500" dirty="0"/>
          </a:p>
        </p:txBody>
      </p:sp>
      <p:sp>
        <p:nvSpPr>
          <p:cNvPr id="20" name="Text 16"/>
          <p:cNvSpPr txBox="1"/>
          <p:nvPr/>
        </p:nvSpPr>
        <p:spPr>
          <a:xfrm>
            <a:off x="2377440" y="8641080"/>
            <a:ext cx="1353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000" dirty="0">
                <a:solidFill>
                  <a:srgbClr val="B9B9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money leaves a real account, from a real device, with the real PIN. Nothing in the payment itself is anomalous — the anomaly is in the phone call that preceded it.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-asterisk" descr="D:\claude-tmp\claude\d--Team-Orbit\7330a9ca-124e-4916-82f3-b05cfdf2a85d\scratchpad\deck\assets\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4" y="621792"/>
            <a:ext cx="9043416" cy="9043416"/>
          </a:xfrm>
          <a:prstGeom prst="rect">
            <a:avLst/>
          </a:prstGeom>
        </p:spPr>
      </p:pic>
      <p:sp>
        <p:nvSpPr>
          <p:cNvPr id="3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4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78438" y="5029200"/>
            <a:ext cx="106161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We don’t just block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1024128" y="6117336"/>
            <a:ext cx="1356969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transactions. We interrupt</a:t>
            </a:r>
            <a:endParaRPr lang="en-US" sz="8000" dirty="0"/>
          </a:p>
        </p:txBody>
      </p:sp>
      <p:sp>
        <p:nvSpPr>
          <p:cNvPr id="8" name="Text 5"/>
          <p:cNvSpPr txBox="1"/>
          <p:nvPr/>
        </p:nvSpPr>
        <p:spPr>
          <a:xfrm>
            <a:off x="1024128" y="7150608"/>
            <a:ext cx="106161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conversation that</a:t>
            </a:r>
            <a:endParaRPr lang="en-US" sz="8000" dirty="0"/>
          </a:p>
        </p:txBody>
      </p:sp>
      <p:sp>
        <p:nvSpPr>
          <p:cNvPr id="9" name="Text 6"/>
          <p:cNvSpPr txBox="1"/>
          <p:nvPr/>
        </p:nvSpPr>
        <p:spPr>
          <a:xfrm>
            <a:off x="1024128" y="8183880"/>
            <a:ext cx="1061618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steals the money.</a:t>
            </a:r>
            <a:endParaRPr lang="en-US" sz="8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ircles" descr="D:\claude-tmp\claude\d--Team-Orbit\7330a9ca-124e-4916-82f3-b05cfdf2a85d\scratchpad\deck\assets\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737360"/>
            <a:ext cx="10241280" cy="13514832"/>
          </a:xfrm>
          <a:prstGeom prst="rect">
            <a:avLst/>
          </a:prstGeom>
        </p:spPr>
      </p:pic>
      <p:sp>
        <p:nvSpPr>
          <p:cNvPr id="3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4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6" name="title"/>
          <p:cNvSpPr txBox="1"/>
          <p:nvPr/>
        </p:nvSpPr>
        <p:spPr>
          <a:xfrm>
            <a:off x="1024128" y="141732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6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Five roles,</a:t>
            </a:r>
            <a:endParaRPr lang="en-US" sz="96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96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one system</a:t>
            </a:r>
            <a:endParaRPr lang="en-US" sz="9600" dirty="0"/>
          </a:p>
        </p:txBody>
      </p:sp>
      <p:sp>
        <p:nvSpPr>
          <p:cNvPr id="7" name="pill"/>
          <p:cNvSpPr/>
          <p:nvPr/>
        </p:nvSpPr>
        <p:spPr>
          <a:xfrm>
            <a:off x="7589520" y="3886200"/>
            <a:ext cx="9665208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badge-disc"/>
          <p:cNvSpPr/>
          <p:nvPr/>
        </p:nvSpPr>
        <p:spPr>
          <a:xfrm>
            <a:off x="7735824" y="3982212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4101084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833104" y="3886200"/>
            <a:ext cx="8202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Listener  —  reads the conversation</a:t>
            </a:r>
            <a:endParaRPr lang="en-US" sz="2600" dirty="0"/>
          </a:p>
        </p:txBody>
      </p:sp>
      <p:sp>
        <p:nvSpPr>
          <p:cNvPr id="11" name="pill"/>
          <p:cNvSpPr/>
          <p:nvPr/>
        </p:nvSpPr>
        <p:spPr>
          <a:xfrm>
            <a:off x="7589520" y="5056632"/>
            <a:ext cx="9665208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-disc"/>
          <p:cNvSpPr/>
          <p:nvPr/>
        </p:nvSpPr>
        <p:spPr>
          <a:xfrm>
            <a:off x="7735824" y="5152644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5271516"/>
            <a:ext cx="502920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833104" y="5056632"/>
            <a:ext cx="8202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Judge  —  scores the transaction</a:t>
            </a:r>
            <a:endParaRPr lang="en-US" sz="2600" dirty="0"/>
          </a:p>
        </p:txBody>
      </p:sp>
      <p:sp>
        <p:nvSpPr>
          <p:cNvPr id="15" name="pill"/>
          <p:cNvSpPr/>
          <p:nvPr/>
        </p:nvSpPr>
        <p:spPr>
          <a:xfrm>
            <a:off x="7589520" y="6227064"/>
            <a:ext cx="9665208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adge-disc"/>
          <p:cNvSpPr/>
          <p:nvPr/>
        </p:nvSpPr>
        <p:spPr>
          <a:xfrm>
            <a:off x="7735824" y="6323076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644194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833104" y="6227064"/>
            <a:ext cx="8202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Coach  —  asks the customer, in Bangla</a:t>
            </a:r>
            <a:endParaRPr lang="en-US" sz="2600" dirty="0"/>
          </a:p>
        </p:txBody>
      </p:sp>
      <p:sp>
        <p:nvSpPr>
          <p:cNvPr id="19" name="pill"/>
          <p:cNvSpPr/>
          <p:nvPr/>
        </p:nvSpPr>
        <p:spPr>
          <a:xfrm>
            <a:off x="7589520" y="7397496"/>
            <a:ext cx="9665208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adge-disc"/>
          <p:cNvSpPr/>
          <p:nvPr/>
        </p:nvSpPr>
        <p:spPr>
          <a:xfrm>
            <a:off x="7735824" y="7493508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76123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833104" y="7397496"/>
            <a:ext cx="8202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Investigator  —  checks claim vs records</a:t>
            </a:r>
            <a:endParaRPr lang="en-US" sz="2600" dirty="0"/>
          </a:p>
        </p:txBody>
      </p:sp>
      <p:sp>
        <p:nvSpPr>
          <p:cNvPr id="23" name="pill"/>
          <p:cNvSpPr/>
          <p:nvPr/>
        </p:nvSpPr>
        <p:spPr>
          <a:xfrm>
            <a:off x="7589520" y="8567928"/>
            <a:ext cx="9665208" cy="932688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adge-disc"/>
          <p:cNvSpPr/>
          <p:nvPr/>
        </p:nvSpPr>
        <p:spPr>
          <a:xfrm>
            <a:off x="7735824" y="8663940"/>
            <a:ext cx="740664" cy="74066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badge-asterisk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8782812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833104" y="8567928"/>
            <a:ext cx="82021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Tracer  —  follows the money, against the clock</a:t>
            </a:r>
            <a:endParaRPr lang="en-US" sz="2600" dirty="0"/>
          </a:p>
        </p:txBody>
      </p:sp>
      <p:sp>
        <p:nvSpPr>
          <p:cNvPr id="27" name="Text 19"/>
          <p:cNvSpPr txBox="1"/>
          <p:nvPr/>
        </p:nvSpPr>
        <p:spPr>
          <a:xfrm>
            <a:off x="1024128" y="754380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90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role is a separate engine with its own tests and its own failure mode. The deterministic engines are the floor; the language model is an addition, never a dependency.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bl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76872" y="3310128"/>
            <a:ext cx="13962888" cy="13962888"/>
          </a:xfrm>
          <a:prstGeom prst="rect">
            <a:avLst/>
          </a:prstGeom>
        </p:spPr>
      </p:pic>
      <p:pic>
        <p:nvPicPr>
          <p:cNvPr id="3" name="glow-tr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28" y="-6976872"/>
            <a:ext cx="13962888" cy="13962888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motif-disc"/>
          <p:cNvSpPr/>
          <p:nvPr/>
        </p:nvSpPr>
        <p:spPr>
          <a:xfrm>
            <a:off x="1133856" y="1417320"/>
            <a:ext cx="1371600" cy="1371600"/>
          </a:xfrm>
          <a:prstGeom prst="ellipse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motif-asterisk" descr="D:\claude-tmp\claude\d--Team-Orbit\7330a9ca-124e-4916-82f3-b05cfdf2a85d\scratchpad\deck\assets\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1719072"/>
            <a:ext cx="768096" cy="768096"/>
          </a:xfrm>
          <a:prstGeom prst="rect">
            <a:avLst/>
          </a:prstGeom>
        </p:spPr>
      </p:pic>
      <p:sp>
        <p:nvSpPr>
          <p:cNvPr id="9" name="section-title"/>
          <p:cNvSpPr txBox="1"/>
          <p:nvPr/>
        </p:nvSpPr>
        <p:spPr>
          <a:xfrm>
            <a:off x="1024128" y="4526280"/>
            <a:ext cx="10469880" cy="1558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4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What It Does</a:t>
            </a:r>
            <a:endParaRPr lang="en-US" sz="10400" dirty="0"/>
          </a:p>
        </p:txBody>
      </p:sp>
      <p:sp>
        <p:nvSpPr>
          <p:cNvPr id="10" name="cap-0"/>
          <p:cNvSpPr/>
          <p:nvPr/>
        </p:nvSpPr>
        <p:spPr>
          <a:xfrm>
            <a:off x="6528816" y="132588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7004304" y="1691640"/>
            <a:ext cx="428853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BANGLA SCAM INTELLIGENCE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7004304" y="2591308"/>
            <a:ext cx="4288536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Detects authority impersonation, fake customer care, lottery and distress scripts across Bangla, Banglish and mixed text — rules first, model second.</a:t>
            </a:r>
            <a:endParaRPr lang="en-US" sz="1800" dirty="0"/>
          </a:p>
        </p:txBody>
      </p:sp>
      <p:sp>
        <p:nvSpPr>
          <p:cNvPr id="13" name="cap-1"/>
          <p:cNvSpPr/>
          <p:nvPr/>
        </p:nvSpPr>
        <p:spPr>
          <a:xfrm>
            <a:off x="12015216" y="132588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12490704" y="1691640"/>
            <a:ext cx="428853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REAL-TIME RISK DECISIONING</a:t>
            </a:r>
            <a:endParaRPr lang="en-US" sz="2500" dirty="0"/>
          </a:p>
        </p:txBody>
      </p:sp>
      <p:sp>
        <p:nvSpPr>
          <p:cNvPr id="15" name="Text 10"/>
          <p:cNvSpPr txBox="1"/>
          <p:nvPr/>
        </p:nvSpPr>
        <p:spPr>
          <a:xfrm>
            <a:off x="12490704" y="2591308"/>
            <a:ext cx="4288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Velocity, account-takeover, behavioural, temporal and mule-proximity signals resolve to one of five actions with a full rule trace.</a:t>
            </a:r>
            <a:endParaRPr lang="en-US" sz="1800" dirty="0"/>
          </a:p>
        </p:txBody>
      </p:sp>
      <p:sp>
        <p:nvSpPr>
          <p:cNvPr id="16" name="cap-2"/>
          <p:cNvSpPr/>
          <p:nvPr/>
        </p:nvSpPr>
        <p:spPr>
          <a:xfrm>
            <a:off x="6528816" y="617220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7004304" y="6537960"/>
            <a:ext cx="428853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EVIDENCE-DRIVEN INVESTIGATION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7004304" y="7437628"/>
            <a:ext cx="4288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Turns a free-form complaint into a structured claim, matches it to the ledger, and returns a three-state verdict — never a forced guess.</a:t>
            </a:r>
            <a:endParaRPr lang="en-US" sz="1800" dirty="0"/>
          </a:p>
        </p:txBody>
      </p:sp>
      <p:sp>
        <p:nvSpPr>
          <p:cNvPr id="19" name="cap-3"/>
          <p:cNvSpPr/>
          <p:nvPr/>
        </p:nvSpPr>
        <p:spPr>
          <a:xfrm>
            <a:off x="12015216" y="617220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12490704" y="6537960"/>
            <a:ext cx="428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GOLDEN-HOUR RECOVERY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12490704" y="7088378"/>
            <a:ext cx="4288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Traverses downstream mule hops and ranks freeze actions against a live time-decay curve before cash-out completes.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28" y="-1837944"/>
            <a:ext cx="13962888" cy="13962888"/>
          </a:xfrm>
          <a:prstGeom prst="rect">
            <a:avLst/>
          </a:prstGeom>
        </p:spPr>
      </p:pic>
      <p:pic>
        <p:nvPicPr>
          <p:cNvPr id="3" name="hero" descr="D:\claude-tmp\claude\d--Team-Orbit\7330a9ca-124e-4916-82f3-b05cfdf2a85d\scratchpad\deck\assets\image1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1521440" y="2194560"/>
            <a:ext cx="6400800" cy="6400800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1024128" y="3200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02</a:t>
            </a:r>
            <a:endParaRPr lang="en-US" sz="6000" dirty="0"/>
          </a:p>
        </p:txBody>
      </p:sp>
      <p:sp>
        <p:nvSpPr>
          <p:cNvPr id="8" name="title"/>
          <p:cNvSpPr txBox="1"/>
          <p:nvPr/>
        </p:nvSpPr>
        <p:spPr>
          <a:xfrm>
            <a:off x="1024128" y="4389120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1200" dirty="0">
                <a:solidFill>
                  <a:srgbClr val="E4E4E4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System</a:t>
            </a:r>
            <a:endParaRPr lang="en-US" sz="11200" dirty="0"/>
          </a:p>
          <a:p>
            <a:pPr marL="0" indent="0" algn="l">
              <a:lnSpc>
                <a:spcPct val="94000"/>
              </a:lnSpc>
              <a:buNone/>
            </a:pPr>
            <a:r>
              <a:rPr lang="en-US" sz="11200" dirty="0">
                <a:solidFill>
                  <a:srgbClr val="E4E4E4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Architecture</a:t>
            </a:r>
            <a:endParaRPr lang="en-US" sz="1120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7772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the layers, the data flow and the decision engines fit together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Four-Layer Platform Architecture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Channels feed one API surface; domain engines own the logic; intelligence and storage sit underneath.</a:t>
            </a:r>
            <a:endParaRPr lang="en-US" sz="1900" dirty="0"/>
          </a:p>
        </p:txBody>
      </p:sp>
      <p:sp>
        <p:nvSpPr>
          <p:cNvPr id="7" name="band"/>
          <p:cNvSpPr/>
          <p:nvPr/>
        </p:nvSpPr>
        <p:spPr>
          <a:xfrm>
            <a:off x="1024128" y="2743200"/>
            <a:ext cx="16230600" cy="1389888"/>
          </a:xfrm>
          <a:prstGeom prst="roundRect">
            <a:avLst>
              <a:gd name="adj" fmla="val 1974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261872" y="28895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Layer 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61872" y="3273552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Channels &amp; interfaces</a:t>
            </a:r>
            <a:endParaRPr lang="en-US" sz="1300" dirty="0"/>
          </a:p>
        </p:txBody>
      </p:sp>
      <p:sp>
        <p:nvSpPr>
          <p:cNvPr id="10" name="band"/>
          <p:cNvSpPr/>
          <p:nvPr/>
        </p:nvSpPr>
        <p:spPr>
          <a:xfrm>
            <a:off x="1024128" y="4315968"/>
            <a:ext cx="16230600" cy="1298448"/>
          </a:xfrm>
          <a:prstGeom prst="roundRect">
            <a:avLst>
              <a:gd name="adj" fmla="val 2113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261872" y="4462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Layer 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4846320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Delivery &amp; API surface</a:t>
            </a:r>
            <a:endParaRPr lang="en-US" sz="1300" dirty="0"/>
          </a:p>
        </p:txBody>
      </p:sp>
      <p:sp>
        <p:nvSpPr>
          <p:cNvPr id="13" name="band"/>
          <p:cNvSpPr/>
          <p:nvPr/>
        </p:nvSpPr>
        <p:spPr>
          <a:xfrm>
            <a:off x="1024128" y="5797296"/>
            <a:ext cx="16230600" cy="1389888"/>
          </a:xfrm>
          <a:prstGeom prst="roundRect">
            <a:avLst>
              <a:gd name="adj" fmla="val 1974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261872" y="5943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Layer 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6327648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 engines</a:t>
            </a:r>
            <a:endParaRPr lang="en-US" sz="1300" dirty="0"/>
          </a:p>
        </p:txBody>
      </p:sp>
      <p:sp>
        <p:nvSpPr>
          <p:cNvPr id="16" name="band"/>
          <p:cNvSpPr/>
          <p:nvPr/>
        </p:nvSpPr>
        <p:spPr>
          <a:xfrm>
            <a:off x="1024128" y="7370064"/>
            <a:ext cx="16230600" cy="1828800"/>
          </a:xfrm>
          <a:prstGeom prst="roundRect">
            <a:avLst>
              <a:gd name="adj" fmla="val 1500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261872" y="7516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Layer 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61872" y="7900416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Intelligence &amp; data</a:t>
            </a:r>
            <a:endParaRPr lang="en-US" sz="1300" dirty="0"/>
          </a:p>
        </p:txBody>
      </p:sp>
      <p:sp>
        <p:nvSpPr>
          <p:cNvPr id="19" name="chan-0"/>
          <p:cNvSpPr/>
          <p:nvPr/>
        </p:nvSpPr>
        <p:spPr>
          <a:xfrm>
            <a:off x="3429000" y="298094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-smartph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3246120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4197096" y="3145536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Customer App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197096" y="3406902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React Native / web</a:t>
            </a:r>
            <a:endParaRPr lang="en-US" sz="1200" dirty="0"/>
          </a:p>
        </p:txBody>
      </p:sp>
      <p:sp>
        <p:nvSpPr>
          <p:cNvPr id="23" name="chan-1"/>
          <p:cNvSpPr/>
          <p:nvPr/>
        </p:nvSpPr>
        <p:spPr>
          <a:xfrm>
            <a:off x="6684264" y="298094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con-pho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3246120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452360" y="3145536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USSD *268#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7452360" y="3406902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phone</a:t>
            </a:r>
            <a:endParaRPr lang="en-US" sz="1200" dirty="0"/>
          </a:p>
        </p:txBody>
      </p:sp>
      <p:sp>
        <p:nvSpPr>
          <p:cNvPr id="27" name="chan-2"/>
          <p:cNvSpPr/>
          <p:nvPr/>
        </p:nvSpPr>
        <p:spPr>
          <a:xfrm>
            <a:off x="9939528" y="298094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con-grid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0696" y="3246120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0707624" y="3145536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Merchant QR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10707624" y="3406902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 to pay</a:t>
            </a:r>
            <a:endParaRPr lang="en-US" sz="1200" dirty="0"/>
          </a:p>
        </p:txBody>
      </p:sp>
      <p:sp>
        <p:nvSpPr>
          <p:cNvPr id="31" name="chan-3"/>
          <p:cNvSpPr/>
          <p:nvPr/>
        </p:nvSpPr>
        <p:spPr>
          <a:xfrm>
            <a:off x="13194792" y="298094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con-stor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5960" y="3246120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3962888" y="3145536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Agent Counter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13962888" y="3406902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cash in / out</a:t>
            </a:r>
            <a:endParaRPr lang="en-US" sz="1200" dirty="0"/>
          </a:p>
        </p:txBody>
      </p:sp>
      <p:sp>
        <p:nvSpPr>
          <p:cNvPr id="35" name="fe"/>
          <p:cNvSpPr/>
          <p:nvPr/>
        </p:nvSpPr>
        <p:spPr>
          <a:xfrm>
            <a:off x="3429000" y="4572000"/>
            <a:ext cx="6272784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con-monitor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0168" y="4791456"/>
            <a:ext cx="384048" cy="38404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197096" y="4736592"/>
            <a:ext cx="5303520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Next.js 15 frontend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4197096" y="5012944"/>
            <a:ext cx="530352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views  ·  /api/v1/* rewrite proxy</a:t>
            </a:r>
            <a:endParaRPr lang="en-US" sz="1200" dirty="0"/>
          </a:p>
        </p:txBody>
      </p:sp>
      <p:sp>
        <p:nvSpPr>
          <p:cNvPr id="39" name="api"/>
          <p:cNvSpPr/>
          <p:nvPr/>
        </p:nvSpPr>
        <p:spPr>
          <a:xfrm>
            <a:off x="9939528" y="4572000"/>
            <a:ext cx="6272784" cy="822960"/>
          </a:xfrm>
          <a:prstGeom prst="roundRect">
            <a:avLst>
              <a:gd name="adj" fmla="val 7778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con-server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0696" y="4791456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707624" y="4736592"/>
            <a:ext cx="5303520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Express API — 21 routers, 97 endpoints</a:t>
            </a:r>
            <a:endParaRPr lang="en-US" sz="1600" dirty="0"/>
          </a:p>
        </p:txBody>
      </p:sp>
      <p:sp>
        <p:nvSpPr>
          <p:cNvPr id="42" name="Text 34"/>
          <p:cNvSpPr txBox="1"/>
          <p:nvPr/>
        </p:nvSpPr>
        <p:spPr>
          <a:xfrm>
            <a:off x="10707624" y="5012944"/>
            <a:ext cx="530352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headers · CORS · rate limit · cache · persistence flush</a:t>
            </a:r>
            <a:endParaRPr lang="en-US" sz="1200" dirty="0"/>
          </a:p>
        </p:txBody>
      </p:sp>
      <p:sp>
        <p:nvSpPr>
          <p:cNvPr id="43" name="eng-0"/>
          <p:cNvSpPr/>
          <p:nvPr/>
        </p:nvSpPr>
        <p:spPr>
          <a:xfrm>
            <a:off x="3429000" y="603504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con-sliders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0168" y="6300216"/>
            <a:ext cx="384048" cy="384048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4197096" y="6199632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Engine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4197096" y="6460998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signal families</a:t>
            </a:r>
            <a:endParaRPr lang="en-US" sz="1200" dirty="0"/>
          </a:p>
        </p:txBody>
      </p:sp>
      <p:sp>
        <p:nvSpPr>
          <p:cNvPr id="47" name="eng-1"/>
          <p:cNvSpPr/>
          <p:nvPr/>
        </p:nvSpPr>
        <p:spPr>
          <a:xfrm>
            <a:off x="6684264" y="603504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con-message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432" y="6300216"/>
            <a:ext cx="384048" cy="384048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7452360" y="6199632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Bangla Scam NLP</a:t>
            </a:r>
            <a:endParaRPr lang="en-US" sz="1500" dirty="0"/>
          </a:p>
        </p:txBody>
      </p:sp>
      <p:sp>
        <p:nvSpPr>
          <p:cNvPr id="50" name="Text 40"/>
          <p:cNvSpPr txBox="1"/>
          <p:nvPr/>
        </p:nvSpPr>
        <p:spPr>
          <a:xfrm>
            <a:off x="7452360" y="6460998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rules + model</a:t>
            </a:r>
            <a:endParaRPr lang="en-US" sz="1200" dirty="0"/>
          </a:p>
        </p:txBody>
      </p:sp>
      <p:sp>
        <p:nvSpPr>
          <p:cNvPr id="51" name="eng-2"/>
          <p:cNvSpPr/>
          <p:nvPr/>
        </p:nvSpPr>
        <p:spPr>
          <a:xfrm>
            <a:off x="9939528" y="603504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con-share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40696" y="6300216"/>
            <a:ext cx="384048" cy="384048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0707624" y="6199632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Mule Graph</a:t>
            </a:r>
            <a:endParaRPr lang="en-US" sz="1500" dirty="0"/>
          </a:p>
        </p:txBody>
      </p:sp>
      <p:sp>
        <p:nvSpPr>
          <p:cNvPr id="54" name="Text 43"/>
          <p:cNvSpPr txBox="1"/>
          <p:nvPr/>
        </p:nvSpPr>
        <p:spPr>
          <a:xfrm>
            <a:off x="10707624" y="6460998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rings &amp; corridors</a:t>
            </a:r>
            <a:endParaRPr lang="en-US" sz="1200" dirty="0"/>
          </a:p>
        </p:txBody>
      </p:sp>
      <p:sp>
        <p:nvSpPr>
          <p:cNvPr id="55" name="eng-3"/>
          <p:cNvSpPr/>
          <p:nvPr/>
        </p:nvSpPr>
        <p:spPr>
          <a:xfrm>
            <a:off x="13194792" y="603504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con-search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395960" y="6300216"/>
            <a:ext cx="384048" cy="384048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13962888" y="6199632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Investigation</a:t>
            </a:r>
            <a:endParaRPr lang="en-US" sz="1500" dirty="0"/>
          </a:p>
        </p:txBody>
      </p:sp>
      <p:sp>
        <p:nvSpPr>
          <p:cNvPr id="58" name="Text 46"/>
          <p:cNvSpPr txBox="1"/>
          <p:nvPr/>
        </p:nvSpPr>
        <p:spPr>
          <a:xfrm>
            <a:off x="13962888" y="6460998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9-stage pipeline</a:t>
            </a:r>
            <a:endParaRPr lang="en-US" sz="1200" dirty="0"/>
          </a:p>
        </p:txBody>
      </p:sp>
      <p:sp>
        <p:nvSpPr>
          <p:cNvPr id="59" name="llm"/>
          <p:cNvSpPr/>
          <p:nvPr/>
        </p:nvSpPr>
        <p:spPr>
          <a:xfrm>
            <a:off x="3429000" y="7790688"/>
            <a:ext cx="3931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con-cpu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30168" y="8124444"/>
            <a:ext cx="384048" cy="384048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4197096" y="7955280"/>
            <a:ext cx="29626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Provider chain</a:t>
            </a:r>
            <a:endParaRPr lang="en-US" sz="1500" dirty="0"/>
          </a:p>
        </p:txBody>
      </p:sp>
      <p:sp>
        <p:nvSpPr>
          <p:cNvPr id="62" name="Text 49"/>
          <p:cNvSpPr txBox="1"/>
          <p:nvPr/>
        </p:nvSpPr>
        <p:spPr>
          <a:xfrm>
            <a:off x="4197096" y="8216646"/>
            <a:ext cx="29626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 → OpenAI → Anthropic → rules</a:t>
            </a:r>
            <a:endParaRPr lang="en-US" sz="1200" dirty="0"/>
          </a:p>
        </p:txBody>
      </p:sp>
      <p:sp>
        <p:nvSpPr>
          <p:cNvPr id="63" name="rag"/>
          <p:cNvSpPr/>
          <p:nvPr/>
        </p:nvSpPr>
        <p:spPr>
          <a:xfrm>
            <a:off x="7598664" y="7790688"/>
            <a:ext cx="39319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con-layers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99832" y="8124444"/>
            <a:ext cx="384048" cy="384048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8366760" y="7955280"/>
            <a:ext cx="29626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Retrieval corpus</a:t>
            </a:r>
            <a:endParaRPr lang="en-US" sz="1500" dirty="0"/>
          </a:p>
        </p:txBody>
      </p:sp>
      <p:sp>
        <p:nvSpPr>
          <p:cNvPr id="66" name="Text 52"/>
          <p:cNvSpPr txBox="1"/>
          <p:nvPr/>
        </p:nvSpPr>
        <p:spPr>
          <a:xfrm>
            <a:off x="8366760" y="8216646"/>
            <a:ext cx="296265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 docs · 80 chunks · cosine in-process</a:t>
            </a:r>
            <a:endParaRPr lang="en-US" sz="1200" dirty="0"/>
          </a:p>
        </p:txBody>
      </p:sp>
      <p:sp>
        <p:nvSpPr>
          <p:cNvPr id="67" name="db"/>
          <p:cNvSpPr/>
          <p:nvPr/>
        </p:nvSpPr>
        <p:spPr>
          <a:xfrm>
            <a:off x="12207240" y="7589520"/>
            <a:ext cx="1874520" cy="146304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8" name="icon-database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89052" y="8085028"/>
            <a:ext cx="310896" cy="310896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12344400" y="8450788"/>
            <a:ext cx="160020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Neon Postgres</a:t>
            </a:r>
            <a:endParaRPr lang="en-US" sz="1350" dirty="0"/>
          </a:p>
        </p:txBody>
      </p:sp>
      <p:sp>
        <p:nvSpPr>
          <p:cNvPr id="70" name="Text 55"/>
          <p:cNvSpPr txBox="1"/>
          <p:nvPr/>
        </p:nvSpPr>
        <p:spPr>
          <a:xfrm>
            <a:off x="12316968" y="8671387"/>
            <a:ext cx="165506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pooled · 20 conns</a:t>
            </a:r>
            <a:endParaRPr lang="en-US" sz="1050" dirty="0"/>
          </a:p>
        </p:txBody>
      </p:sp>
      <p:sp>
        <p:nvSpPr>
          <p:cNvPr id="71" name="audit"/>
          <p:cNvSpPr/>
          <p:nvPr/>
        </p:nvSpPr>
        <p:spPr>
          <a:xfrm>
            <a:off x="14337792" y="7589520"/>
            <a:ext cx="1874520" cy="146304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2" name="icon-lock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119604" y="8085028"/>
            <a:ext cx="310896" cy="310896"/>
          </a:xfrm>
          <a:prstGeom prst="rect">
            <a:avLst/>
          </a:prstGeom>
        </p:spPr>
      </p:pic>
      <p:sp>
        <p:nvSpPr>
          <p:cNvPr id="73" name="Text 57"/>
          <p:cNvSpPr txBox="1"/>
          <p:nvPr/>
        </p:nvSpPr>
        <p:spPr>
          <a:xfrm>
            <a:off x="14474952" y="8450788"/>
            <a:ext cx="160020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Audit ledger</a:t>
            </a:r>
            <a:endParaRPr lang="en-US" sz="1350" dirty="0"/>
          </a:p>
        </p:txBody>
      </p:sp>
      <p:sp>
        <p:nvSpPr>
          <p:cNvPr id="74" name="Text 58"/>
          <p:cNvSpPr txBox="1"/>
          <p:nvPr/>
        </p:nvSpPr>
        <p:spPr>
          <a:xfrm>
            <a:off x="14447520" y="8671387"/>
            <a:ext cx="165506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SHA-256, append-only</a:t>
            </a:r>
            <a:endParaRPr lang="en-US" sz="1050" dirty="0"/>
          </a:p>
        </p:txBody>
      </p:sp>
      <p:sp>
        <p:nvSpPr>
          <p:cNvPr id="75" name="edge"/>
          <p:cNvSpPr/>
          <p:nvPr/>
        </p:nvSpPr>
        <p:spPr>
          <a:xfrm>
            <a:off x="4937760" y="3895344"/>
            <a:ext cx="0" cy="67665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edge"/>
          <p:cNvSpPr/>
          <p:nvPr/>
        </p:nvSpPr>
        <p:spPr>
          <a:xfrm>
            <a:off x="8193024" y="3895344"/>
            <a:ext cx="0" cy="67665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edge"/>
          <p:cNvSpPr/>
          <p:nvPr/>
        </p:nvSpPr>
        <p:spPr>
          <a:xfrm>
            <a:off x="11448288" y="3895344"/>
            <a:ext cx="0" cy="67665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edge"/>
          <p:cNvSpPr/>
          <p:nvPr/>
        </p:nvSpPr>
        <p:spPr>
          <a:xfrm>
            <a:off x="14703552" y="3895344"/>
            <a:ext cx="0" cy="67665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edge"/>
          <p:cNvSpPr/>
          <p:nvPr/>
        </p:nvSpPr>
        <p:spPr>
          <a:xfrm>
            <a:off x="9701784" y="4983480"/>
            <a:ext cx="23774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0" name="edge"/>
          <p:cNvSpPr/>
          <p:nvPr/>
        </p:nvSpPr>
        <p:spPr>
          <a:xfrm>
            <a:off x="4937760" y="5394960"/>
            <a:ext cx="0" cy="640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edge"/>
          <p:cNvSpPr/>
          <p:nvPr/>
        </p:nvSpPr>
        <p:spPr>
          <a:xfrm>
            <a:off x="8193024" y="5394960"/>
            <a:ext cx="0" cy="640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2" name="edge"/>
          <p:cNvSpPr/>
          <p:nvPr/>
        </p:nvSpPr>
        <p:spPr>
          <a:xfrm>
            <a:off x="11448288" y="5394960"/>
            <a:ext cx="0" cy="640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edge"/>
          <p:cNvSpPr/>
          <p:nvPr/>
        </p:nvSpPr>
        <p:spPr>
          <a:xfrm>
            <a:off x="14703552" y="5394960"/>
            <a:ext cx="0" cy="640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edge"/>
          <p:cNvSpPr/>
          <p:nvPr/>
        </p:nvSpPr>
        <p:spPr>
          <a:xfrm>
            <a:off x="8193024" y="6949440"/>
            <a:ext cx="0" cy="36576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5" name="edge"/>
          <p:cNvSpPr/>
          <p:nvPr/>
        </p:nvSpPr>
        <p:spPr>
          <a:xfrm flipH="1">
            <a:off x="5394960" y="7315200"/>
            <a:ext cx="279806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6" name="edge"/>
          <p:cNvSpPr/>
          <p:nvPr/>
        </p:nvSpPr>
        <p:spPr>
          <a:xfrm>
            <a:off x="5394960" y="7315200"/>
            <a:ext cx="0" cy="475488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edge"/>
          <p:cNvSpPr/>
          <p:nvPr/>
        </p:nvSpPr>
        <p:spPr>
          <a:xfrm>
            <a:off x="14703552" y="6949440"/>
            <a:ext cx="0" cy="292608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8" name="edge"/>
          <p:cNvSpPr/>
          <p:nvPr/>
        </p:nvSpPr>
        <p:spPr>
          <a:xfrm flipH="1">
            <a:off x="9564624" y="7242048"/>
            <a:ext cx="5138928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9" name="edge"/>
          <p:cNvSpPr/>
          <p:nvPr/>
        </p:nvSpPr>
        <p:spPr>
          <a:xfrm>
            <a:off x="9564624" y="7242048"/>
            <a:ext cx="0" cy="54864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0" name="edge"/>
          <p:cNvSpPr/>
          <p:nvPr/>
        </p:nvSpPr>
        <p:spPr>
          <a:xfrm>
            <a:off x="4937760" y="694944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1" name="edge"/>
          <p:cNvSpPr/>
          <p:nvPr/>
        </p:nvSpPr>
        <p:spPr>
          <a:xfrm>
            <a:off x="4937760" y="7315200"/>
            <a:ext cx="820674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2" name="edge"/>
          <p:cNvSpPr/>
          <p:nvPr/>
        </p:nvSpPr>
        <p:spPr>
          <a:xfrm>
            <a:off x="13144500" y="7315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3" name="edge"/>
          <p:cNvSpPr/>
          <p:nvPr/>
        </p:nvSpPr>
        <p:spPr>
          <a:xfrm>
            <a:off x="11448288" y="694944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4" name="edge"/>
          <p:cNvSpPr/>
          <p:nvPr/>
        </p:nvSpPr>
        <p:spPr>
          <a:xfrm>
            <a:off x="11448288" y="7315200"/>
            <a:ext cx="382676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5" name="edge"/>
          <p:cNvSpPr/>
          <p:nvPr/>
        </p:nvSpPr>
        <p:spPr>
          <a:xfrm>
            <a:off x="15275052" y="7315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6" name="legend-dot"/>
          <p:cNvSpPr/>
          <p:nvPr/>
        </p:nvSpPr>
        <p:spPr>
          <a:xfrm>
            <a:off x="1024128" y="9601200"/>
            <a:ext cx="146304" cy="146304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81"/>
          <p:cNvSpPr txBox="1"/>
          <p:nvPr/>
        </p:nvSpPr>
        <p:spPr>
          <a:xfrm>
            <a:off x="1261872" y="9528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Accent = request entry point</a:t>
            </a:r>
            <a:endParaRPr lang="en-US" sz="1250" dirty="0"/>
          </a:p>
        </p:txBody>
      </p:sp>
      <p:sp>
        <p:nvSpPr>
          <p:cNvPr id="98" name="legend-dot"/>
          <p:cNvSpPr/>
          <p:nvPr/>
        </p:nvSpPr>
        <p:spPr>
          <a:xfrm>
            <a:off x="4315968" y="9601200"/>
            <a:ext cx="146304" cy="146304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83"/>
          <p:cNvSpPr txBox="1"/>
          <p:nvPr/>
        </p:nvSpPr>
        <p:spPr>
          <a:xfrm>
            <a:off x="4553712" y="9528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Dark = domain engine</a:t>
            </a:r>
            <a:endParaRPr lang="en-US" sz="1250" dirty="0"/>
          </a:p>
        </p:txBody>
      </p:sp>
      <p:sp>
        <p:nvSpPr>
          <p:cNvPr id="100" name="legend-dot"/>
          <p:cNvSpPr/>
          <p:nvPr/>
        </p:nvSpPr>
        <p:spPr>
          <a:xfrm>
            <a:off x="7059168" y="9601200"/>
            <a:ext cx="146304" cy="146304"/>
          </a:xfrm>
          <a:prstGeom prst="ellipse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85"/>
          <p:cNvSpPr txBox="1"/>
          <p:nvPr/>
        </p:nvSpPr>
        <p:spPr>
          <a:xfrm>
            <a:off x="7296912" y="9528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Solid = request path</a:t>
            </a:r>
            <a:endParaRPr lang="en-US" sz="1250" dirty="0"/>
          </a:p>
        </p:txBody>
      </p:sp>
      <p:sp>
        <p:nvSpPr>
          <p:cNvPr id="102" name="legend-dot"/>
          <p:cNvSpPr/>
          <p:nvPr/>
        </p:nvSpPr>
        <p:spPr>
          <a:xfrm>
            <a:off x="9710928" y="9601200"/>
            <a:ext cx="146304" cy="146304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87"/>
          <p:cNvSpPr txBox="1"/>
          <p:nvPr/>
        </p:nvSpPr>
        <p:spPr>
          <a:xfrm>
            <a:off x="9948672" y="9528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Dashed = optional intelligence call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Transaction Risk Data Flow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happens between the customer tapping Send and the screen changing — the blocking path.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6974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INGESTION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26974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FEATURE STORE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0058400" y="269748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ENGINE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4282928" y="2697480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ACTION &amp; COACH</a:t>
            </a:r>
            <a:endParaRPr lang="en-US" sz="1550" dirty="0"/>
          </a:p>
        </p:txBody>
      </p:sp>
      <p:sp>
        <p:nvSpPr>
          <p:cNvPr id="11" name="ing-0"/>
          <p:cNvSpPr/>
          <p:nvPr/>
        </p:nvSpPr>
        <p:spPr>
          <a:xfrm>
            <a:off x="1024128" y="315468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con-sen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419856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792224" y="3319272"/>
            <a:ext cx="2139696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Transaction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1792224" y="3573145"/>
            <a:ext cx="21396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type · amount · channel</a:t>
            </a:r>
            <a:endParaRPr lang="en-US" sz="1200" dirty="0"/>
          </a:p>
        </p:txBody>
      </p:sp>
      <p:sp>
        <p:nvSpPr>
          <p:cNvPr id="15" name="ing-1"/>
          <p:cNvSpPr/>
          <p:nvPr/>
        </p:nvSpPr>
        <p:spPr>
          <a:xfrm>
            <a:off x="1024128" y="4233672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con-mess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4498848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792224" y="4398264"/>
            <a:ext cx="2139696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Conversation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1792224" y="4652137"/>
            <a:ext cx="21396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bn / banglish / en</a:t>
            </a:r>
            <a:endParaRPr lang="en-US" sz="1200" dirty="0"/>
          </a:p>
        </p:txBody>
      </p:sp>
      <p:sp>
        <p:nvSpPr>
          <p:cNvPr id="19" name="ing-2"/>
          <p:cNvSpPr/>
          <p:nvPr/>
        </p:nvSpPr>
        <p:spPr>
          <a:xfrm>
            <a:off x="1024128" y="5312664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-smartpho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" y="557784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792224" y="5477256"/>
            <a:ext cx="2139696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Device &amp; session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1792224" y="5731129"/>
            <a:ext cx="21396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device id · ATO signals</a:t>
            </a:r>
            <a:endParaRPr lang="en-US" sz="1200" dirty="0"/>
          </a:p>
        </p:txBody>
      </p:sp>
      <p:sp>
        <p:nvSpPr>
          <p:cNvPr id="23" name="ing-3"/>
          <p:cNvSpPr/>
          <p:nvPr/>
        </p:nvSpPr>
        <p:spPr>
          <a:xfrm>
            <a:off x="1024128" y="6391656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con-userCheck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296" y="6656832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792224" y="6556248"/>
            <a:ext cx="2139696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Recipient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1792224" y="6810121"/>
            <a:ext cx="21396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wallet · trust history</a:t>
            </a:r>
            <a:endParaRPr lang="en-US" sz="1200" dirty="0"/>
          </a:p>
        </p:txBody>
      </p:sp>
      <p:sp>
        <p:nvSpPr>
          <p:cNvPr id="27" name="fs"/>
          <p:cNvSpPr/>
          <p:nvPr/>
        </p:nvSpPr>
        <p:spPr>
          <a:xfrm>
            <a:off x="5440680" y="3154680"/>
            <a:ext cx="3337560" cy="2971800"/>
          </a:xfrm>
          <a:prstGeom prst="roundRect">
            <a:avLst>
              <a:gd name="adj" fmla="val 184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con-activity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6712" y="3392424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227064" y="3392424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Feature Store</a:t>
            </a:r>
            <a:endParaRPr lang="en-US" sz="1900" dirty="0"/>
          </a:p>
        </p:txBody>
      </p:sp>
      <p:sp>
        <p:nvSpPr>
          <p:cNvPr id="30" name="Text 23"/>
          <p:cNvSpPr txBox="1"/>
          <p:nvPr/>
        </p:nvSpPr>
        <p:spPr>
          <a:xfrm>
            <a:off x="5696712" y="3959352"/>
            <a:ext cx="2825496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velocity_count_1h / 24h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amount_zscore_user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ato_signal — SIM swap, new device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temporal — night / Eid / salary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recipient_newness</a:t>
            </a:r>
            <a:endParaRPr lang="en-US" sz="1300" dirty="0"/>
          </a:p>
        </p:txBody>
      </p:sp>
      <p:sp>
        <p:nvSpPr>
          <p:cNvPr id="31" name="graph"/>
          <p:cNvSpPr/>
          <p:nvPr/>
        </p:nvSpPr>
        <p:spPr>
          <a:xfrm>
            <a:off x="5440680" y="6400800"/>
            <a:ext cx="3337560" cy="968502"/>
          </a:xfrm>
          <a:prstGeom prst="roundRect">
            <a:avLst>
              <a:gd name="adj" fmla="val 6609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con-share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41848" y="6693027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208776" y="6565392"/>
            <a:ext cx="236829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Mule Graph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6208776" y="6826758"/>
            <a:ext cx="236829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ring proximity of the receiver</a:t>
            </a:r>
            <a:endParaRPr lang="en-US" sz="1200" dirty="0"/>
          </a:p>
        </p:txBody>
      </p:sp>
      <p:sp>
        <p:nvSpPr>
          <p:cNvPr id="35" name="re"/>
          <p:cNvSpPr/>
          <p:nvPr/>
        </p:nvSpPr>
        <p:spPr>
          <a:xfrm>
            <a:off x="10058400" y="3154680"/>
            <a:ext cx="2971800" cy="1783080"/>
          </a:xfrm>
          <a:prstGeom prst="roundRect">
            <a:avLst>
              <a:gd name="adj" fmla="val 3590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con-sliders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9568" y="3854196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826496" y="3319272"/>
            <a:ext cx="2002536" cy="569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Multi-Factor</a:t>
            </a:r>
            <a:endParaRPr lang="en-US" sz="1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Engine</a:t>
            </a:r>
            <a:endParaRPr lang="en-US" sz="1900" dirty="0"/>
          </a:p>
        </p:txBody>
      </p:sp>
      <p:sp>
        <p:nvSpPr>
          <p:cNvPr id="38" name="Text 29"/>
          <p:cNvSpPr txBox="1"/>
          <p:nvPr/>
        </p:nvSpPr>
        <p:spPr>
          <a:xfrm>
            <a:off x="10826496" y="3925316"/>
            <a:ext cx="20025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· tier · rule trace</a:t>
            </a:r>
            <a:endParaRPr lang="en-US" sz="1200" dirty="0"/>
          </a:p>
        </p:txBody>
      </p:sp>
      <p:sp>
        <p:nvSpPr>
          <p:cNvPr id="39" name="ladder"/>
          <p:cNvSpPr/>
          <p:nvPr/>
        </p:nvSpPr>
        <p:spPr>
          <a:xfrm>
            <a:off x="10058400" y="5394960"/>
            <a:ext cx="297180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con-target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9568" y="5559552"/>
            <a:ext cx="384048" cy="38404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10826496" y="5559552"/>
            <a:ext cx="2002536" cy="232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Decision ladder</a:t>
            </a:r>
            <a:endParaRPr lang="en-US" sz="1550" dirty="0"/>
          </a:p>
        </p:txBody>
      </p:sp>
      <p:sp>
        <p:nvSpPr>
          <p:cNvPr id="42" name="Text 32"/>
          <p:cNvSpPr txBox="1"/>
          <p:nvPr/>
        </p:nvSpPr>
        <p:spPr>
          <a:xfrm>
            <a:off x="10259568" y="5919851"/>
            <a:ext cx="2569464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ALLOW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WARN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PAUSE &amp; VERIFY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HOLD &amp; ASSIST</a:t>
            </a:r>
            <a:endParaRPr lang="en-US" sz="12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</a:t>
            </a:r>
            <a:endParaRPr lang="en-US" sz="1200" dirty="0"/>
          </a:p>
        </p:txBody>
      </p:sp>
      <p:sp>
        <p:nvSpPr>
          <p:cNvPr id="43" name="coach"/>
          <p:cNvSpPr/>
          <p:nvPr/>
        </p:nvSpPr>
        <p:spPr>
          <a:xfrm>
            <a:off x="14282928" y="3154680"/>
            <a:ext cx="2980944" cy="1371600"/>
          </a:xfrm>
          <a:prstGeom prst="roundRect">
            <a:avLst>
              <a:gd name="adj" fmla="val 4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con-users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096" y="3648456"/>
            <a:ext cx="384048" cy="38404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5051024" y="3319272"/>
            <a:ext cx="2011680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Human Scam Coach</a:t>
            </a:r>
            <a:endParaRPr lang="en-US" sz="1500" dirty="0"/>
          </a:p>
        </p:txBody>
      </p:sp>
      <p:sp>
        <p:nvSpPr>
          <p:cNvPr id="46" name="Text 35"/>
          <p:cNvSpPr txBox="1"/>
          <p:nvPr/>
        </p:nvSpPr>
        <p:spPr>
          <a:xfrm>
            <a:off x="15051024" y="3580638"/>
            <a:ext cx="20116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1–4 Bangla questions, non-punitive</a:t>
            </a:r>
            <a:endParaRPr lang="en-US" sz="1200" dirty="0"/>
          </a:p>
        </p:txBody>
      </p:sp>
      <p:sp>
        <p:nvSpPr>
          <p:cNvPr id="47" name="ans"/>
          <p:cNvSpPr/>
          <p:nvPr/>
        </p:nvSpPr>
        <p:spPr>
          <a:xfrm>
            <a:off x="14282928" y="4846320"/>
            <a:ext cx="2980944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con-helpCircle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84096" y="5248656"/>
            <a:ext cx="384048" cy="384048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5051024" y="5010912"/>
            <a:ext cx="2011680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Customer answers</a:t>
            </a:r>
            <a:endParaRPr lang="en-US" sz="1450" dirty="0"/>
          </a:p>
        </p:txBody>
      </p:sp>
      <p:sp>
        <p:nvSpPr>
          <p:cNvPr id="50" name="Text 38"/>
          <p:cNvSpPr txBox="1"/>
          <p:nvPr/>
        </p:nvSpPr>
        <p:spPr>
          <a:xfrm>
            <a:off x="15051024" y="5264785"/>
            <a:ext cx="2011680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become structured signals</a:t>
            </a:r>
            <a:endParaRPr lang="en-US" sz="1200" dirty="0"/>
          </a:p>
        </p:txBody>
      </p:sp>
      <p:sp>
        <p:nvSpPr>
          <p:cNvPr id="51" name="safety"/>
          <p:cNvSpPr/>
          <p:nvPr/>
        </p:nvSpPr>
        <p:spPr>
          <a:xfrm>
            <a:off x="14282928" y="6355080"/>
            <a:ext cx="2980944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con-shield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84096" y="6757416"/>
            <a:ext cx="384048" cy="384048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15051024" y="6519672"/>
            <a:ext cx="2011680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Safety Mode</a:t>
            </a:r>
            <a:endParaRPr lang="en-US" sz="1450" dirty="0"/>
          </a:p>
        </p:txBody>
      </p:sp>
      <p:sp>
        <p:nvSpPr>
          <p:cNvPr id="54" name="Text 41"/>
          <p:cNvSpPr txBox="1"/>
          <p:nvPr/>
        </p:nvSpPr>
        <p:spPr>
          <a:xfrm>
            <a:off x="15051024" y="6773545"/>
            <a:ext cx="201168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tighter thresholds, reversible</a:t>
            </a:r>
            <a:endParaRPr lang="en-US" sz="1200" dirty="0"/>
          </a:p>
        </p:txBody>
      </p:sp>
      <p:sp>
        <p:nvSpPr>
          <p:cNvPr id="55" name="db2"/>
          <p:cNvSpPr/>
          <p:nvPr/>
        </p:nvSpPr>
        <p:spPr>
          <a:xfrm>
            <a:off x="10058400" y="8001000"/>
            <a:ext cx="2331720" cy="141732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con-database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96244" y="8482012"/>
            <a:ext cx="310896" cy="310896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0222992" y="8847772"/>
            <a:ext cx="205740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Neon Postgres</a:t>
            </a:r>
            <a:endParaRPr lang="en-US" sz="1350" dirty="0"/>
          </a:p>
        </p:txBody>
      </p:sp>
      <p:sp>
        <p:nvSpPr>
          <p:cNvPr id="58" name="Text 44"/>
          <p:cNvSpPr txBox="1"/>
          <p:nvPr/>
        </p:nvSpPr>
        <p:spPr>
          <a:xfrm>
            <a:off x="10195560" y="9068371"/>
            <a:ext cx="211226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write-through commit</a:t>
            </a:r>
            <a:endParaRPr lang="en-US" sz="1050" dirty="0"/>
          </a:p>
        </p:txBody>
      </p:sp>
      <p:sp>
        <p:nvSpPr>
          <p:cNvPr id="59" name="au2"/>
          <p:cNvSpPr/>
          <p:nvPr/>
        </p:nvSpPr>
        <p:spPr>
          <a:xfrm>
            <a:off x="14282928" y="8001000"/>
            <a:ext cx="2331720" cy="141732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con-lock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20772" y="8482012"/>
            <a:ext cx="310896" cy="310896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14447520" y="8847772"/>
            <a:ext cx="205740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Audit ledger</a:t>
            </a:r>
            <a:endParaRPr lang="en-US" sz="1350" dirty="0"/>
          </a:p>
        </p:txBody>
      </p:sp>
      <p:sp>
        <p:nvSpPr>
          <p:cNvPr id="62" name="Text 47"/>
          <p:cNvSpPr txBox="1"/>
          <p:nvPr/>
        </p:nvSpPr>
        <p:spPr>
          <a:xfrm>
            <a:off x="14420088" y="9068371"/>
            <a:ext cx="211226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hash-chained</a:t>
            </a:r>
            <a:endParaRPr lang="en-US" sz="1050" dirty="0"/>
          </a:p>
        </p:txBody>
      </p:sp>
      <p:sp>
        <p:nvSpPr>
          <p:cNvPr id="63" name="edge"/>
          <p:cNvSpPr/>
          <p:nvPr/>
        </p:nvSpPr>
        <p:spPr>
          <a:xfrm>
            <a:off x="4133088" y="3611880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edge"/>
          <p:cNvSpPr/>
          <p:nvPr/>
        </p:nvSpPr>
        <p:spPr>
          <a:xfrm>
            <a:off x="4133088" y="4690872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edge"/>
          <p:cNvSpPr/>
          <p:nvPr/>
        </p:nvSpPr>
        <p:spPr>
          <a:xfrm>
            <a:off x="4133088" y="5769864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edge"/>
          <p:cNvSpPr/>
          <p:nvPr/>
        </p:nvSpPr>
        <p:spPr>
          <a:xfrm>
            <a:off x="4133088" y="6848856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edge"/>
          <p:cNvSpPr/>
          <p:nvPr/>
        </p:nvSpPr>
        <p:spPr>
          <a:xfrm flipV="1">
            <a:off x="8778240" y="4046220"/>
            <a:ext cx="1280160" cy="5943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8" name="edge-label"/>
          <p:cNvSpPr txBox="1"/>
          <p:nvPr/>
        </p:nvSpPr>
        <p:spPr>
          <a:xfrm>
            <a:off x="8805672" y="4233545"/>
            <a:ext cx="1225296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vector</a:t>
            </a:r>
            <a:endParaRPr lang="en-US" sz="1100" dirty="0"/>
          </a:p>
        </p:txBody>
      </p:sp>
      <p:sp>
        <p:nvSpPr>
          <p:cNvPr id="69" name="edge"/>
          <p:cNvSpPr/>
          <p:nvPr/>
        </p:nvSpPr>
        <p:spPr>
          <a:xfrm>
            <a:off x="8778240" y="6885051"/>
            <a:ext cx="64008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0" name="edge"/>
          <p:cNvSpPr/>
          <p:nvPr/>
        </p:nvSpPr>
        <p:spPr>
          <a:xfrm flipV="1">
            <a:off x="9418320" y="6377940"/>
            <a:ext cx="0" cy="507111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1" name="edge"/>
          <p:cNvSpPr/>
          <p:nvPr/>
        </p:nvSpPr>
        <p:spPr>
          <a:xfrm>
            <a:off x="9418320" y="6377940"/>
            <a:ext cx="64008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2" name="edge-label"/>
          <p:cNvSpPr txBox="1"/>
          <p:nvPr/>
        </p:nvSpPr>
        <p:spPr>
          <a:xfrm>
            <a:off x="8778240" y="6258750"/>
            <a:ext cx="118872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ring risk</a:t>
            </a:r>
            <a:endParaRPr lang="en-US" sz="1100" dirty="0"/>
          </a:p>
        </p:txBody>
      </p:sp>
      <p:sp>
        <p:nvSpPr>
          <p:cNvPr id="73" name="edge"/>
          <p:cNvSpPr/>
          <p:nvPr/>
        </p:nvSpPr>
        <p:spPr>
          <a:xfrm>
            <a:off x="11544300" y="4937760"/>
            <a:ext cx="0" cy="45720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4" name="edge"/>
          <p:cNvSpPr/>
          <p:nvPr/>
        </p:nvSpPr>
        <p:spPr>
          <a:xfrm flipV="1">
            <a:off x="13030200" y="3840480"/>
            <a:ext cx="1252728" cy="20574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edge-label"/>
          <p:cNvSpPr txBox="1"/>
          <p:nvPr/>
        </p:nvSpPr>
        <p:spPr>
          <a:xfrm>
            <a:off x="13199364" y="3833495"/>
            <a:ext cx="91440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risky</a:t>
            </a:r>
            <a:endParaRPr lang="en-US" sz="1100" dirty="0"/>
          </a:p>
        </p:txBody>
      </p:sp>
      <p:sp>
        <p:nvSpPr>
          <p:cNvPr id="76" name="edge"/>
          <p:cNvSpPr/>
          <p:nvPr/>
        </p:nvSpPr>
        <p:spPr>
          <a:xfrm>
            <a:off x="15773400" y="4526280"/>
            <a:ext cx="0" cy="32004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edge"/>
          <p:cNvSpPr/>
          <p:nvPr/>
        </p:nvSpPr>
        <p:spPr>
          <a:xfrm>
            <a:off x="15773400" y="6035040"/>
            <a:ext cx="0" cy="32004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edge"/>
          <p:cNvSpPr/>
          <p:nvPr/>
        </p:nvSpPr>
        <p:spPr>
          <a:xfrm flipH="1">
            <a:off x="13656564" y="5440680"/>
            <a:ext cx="62636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9" name="edge"/>
          <p:cNvSpPr/>
          <p:nvPr/>
        </p:nvSpPr>
        <p:spPr>
          <a:xfrm flipV="1">
            <a:off x="13656564" y="4491990"/>
            <a:ext cx="0" cy="94869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0" name="edge"/>
          <p:cNvSpPr/>
          <p:nvPr/>
        </p:nvSpPr>
        <p:spPr>
          <a:xfrm flipH="1">
            <a:off x="13030200" y="4491990"/>
            <a:ext cx="62636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edge-label"/>
          <p:cNvSpPr txBox="1"/>
          <p:nvPr/>
        </p:nvSpPr>
        <p:spPr>
          <a:xfrm>
            <a:off x="13016484" y="4582160"/>
            <a:ext cx="128016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75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re-score</a:t>
            </a:r>
            <a:endParaRPr lang="en-US" sz="1100" dirty="0"/>
          </a:p>
        </p:txBody>
      </p:sp>
      <p:sp>
        <p:nvSpPr>
          <p:cNvPr id="82" name="edge"/>
          <p:cNvSpPr/>
          <p:nvPr/>
        </p:nvSpPr>
        <p:spPr>
          <a:xfrm flipH="1">
            <a:off x="11224260" y="7360920"/>
            <a:ext cx="320040" cy="640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edge"/>
          <p:cNvSpPr/>
          <p:nvPr/>
        </p:nvSpPr>
        <p:spPr>
          <a:xfrm flipH="1">
            <a:off x="15448788" y="7543800"/>
            <a:ext cx="324612" cy="45720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diagram-note"/>
          <p:cNvSpPr txBox="1"/>
          <p:nvPr/>
        </p:nvSpPr>
        <p:spPr>
          <a:xfrm>
            <a:off x="1024128" y="9619488"/>
            <a:ext cx="1623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response is not returned until the write has committed, and the read cache is dropped on commit — a client cannot read back a pre-write snapshot.</a:t>
            </a:r>
            <a:endParaRPr lang="en-US" sz="1550" dirty="0"/>
          </a:p>
        </p:txBody>
      </p:sp>
      <p:sp>
        <p:nvSpPr>
          <p:cNvPr id="86" name="edge">
            <a:extLst>
              <a:ext uri="{FF2B5EF4-FFF2-40B4-BE49-F238E27FC236}">
                <a16:creationId xmlns:a16="http://schemas.microsoft.com/office/drawing/2014/main" id="{341390E9-FFC6-F24D-046C-31C288A93385}"/>
              </a:ext>
            </a:extLst>
          </p:cNvPr>
          <p:cNvSpPr/>
          <p:nvPr/>
        </p:nvSpPr>
        <p:spPr>
          <a:xfrm>
            <a:off x="9643110" y="6374511"/>
            <a:ext cx="369570" cy="3429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Multi-Factor Risk Scoring Engine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weighted signal families and a channel multiplier, every term traceable to a reason code.</a:t>
            </a:r>
            <a:endParaRPr lang="en-US" sz="1900" dirty="0"/>
          </a:p>
        </p:txBody>
      </p:sp>
      <p:sp>
        <p:nvSpPr>
          <p:cNvPr id="7" name="sig-0"/>
          <p:cNvSpPr/>
          <p:nvPr/>
        </p:nvSpPr>
        <p:spPr>
          <a:xfrm>
            <a:off x="1024128" y="2971800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-zap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23697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92224" y="3136392"/>
            <a:ext cx="337413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Velocity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792224" y="3397758"/>
            <a:ext cx="33741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count_1h · count_24h · burst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40680" y="304495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w1</a:t>
            </a:r>
            <a:endParaRPr lang="en-US" sz="1600" dirty="0"/>
          </a:p>
        </p:txBody>
      </p:sp>
      <p:sp>
        <p:nvSpPr>
          <p:cNvPr id="12" name="sig-1"/>
          <p:cNvSpPr/>
          <p:nvPr/>
        </p:nvSpPr>
        <p:spPr>
          <a:xfrm>
            <a:off x="1024128" y="4087368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con-key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435254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92224" y="4251960"/>
            <a:ext cx="337413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Account takeover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792224" y="4513326"/>
            <a:ext cx="33741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 swap · new device · session age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440680" y="41605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w2</a:t>
            </a:r>
            <a:endParaRPr lang="en-US" sz="1600" dirty="0"/>
          </a:p>
        </p:txBody>
      </p:sp>
      <p:sp>
        <p:nvSpPr>
          <p:cNvPr id="17" name="sig-2"/>
          <p:cNvSpPr/>
          <p:nvPr/>
        </p:nvSpPr>
        <p:spPr>
          <a:xfrm>
            <a:off x="1024128" y="5202936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con-trending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" y="54681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792224" y="5367528"/>
            <a:ext cx="337413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Behavioural anomaly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792224" y="5628894"/>
            <a:ext cx="33741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 z-score vs own history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440680" y="52760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w3</a:t>
            </a:r>
            <a:endParaRPr lang="en-US" sz="1600" dirty="0"/>
          </a:p>
        </p:txBody>
      </p:sp>
      <p:sp>
        <p:nvSpPr>
          <p:cNvPr id="22" name="sig-3"/>
          <p:cNvSpPr/>
          <p:nvPr/>
        </p:nvSpPr>
        <p:spPr>
          <a:xfrm>
            <a:off x="1024128" y="6318504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con-clock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296" y="658368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792224" y="6483096"/>
            <a:ext cx="337413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Temporal context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792224" y="6744462"/>
            <a:ext cx="33741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night hours · Eid / salary cycle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440680" y="639165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w4</a:t>
            </a:r>
            <a:endParaRPr lang="en-US" sz="1600" dirty="0"/>
          </a:p>
        </p:txBody>
      </p:sp>
      <p:sp>
        <p:nvSpPr>
          <p:cNvPr id="27" name="sig-4"/>
          <p:cNvSpPr/>
          <p:nvPr/>
        </p:nvSpPr>
        <p:spPr>
          <a:xfrm>
            <a:off x="1024128" y="7434072"/>
            <a:ext cx="43434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con-share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5296" y="7699248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792224" y="7598664"/>
            <a:ext cx="337413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Mule-ring proximity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1792224" y="7860030"/>
            <a:ext cx="337413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graph distance to a known ring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5440680" y="7507224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w5</a:t>
            </a:r>
            <a:endParaRPr lang="en-US" sz="1600" dirty="0"/>
          </a:p>
        </p:txBody>
      </p:sp>
      <p:sp>
        <p:nvSpPr>
          <p:cNvPr id="32" name="engine"/>
          <p:cNvSpPr/>
          <p:nvPr/>
        </p:nvSpPr>
        <p:spPr>
          <a:xfrm>
            <a:off x="6675120" y="2971800"/>
            <a:ext cx="4846320" cy="3931920"/>
          </a:xfrm>
          <a:prstGeom prst="roundRect">
            <a:avLst>
              <a:gd name="adj" fmla="val 139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con-sliders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3209544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461504" y="3209544"/>
            <a:ext cx="3803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Engine</a:t>
            </a:r>
            <a:endParaRPr lang="en-US" sz="2200" dirty="0"/>
          </a:p>
        </p:txBody>
      </p:sp>
      <p:sp>
        <p:nvSpPr>
          <p:cNvPr id="35" name="Text 27"/>
          <p:cNvSpPr txBox="1"/>
          <p:nvPr/>
        </p:nvSpPr>
        <p:spPr>
          <a:xfrm>
            <a:off x="6931152" y="3776472"/>
            <a:ext cx="4334256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7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= ( w1·V + w2·A + w3·B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7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w4·T + w5·R ) × M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6931152" y="4402836"/>
            <a:ext cx="4334256" cy="2318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 = channel multiplier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APP 1.00 · USSD 1.15 · AGENT 1.20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Mode tightens the thresholds: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PAUSE_VERIFY   0.60 → 0.40</a:t>
            </a:r>
            <a:endParaRPr lang="en-US" sz="12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    HOLD_ASSIST    0.85 → 0.65</a:t>
            </a:r>
            <a:endParaRPr lang="en-US" sz="1250" dirty="0"/>
          </a:p>
        </p:txBody>
      </p:sp>
      <p:sp>
        <p:nvSpPr>
          <p:cNvPr id="37" name="tier-0"/>
          <p:cNvSpPr/>
          <p:nvPr/>
        </p:nvSpPr>
        <p:spPr>
          <a:xfrm>
            <a:off x="12755880" y="2971800"/>
            <a:ext cx="4507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ier-dot-0"/>
          <p:cNvSpPr/>
          <p:nvPr/>
        </p:nvSpPr>
        <p:spPr>
          <a:xfrm>
            <a:off x="12957048" y="3209544"/>
            <a:ext cx="182880" cy="182880"/>
          </a:xfrm>
          <a:prstGeom prst="ellipse">
            <a:avLst/>
          </a:prstGeom>
          <a:solidFill>
            <a:srgbClr val="1F8A4C"/>
          </a:solidFill>
          <a:ln w="12700">
            <a:solidFill>
              <a:srgbClr val="1F8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 txBox="1"/>
          <p:nvPr/>
        </p:nvSpPr>
        <p:spPr>
          <a:xfrm>
            <a:off x="13286232" y="2971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ALLOW</a:t>
            </a:r>
            <a:endParaRPr lang="en-US" sz="1550" dirty="0"/>
          </a:p>
        </p:txBody>
      </p:sp>
      <p:sp>
        <p:nvSpPr>
          <p:cNvPr id="40" name="Text 32"/>
          <p:cNvSpPr txBox="1"/>
          <p:nvPr/>
        </p:nvSpPr>
        <p:spPr>
          <a:xfrm>
            <a:off x="15681960" y="29718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&lt; 0.30</a:t>
            </a:r>
            <a:endParaRPr lang="en-US" sz="1250" dirty="0"/>
          </a:p>
        </p:txBody>
      </p:sp>
      <p:sp>
        <p:nvSpPr>
          <p:cNvPr id="41" name="tier-1"/>
          <p:cNvSpPr/>
          <p:nvPr/>
        </p:nvSpPr>
        <p:spPr>
          <a:xfrm>
            <a:off x="12755880" y="3758184"/>
            <a:ext cx="4507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B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ier-dot-1"/>
          <p:cNvSpPr/>
          <p:nvPr/>
        </p:nvSpPr>
        <p:spPr>
          <a:xfrm>
            <a:off x="12957048" y="3995928"/>
            <a:ext cx="182880" cy="182880"/>
          </a:xfrm>
          <a:prstGeom prst="ellipse">
            <a:avLst/>
          </a:prstGeom>
          <a:solidFill>
            <a:srgbClr val="B98A00"/>
          </a:solidFill>
          <a:ln w="12700">
            <a:solidFill>
              <a:srgbClr val="B98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 txBox="1"/>
          <p:nvPr/>
        </p:nvSpPr>
        <p:spPr>
          <a:xfrm>
            <a:off x="13286232" y="3758184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WARN</a:t>
            </a:r>
            <a:endParaRPr lang="en-US" sz="1550" dirty="0"/>
          </a:p>
        </p:txBody>
      </p:sp>
      <p:sp>
        <p:nvSpPr>
          <p:cNvPr id="44" name="Text 36"/>
          <p:cNvSpPr txBox="1"/>
          <p:nvPr/>
        </p:nvSpPr>
        <p:spPr>
          <a:xfrm>
            <a:off x="15681960" y="375818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0.30 – 0.60</a:t>
            </a:r>
            <a:endParaRPr lang="en-US" sz="1250" dirty="0"/>
          </a:p>
        </p:txBody>
      </p:sp>
      <p:sp>
        <p:nvSpPr>
          <p:cNvPr id="45" name="tier-2"/>
          <p:cNvSpPr/>
          <p:nvPr/>
        </p:nvSpPr>
        <p:spPr>
          <a:xfrm>
            <a:off x="12755880" y="4544568"/>
            <a:ext cx="4507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ier-dot-2"/>
          <p:cNvSpPr/>
          <p:nvPr/>
        </p:nvSpPr>
        <p:spPr>
          <a:xfrm>
            <a:off x="12957048" y="4782312"/>
            <a:ext cx="182880" cy="18288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9"/>
          <p:cNvSpPr txBox="1"/>
          <p:nvPr/>
        </p:nvSpPr>
        <p:spPr>
          <a:xfrm>
            <a:off x="13286232" y="454456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PAUSE &amp; VERIFY</a:t>
            </a:r>
            <a:endParaRPr lang="en-US" sz="1550" dirty="0"/>
          </a:p>
        </p:txBody>
      </p:sp>
      <p:sp>
        <p:nvSpPr>
          <p:cNvPr id="48" name="Text 40"/>
          <p:cNvSpPr txBox="1"/>
          <p:nvPr/>
        </p:nvSpPr>
        <p:spPr>
          <a:xfrm>
            <a:off x="15681960" y="454456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0.60 – 0.85</a:t>
            </a:r>
            <a:endParaRPr lang="en-US" sz="1250" dirty="0"/>
          </a:p>
        </p:txBody>
      </p:sp>
      <p:sp>
        <p:nvSpPr>
          <p:cNvPr id="49" name="tier-3"/>
          <p:cNvSpPr/>
          <p:nvPr/>
        </p:nvSpPr>
        <p:spPr>
          <a:xfrm>
            <a:off x="12755880" y="5330952"/>
            <a:ext cx="4507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D25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ier-dot-3"/>
          <p:cNvSpPr/>
          <p:nvPr/>
        </p:nvSpPr>
        <p:spPr>
          <a:xfrm>
            <a:off x="12957048" y="5568696"/>
            <a:ext cx="182880" cy="182880"/>
          </a:xfrm>
          <a:prstGeom prst="ellipse">
            <a:avLst/>
          </a:prstGeom>
          <a:solidFill>
            <a:srgbClr val="D2561E"/>
          </a:solidFill>
          <a:ln w="12700">
            <a:solidFill>
              <a:srgbClr val="D25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3"/>
          <p:cNvSpPr txBox="1"/>
          <p:nvPr/>
        </p:nvSpPr>
        <p:spPr>
          <a:xfrm>
            <a:off x="13286232" y="5330952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HOLD &amp; ASSIST</a:t>
            </a:r>
            <a:endParaRPr lang="en-US" sz="1550" dirty="0"/>
          </a:p>
        </p:txBody>
      </p:sp>
      <p:sp>
        <p:nvSpPr>
          <p:cNvPr id="52" name="Text 44"/>
          <p:cNvSpPr txBox="1"/>
          <p:nvPr/>
        </p:nvSpPr>
        <p:spPr>
          <a:xfrm>
            <a:off x="15681960" y="53309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0.85 – 0.95</a:t>
            </a:r>
            <a:endParaRPr lang="en-US" sz="1250" dirty="0"/>
          </a:p>
        </p:txBody>
      </p:sp>
      <p:sp>
        <p:nvSpPr>
          <p:cNvPr id="53" name="tier-4"/>
          <p:cNvSpPr/>
          <p:nvPr/>
        </p:nvSpPr>
        <p:spPr>
          <a:xfrm>
            <a:off x="12755880" y="6117336"/>
            <a:ext cx="4507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ier-dot-4"/>
          <p:cNvSpPr/>
          <p:nvPr/>
        </p:nvSpPr>
        <p:spPr>
          <a:xfrm>
            <a:off x="12957048" y="6355080"/>
            <a:ext cx="182880" cy="182880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7"/>
          <p:cNvSpPr txBox="1"/>
          <p:nvPr/>
        </p:nvSpPr>
        <p:spPr>
          <a:xfrm>
            <a:off x="13286232" y="611733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BLOCK</a:t>
            </a:r>
            <a:endParaRPr lang="en-US" sz="1550" dirty="0"/>
          </a:p>
        </p:txBody>
      </p:sp>
      <p:sp>
        <p:nvSpPr>
          <p:cNvPr id="56" name="Text 48"/>
          <p:cNvSpPr txBox="1"/>
          <p:nvPr/>
        </p:nvSpPr>
        <p:spPr>
          <a:xfrm>
            <a:off x="15681960" y="6117336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≥ 0.95</a:t>
            </a:r>
            <a:endParaRPr lang="en-US" sz="1250" dirty="0"/>
          </a:p>
        </p:txBody>
      </p:sp>
      <p:sp>
        <p:nvSpPr>
          <p:cNvPr id="57" name="edge"/>
          <p:cNvSpPr/>
          <p:nvPr/>
        </p:nvSpPr>
        <p:spPr>
          <a:xfrm>
            <a:off x="5367528" y="3429000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edge"/>
          <p:cNvSpPr/>
          <p:nvPr/>
        </p:nvSpPr>
        <p:spPr>
          <a:xfrm>
            <a:off x="5367528" y="4544568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edge"/>
          <p:cNvSpPr/>
          <p:nvPr/>
        </p:nvSpPr>
        <p:spPr>
          <a:xfrm>
            <a:off x="5367528" y="5660136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edge"/>
          <p:cNvSpPr/>
          <p:nvPr/>
        </p:nvSpPr>
        <p:spPr>
          <a:xfrm>
            <a:off x="5367528" y="6775704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1" name="edge"/>
          <p:cNvSpPr/>
          <p:nvPr/>
        </p:nvSpPr>
        <p:spPr>
          <a:xfrm>
            <a:off x="5367528" y="7891272"/>
            <a:ext cx="130759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edge"/>
          <p:cNvSpPr/>
          <p:nvPr/>
        </p:nvSpPr>
        <p:spPr>
          <a:xfrm>
            <a:off x="11521440" y="4617720"/>
            <a:ext cx="1234440" cy="0"/>
          </a:xfrm>
          <a:prstGeom prst="line">
            <a:avLst/>
          </a:prstGeom>
          <a:noFill/>
          <a:ln w="20320">
            <a:solidFill>
              <a:srgbClr val="FF75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edge-label"/>
          <p:cNvSpPr txBox="1"/>
          <p:nvPr/>
        </p:nvSpPr>
        <p:spPr>
          <a:xfrm>
            <a:off x="11475720" y="4233545"/>
            <a:ext cx="132588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75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score + tier</a:t>
            </a:r>
            <a:endParaRPr lang="en-US" sz="1100" dirty="0"/>
          </a:p>
        </p:txBody>
      </p:sp>
      <p:sp>
        <p:nvSpPr>
          <p:cNvPr id="64" name="trace"/>
          <p:cNvSpPr/>
          <p:nvPr/>
        </p:nvSpPr>
        <p:spPr>
          <a:xfrm>
            <a:off x="6675120" y="7269480"/>
            <a:ext cx="484632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icon-fileText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6288" y="7603236"/>
            <a:ext cx="384048" cy="384048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7443216" y="7434072"/>
            <a:ext cx="3877056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Rule trace + Bangla / English reasons</a:t>
            </a:r>
            <a:endParaRPr lang="en-US" sz="1400" dirty="0"/>
          </a:p>
        </p:txBody>
      </p:sp>
      <p:sp>
        <p:nvSpPr>
          <p:cNvPr id="67" name="Text 58"/>
          <p:cNvSpPr txBox="1"/>
          <p:nvPr/>
        </p:nvSpPr>
        <p:spPr>
          <a:xfrm>
            <a:off x="7443216" y="7680452"/>
            <a:ext cx="38770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term that fired, with its reason code</a:t>
            </a:r>
            <a:endParaRPr lang="en-US" sz="1200" dirty="0"/>
          </a:p>
        </p:txBody>
      </p:sp>
      <p:sp>
        <p:nvSpPr>
          <p:cNvPr id="68" name="edge"/>
          <p:cNvSpPr/>
          <p:nvPr/>
        </p:nvSpPr>
        <p:spPr>
          <a:xfrm>
            <a:off x="9098280" y="6903720"/>
            <a:ext cx="0" cy="36576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diagram-note"/>
          <p:cNvSpPr txBox="1"/>
          <p:nvPr/>
        </p:nvSpPr>
        <p:spPr>
          <a:xfrm>
            <a:off x="1024128" y="9528048"/>
            <a:ext cx="1623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decision is explainable: the trace names which terms fired, and the customer sees the reason in Bangla.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Evidence Verdict Decision Engine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verdict is decided by deterministic policy. A generative model never picks it.</a:t>
            </a:r>
            <a:endParaRPr lang="en-US" sz="1900" dirty="0"/>
          </a:p>
        </p:txBody>
      </p:sp>
      <p:sp>
        <p:nvSpPr>
          <p:cNvPr id="7" name="inp"/>
          <p:cNvSpPr/>
          <p:nvPr/>
        </p:nvSpPr>
        <p:spPr>
          <a:xfrm>
            <a:off x="1024128" y="2880360"/>
            <a:ext cx="3246120" cy="1005840"/>
          </a:xfrm>
          <a:prstGeom prst="roundRect">
            <a:avLst>
              <a:gd name="adj" fmla="val 6364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-mess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19125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92224" y="3044952"/>
            <a:ext cx="22768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Customer complaint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792224" y="3306318"/>
            <a:ext cx="22768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untrusted free text</a:t>
            </a:r>
            <a:endParaRPr lang="en-US" sz="1200" dirty="0"/>
          </a:p>
        </p:txBody>
      </p:sp>
      <p:sp>
        <p:nvSpPr>
          <p:cNvPr id="11" name="guard"/>
          <p:cNvSpPr/>
          <p:nvPr/>
        </p:nvSpPr>
        <p:spPr>
          <a:xfrm>
            <a:off x="1024128" y="4251960"/>
            <a:ext cx="32461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con-shield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460857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92224" y="4416552"/>
            <a:ext cx="2276856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Untrusted input guard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792224" y="4662932"/>
            <a:ext cx="227685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injection patterns · EN / BN / Banglish</a:t>
            </a:r>
            <a:endParaRPr lang="en-US" sz="1200" dirty="0"/>
          </a:p>
        </p:txBody>
      </p:sp>
      <p:sp>
        <p:nvSpPr>
          <p:cNvPr id="15" name="red"/>
          <p:cNvSpPr/>
          <p:nvPr/>
        </p:nvSpPr>
        <p:spPr>
          <a:xfrm>
            <a:off x="1024128" y="5715000"/>
            <a:ext cx="32461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con-key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296" y="60716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92224" y="5879592"/>
            <a:ext cx="2276856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Credential redaction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792224" y="6125972"/>
            <a:ext cx="227685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 / OTP removed before storage</a:t>
            </a:r>
            <a:endParaRPr lang="en-US" sz="1200" dirty="0"/>
          </a:p>
        </p:txBody>
      </p:sp>
      <p:sp>
        <p:nvSpPr>
          <p:cNvPr id="19" name="claim"/>
          <p:cNvSpPr/>
          <p:nvPr/>
        </p:nvSpPr>
        <p:spPr>
          <a:xfrm>
            <a:off x="1024128" y="7178040"/>
            <a:ext cx="3246120" cy="1097280"/>
          </a:xfrm>
          <a:prstGeom prst="roundRect">
            <a:avLst>
              <a:gd name="adj" fmla="val 58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-search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5296" y="753465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92224" y="7342632"/>
            <a:ext cx="2276856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Claim extraction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792224" y="7589012"/>
            <a:ext cx="227685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amount · window · counterparty · denial</a:t>
            </a:r>
            <a:endParaRPr lang="en-US" sz="1200" dirty="0"/>
          </a:p>
        </p:txBody>
      </p:sp>
      <p:sp>
        <p:nvSpPr>
          <p:cNvPr id="23" name="dec1"/>
          <p:cNvSpPr/>
          <p:nvPr/>
        </p:nvSpPr>
        <p:spPr>
          <a:xfrm>
            <a:off x="4846320" y="3063240"/>
            <a:ext cx="3154680" cy="1691640"/>
          </a:xfrm>
          <a:prstGeom prst="diamond">
            <a:avLst/>
          </a:prstGeom>
          <a:solidFill>
            <a:srgbClr val="FFF0E6"/>
          </a:solidFill>
          <a:ln w="15875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 txBox="1"/>
          <p:nvPr/>
        </p:nvSpPr>
        <p:spPr>
          <a:xfrm>
            <a:off x="5287975" y="3063240"/>
            <a:ext cx="22713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Falsifiable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discriminator?</a:t>
            </a:r>
            <a:endParaRPr lang="en-US" sz="1500" dirty="0"/>
          </a:p>
        </p:txBody>
      </p:sp>
      <p:sp>
        <p:nvSpPr>
          <p:cNvPr id="25" name="match"/>
          <p:cNvSpPr/>
          <p:nvPr/>
        </p:nvSpPr>
        <p:spPr>
          <a:xfrm>
            <a:off x="4846320" y="5212080"/>
            <a:ext cx="3154680" cy="1234440"/>
          </a:xfrm>
          <a:prstGeom prst="roundRect">
            <a:avLst>
              <a:gd name="adj" fmla="val 518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con-gitBranch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563727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614416" y="5376672"/>
            <a:ext cx="218541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Transaction matcher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5614416" y="5638038"/>
            <a:ext cx="218541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weighted signals, normalised</a:t>
            </a:r>
            <a:endParaRPr lang="en-US" sz="1200" dirty="0"/>
          </a:p>
        </p:txBody>
      </p:sp>
      <p:sp>
        <p:nvSpPr>
          <p:cNvPr id="29" name="dec2"/>
          <p:cNvSpPr/>
          <p:nvPr/>
        </p:nvSpPr>
        <p:spPr>
          <a:xfrm>
            <a:off x="4846320" y="6812280"/>
            <a:ext cx="3154680" cy="1691640"/>
          </a:xfrm>
          <a:prstGeom prst="diamond">
            <a:avLst/>
          </a:prstGeom>
          <a:solidFill>
            <a:srgbClr val="FFF0E6"/>
          </a:solidFill>
          <a:ln w="15875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3"/>
          <p:cNvSpPr txBox="1"/>
          <p:nvPr/>
        </p:nvSpPr>
        <p:spPr>
          <a:xfrm>
            <a:off x="5287975" y="6812280"/>
            <a:ext cx="227137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Records</a:t>
            </a:r>
            <a:endParaRPr lang="en-US" sz="15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contradict?</a:t>
            </a:r>
            <a:endParaRPr lang="en-US" sz="1500" dirty="0"/>
          </a:p>
        </p:txBody>
      </p:sp>
      <p:sp>
        <p:nvSpPr>
          <p:cNvPr id="31" name="v1"/>
          <p:cNvSpPr/>
          <p:nvPr/>
        </p:nvSpPr>
        <p:spPr>
          <a:xfrm>
            <a:off x="8641080" y="3063240"/>
            <a:ext cx="33375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con-checkCircle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2248" y="3419856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409176" y="3227832"/>
            <a:ext cx="2368296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CONSISTENT</a:t>
            </a:r>
            <a:endParaRPr lang="en-US" sz="1600" dirty="0"/>
          </a:p>
        </p:txBody>
      </p:sp>
      <p:sp>
        <p:nvSpPr>
          <p:cNvPr id="34" name="Text 26"/>
          <p:cNvSpPr txBox="1"/>
          <p:nvPr/>
        </p:nvSpPr>
        <p:spPr>
          <a:xfrm>
            <a:off x="9409176" y="3504184"/>
            <a:ext cx="23682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records support the claim</a:t>
            </a:r>
            <a:endParaRPr lang="en-US" sz="1200" dirty="0"/>
          </a:p>
        </p:txBody>
      </p:sp>
      <p:sp>
        <p:nvSpPr>
          <p:cNvPr id="35" name="v2"/>
          <p:cNvSpPr/>
          <p:nvPr/>
        </p:nvSpPr>
        <p:spPr>
          <a:xfrm>
            <a:off x="8641080" y="5166360"/>
            <a:ext cx="33375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con-xCircle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2248" y="5522976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409176" y="5330952"/>
            <a:ext cx="2368296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INCONSISTENT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9409176" y="5607304"/>
            <a:ext cx="236829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checkable detail did not line up</a:t>
            </a:r>
            <a:endParaRPr lang="en-US" sz="1200" dirty="0"/>
          </a:p>
        </p:txBody>
      </p:sp>
      <p:sp>
        <p:nvSpPr>
          <p:cNvPr id="39" name="v3"/>
          <p:cNvSpPr/>
          <p:nvPr/>
        </p:nvSpPr>
        <p:spPr>
          <a:xfrm>
            <a:off x="8641080" y="7269480"/>
            <a:ext cx="33375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con-helpCircle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2248" y="7626096"/>
            <a:ext cx="384048" cy="38404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9409176" y="7434072"/>
            <a:ext cx="236829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INSUFFICIENT_DATA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9409176" y="7695438"/>
            <a:ext cx="236829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enough evidence either way</a:t>
            </a:r>
            <a:endParaRPr lang="en-US" sz="1200" dirty="0"/>
          </a:p>
        </p:txBody>
      </p:sp>
      <p:sp>
        <p:nvSpPr>
          <p:cNvPr id="43" name="hr"/>
          <p:cNvSpPr/>
          <p:nvPr/>
        </p:nvSpPr>
        <p:spPr>
          <a:xfrm>
            <a:off x="12664440" y="3063240"/>
            <a:ext cx="4599432" cy="1371600"/>
          </a:xfrm>
          <a:prstGeom prst="roundRect">
            <a:avLst>
              <a:gd name="adj" fmla="val 4667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con-userCheck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65608" y="3557016"/>
            <a:ext cx="384048" cy="38404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3432536" y="3227832"/>
            <a:ext cx="3630168" cy="23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Human-review policy</a:t>
            </a:r>
            <a:endParaRPr lang="en-US" sz="1600" dirty="0"/>
          </a:p>
        </p:txBody>
      </p:sp>
      <p:sp>
        <p:nvSpPr>
          <p:cNvPr id="46" name="Text 35"/>
          <p:cNvSpPr txBox="1"/>
          <p:nvPr/>
        </p:nvSpPr>
        <p:spPr>
          <a:xfrm>
            <a:off x="13432536" y="3504184"/>
            <a:ext cx="363016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named triggers — campaign, graph, evidence conflict, golden hour, credential exposure, injection</a:t>
            </a:r>
            <a:endParaRPr lang="en-US" sz="1200" dirty="0"/>
          </a:p>
        </p:txBody>
      </p:sp>
      <p:sp>
        <p:nvSpPr>
          <p:cNvPr id="47" name="resp"/>
          <p:cNvSpPr/>
          <p:nvPr/>
        </p:nvSpPr>
        <p:spPr>
          <a:xfrm>
            <a:off x="12664440" y="4937760"/>
            <a:ext cx="459943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con-fileText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865608" y="5317236"/>
            <a:ext cx="384048" cy="384048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3432536" y="5102352"/>
            <a:ext cx="3630168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Safe response builder</a:t>
            </a:r>
            <a:endParaRPr lang="en-US" sz="1500" dirty="0"/>
          </a:p>
        </p:txBody>
      </p:sp>
      <p:sp>
        <p:nvSpPr>
          <p:cNvPr id="50" name="Text 38"/>
          <p:cNvSpPr txBox="1"/>
          <p:nvPr/>
        </p:nvSpPr>
        <p:spPr>
          <a:xfrm>
            <a:off x="13432536" y="5363718"/>
            <a:ext cx="363016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vetted deterministic templates only</a:t>
            </a:r>
            <a:endParaRPr lang="en-US" sz="1200" dirty="0"/>
          </a:p>
        </p:txBody>
      </p:sp>
      <p:sp>
        <p:nvSpPr>
          <p:cNvPr id="51" name="val"/>
          <p:cNvSpPr/>
          <p:nvPr/>
        </p:nvSpPr>
        <p:spPr>
          <a:xfrm>
            <a:off x="12664440" y="6446520"/>
            <a:ext cx="4599432" cy="1234440"/>
          </a:xfrm>
          <a:prstGeom prst="roundRect">
            <a:avLst>
              <a:gd name="adj" fmla="val 518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2" name="icon-lock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65608" y="6871716"/>
            <a:ext cx="384048" cy="384048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13432536" y="6611112"/>
            <a:ext cx="3630168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Response safety validator</a:t>
            </a:r>
            <a:endParaRPr lang="en-US" sz="1500" dirty="0"/>
          </a:p>
        </p:txBody>
      </p:sp>
      <p:sp>
        <p:nvSpPr>
          <p:cNvPr id="54" name="Text 41"/>
          <p:cNvSpPr txBox="1"/>
          <p:nvPr/>
        </p:nvSpPr>
        <p:spPr>
          <a:xfrm>
            <a:off x="13432536" y="6872478"/>
            <a:ext cx="363016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blocks PIN / OTP / card asks and refund, reversal or unblock promises</a:t>
            </a:r>
            <a:endParaRPr lang="en-US" sz="1200" dirty="0"/>
          </a:p>
        </p:txBody>
      </p:sp>
      <p:sp>
        <p:nvSpPr>
          <p:cNvPr id="55" name="aud3"/>
          <p:cNvSpPr/>
          <p:nvPr/>
        </p:nvSpPr>
        <p:spPr>
          <a:xfrm>
            <a:off x="14036040" y="8001000"/>
            <a:ext cx="1828800" cy="137160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con-lock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794992" y="8432673"/>
            <a:ext cx="310896" cy="310896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4173200" y="8798433"/>
            <a:ext cx="155448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Audit</a:t>
            </a:r>
            <a:endParaRPr lang="en-US" sz="1350" dirty="0"/>
          </a:p>
        </p:txBody>
      </p:sp>
      <p:sp>
        <p:nvSpPr>
          <p:cNvPr id="58" name="Text 44"/>
          <p:cNvSpPr txBox="1"/>
          <p:nvPr/>
        </p:nvSpPr>
        <p:spPr>
          <a:xfrm>
            <a:off x="14145768" y="9019032"/>
            <a:ext cx="160934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 provenance</a:t>
            </a:r>
            <a:endParaRPr lang="en-US" sz="1050" dirty="0"/>
          </a:p>
        </p:txBody>
      </p:sp>
      <p:sp>
        <p:nvSpPr>
          <p:cNvPr id="59" name="edge"/>
          <p:cNvSpPr/>
          <p:nvPr/>
        </p:nvSpPr>
        <p:spPr>
          <a:xfrm>
            <a:off x="2647188" y="388620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edge"/>
          <p:cNvSpPr/>
          <p:nvPr/>
        </p:nvSpPr>
        <p:spPr>
          <a:xfrm>
            <a:off x="2647188" y="534924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1" name="edge"/>
          <p:cNvSpPr/>
          <p:nvPr/>
        </p:nvSpPr>
        <p:spPr>
          <a:xfrm>
            <a:off x="2647188" y="681228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edge"/>
          <p:cNvSpPr/>
          <p:nvPr/>
        </p:nvSpPr>
        <p:spPr>
          <a:xfrm>
            <a:off x="4270248" y="7726680"/>
            <a:ext cx="28346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3" name="edge"/>
          <p:cNvSpPr/>
          <p:nvPr/>
        </p:nvSpPr>
        <p:spPr>
          <a:xfrm flipV="1">
            <a:off x="4553712" y="3909060"/>
            <a:ext cx="0" cy="38176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4" name="edge"/>
          <p:cNvSpPr/>
          <p:nvPr/>
        </p:nvSpPr>
        <p:spPr>
          <a:xfrm>
            <a:off x="4553712" y="3909060"/>
            <a:ext cx="292608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edge"/>
          <p:cNvSpPr/>
          <p:nvPr/>
        </p:nvSpPr>
        <p:spPr>
          <a:xfrm>
            <a:off x="6423660" y="4754880"/>
            <a:ext cx="0" cy="45720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6" name="edge"/>
          <p:cNvSpPr/>
          <p:nvPr/>
        </p:nvSpPr>
        <p:spPr>
          <a:xfrm>
            <a:off x="6423660" y="6446520"/>
            <a:ext cx="0" cy="3657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edge"/>
          <p:cNvSpPr/>
          <p:nvPr/>
        </p:nvSpPr>
        <p:spPr>
          <a:xfrm flipV="1">
            <a:off x="8001000" y="3611880"/>
            <a:ext cx="640080" cy="297180"/>
          </a:xfrm>
          <a:prstGeom prst="line">
            <a:avLst/>
          </a:prstGeom>
          <a:noFill/>
          <a:ln w="15875">
            <a:solidFill>
              <a:srgbClr val="1F8A4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8" name="edge-label"/>
          <p:cNvSpPr txBox="1"/>
          <p:nvPr/>
        </p:nvSpPr>
        <p:spPr>
          <a:xfrm>
            <a:off x="8001000" y="3650615"/>
            <a:ext cx="64008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8A4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100" dirty="0"/>
          </a:p>
        </p:txBody>
      </p:sp>
      <p:sp>
        <p:nvSpPr>
          <p:cNvPr id="69" name="edge"/>
          <p:cNvSpPr/>
          <p:nvPr/>
        </p:nvSpPr>
        <p:spPr>
          <a:xfrm flipV="1">
            <a:off x="8001000" y="6022238"/>
            <a:ext cx="640080" cy="1635862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edge-label"/>
          <p:cNvSpPr txBox="1"/>
          <p:nvPr/>
        </p:nvSpPr>
        <p:spPr>
          <a:xfrm>
            <a:off x="7949794" y="6861183"/>
            <a:ext cx="64008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326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</a:t>
            </a:r>
            <a:endParaRPr lang="en-US" sz="1100" dirty="0"/>
          </a:p>
        </p:txBody>
      </p:sp>
      <p:sp>
        <p:nvSpPr>
          <p:cNvPr id="71" name="edge"/>
          <p:cNvSpPr/>
          <p:nvPr/>
        </p:nvSpPr>
        <p:spPr>
          <a:xfrm flipV="1">
            <a:off x="6423660" y="8275320"/>
            <a:ext cx="0" cy="228600"/>
          </a:xfrm>
          <a:prstGeom prst="line">
            <a:avLst/>
          </a:prstGeom>
          <a:noFill/>
          <a:ln w="15875">
            <a:solidFill>
              <a:srgbClr val="B98A00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2" name="edge"/>
          <p:cNvSpPr/>
          <p:nvPr/>
        </p:nvSpPr>
        <p:spPr>
          <a:xfrm>
            <a:off x="6423660" y="8275320"/>
            <a:ext cx="2217420" cy="0"/>
          </a:xfrm>
          <a:prstGeom prst="line">
            <a:avLst/>
          </a:prstGeom>
          <a:noFill/>
          <a:ln w="15875">
            <a:solidFill>
              <a:srgbClr val="B98A00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3" name="edge"/>
          <p:cNvSpPr/>
          <p:nvPr/>
        </p:nvSpPr>
        <p:spPr>
          <a:xfrm flipV="1">
            <a:off x="8641080" y="7818120"/>
            <a:ext cx="0" cy="457200"/>
          </a:xfrm>
          <a:prstGeom prst="line">
            <a:avLst/>
          </a:prstGeom>
          <a:noFill/>
          <a:ln w="15875">
            <a:solidFill>
              <a:srgbClr val="B98A00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4" name="edge-label"/>
          <p:cNvSpPr txBox="1"/>
          <p:nvPr/>
        </p:nvSpPr>
        <p:spPr>
          <a:xfrm>
            <a:off x="7212330" y="8371205"/>
            <a:ext cx="640080" cy="219710"/>
          </a:xfrm>
          <a:prstGeom prst="rect">
            <a:avLst/>
          </a:prstGeom>
          <a:solidFill>
            <a:srgbClr val="E4E4E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98A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</a:t>
            </a:r>
            <a:endParaRPr lang="en-US" sz="1100" dirty="0"/>
          </a:p>
        </p:txBody>
      </p:sp>
      <p:sp>
        <p:nvSpPr>
          <p:cNvPr id="75" name="edge"/>
          <p:cNvSpPr/>
          <p:nvPr/>
        </p:nvSpPr>
        <p:spPr>
          <a:xfrm>
            <a:off x="11978640" y="3611880"/>
            <a:ext cx="32004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6" name="edge"/>
          <p:cNvSpPr/>
          <p:nvPr/>
        </p:nvSpPr>
        <p:spPr>
          <a:xfrm>
            <a:off x="12298680" y="3611880"/>
            <a:ext cx="0" cy="1371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7" name="edge"/>
          <p:cNvSpPr/>
          <p:nvPr/>
        </p:nvSpPr>
        <p:spPr>
          <a:xfrm>
            <a:off x="12298680" y="3749040"/>
            <a:ext cx="36576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edge"/>
          <p:cNvSpPr/>
          <p:nvPr/>
        </p:nvSpPr>
        <p:spPr>
          <a:xfrm>
            <a:off x="11978640" y="5715000"/>
            <a:ext cx="32004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9" name="edge"/>
          <p:cNvSpPr/>
          <p:nvPr/>
        </p:nvSpPr>
        <p:spPr>
          <a:xfrm flipV="1">
            <a:off x="12298680" y="3749040"/>
            <a:ext cx="0" cy="19659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0" name="edge"/>
          <p:cNvSpPr/>
          <p:nvPr/>
        </p:nvSpPr>
        <p:spPr>
          <a:xfrm>
            <a:off x="12298680" y="3749040"/>
            <a:ext cx="36576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edge"/>
          <p:cNvSpPr/>
          <p:nvPr/>
        </p:nvSpPr>
        <p:spPr>
          <a:xfrm>
            <a:off x="11978640" y="7818120"/>
            <a:ext cx="32004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2" name="edge"/>
          <p:cNvSpPr/>
          <p:nvPr/>
        </p:nvSpPr>
        <p:spPr>
          <a:xfrm flipV="1">
            <a:off x="12298680" y="3749040"/>
            <a:ext cx="0" cy="40690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3" name="edge"/>
          <p:cNvSpPr/>
          <p:nvPr/>
        </p:nvSpPr>
        <p:spPr>
          <a:xfrm>
            <a:off x="12298680" y="3749040"/>
            <a:ext cx="36576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edge"/>
          <p:cNvSpPr/>
          <p:nvPr/>
        </p:nvSpPr>
        <p:spPr>
          <a:xfrm>
            <a:off x="14964156" y="4434840"/>
            <a:ext cx="0" cy="50292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edge"/>
          <p:cNvSpPr/>
          <p:nvPr/>
        </p:nvSpPr>
        <p:spPr>
          <a:xfrm>
            <a:off x="14964156" y="6080760"/>
            <a:ext cx="0" cy="36576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6" name="edge"/>
          <p:cNvSpPr/>
          <p:nvPr/>
        </p:nvSpPr>
        <p:spPr>
          <a:xfrm flipH="1">
            <a:off x="14950440" y="7680960"/>
            <a:ext cx="13716" cy="32004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7" name="diagram-note"/>
          <p:cNvSpPr txBox="1"/>
          <p:nvPr/>
        </p:nvSpPr>
        <p:spPr>
          <a:xfrm>
            <a:off x="1024128" y="9619488"/>
            <a:ext cx="1188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denial of authorisation against an existing transaction resolves to INSUFFICIENT_DATA plus mandatory human review — never to "customer fraud".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Language Model Chain &amp; Failover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rule engine is the floor and always answers. The model is an addition, never a dependency.</a:t>
            </a:r>
            <a:endParaRPr lang="en-US" sz="1900" dirty="0"/>
          </a:p>
        </p:txBody>
      </p:sp>
      <p:sp>
        <p:nvSpPr>
          <p:cNvPr id="7" name="req"/>
          <p:cNvSpPr/>
          <p:nvPr/>
        </p:nvSpPr>
        <p:spPr>
          <a:xfrm>
            <a:off x="1024128" y="3017520"/>
            <a:ext cx="3017520" cy="1005840"/>
          </a:xfrm>
          <a:prstGeom prst="roundRect">
            <a:avLst>
              <a:gd name="adj" fmla="val 6364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-sen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3284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92224" y="3182112"/>
            <a:ext cx="204825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Analysis request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792224" y="3443478"/>
            <a:ext cx="204825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conversation or complaint</a:t>
            </a:r>
            <a:endParaRPr lang="en-US" sz="1200" dirty="0"/>
          </a:p>
        </p:txBody>
      </p:sp>
      <p:sp>
        <p:nvSpPr>
          <p:cNvPr id="11" name="rules"/>
          <p:cNvSpPr/>
          <p:nvPr/>
        </p:nvSpPr>
        <p:spPr>
          <a:xfrm>
            <a:off x="1024128" y="4526280"/>
            <a:ext cx="3017520" cy="1371600"/>
          </a:xfrm>
          <a:prstGeom prst="roundRect">
            <a:avLst>
              <a:gd name="adj" fmla="val 466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con-lock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96" y="502005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92224" y="4690872"/>
            <a:ext cx="204825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Deterministic</a:t>
            </a:r>
            <a:endParaRPr lang="en-US" sz="16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rule engine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92224" y="5207000"/>
            <a:ext cx="2048256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offline · auditable · test-covered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1024128" y="60167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ALWAYS RUNS FIRST</a:t>
            </a:r>
            <a:endParaRPr lang="en-US" sz="1250" dirty="0"/>
          </a:p>
        </p:txBody>
      </p:sp>
      <p:sp>
        <p:nvSpPr>
          <p:cNvPr id="16" name="band"/>
          <p:cNvSpPr/>
          <p:nvPr/>
        </p:nvSpPr>
        <p:spPr>
          <a:xfrm>
            <a:off x="4407408" y="2788920"/>
            <a:ext cx="7004304" cy="4160520"/>
          </a:xfrm>
          <a:prstGeom prst="roundRect">
            <a:avLst>
              <a:gd name="adj" fmla="val 659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 txBox="1"/>
          <p:nvPr/>
        </p:nvSpPr>
        <p:spPr>
          <a:xfrm>
            <a:off x="4645152" y="29352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Provider chain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4645152" y="3319272"/>
            <a:ext cx="2194560" cy="462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ordered · fixed time budget</a:t>
            </a:r>
            <a:endParaRPr lang="en-US" sz="1300" dirty="0"/>
          </a:p>
        </p:txBody>
      </p:sp>
      <p:sp>
        <p:nvSpPr>
          <p:cNvPr id="19" name="prov-0"/>
          <p:cNvSpPr/>
          <p:nvPr/>
        </p:nvSpPr>
        <p:spPr>
          <a:xfrm>
            <a:off x="4663440" y="3977640"/>
            <a:ext cx="6492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-cpu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187952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431536" y="4142232"/>
            <a:ext cx="5522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Gemini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431536" y="4403598"/>
            <a:ext cx="552297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gemini-3.5-flash  —  primary</a:t>
            </a:r>
            <a:endParaRPr lang="en-US" sz="1200" dirty="0"/>
          </a:p>
        </p:txBody>
      </p:sp>
      <p:sp>
        <p:nvSpPr>
          <p:cNvPr id="23" name="prov-1"/>
          <p:cNvSpPr/>
          <p:nvPr/>
        </p:nvSpPr>
        <p:spPr>
          <a:xfrm>
            <a:off x="4663440" y="4965192"/>
            <a:ext cx="6492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con-cpu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517550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31536" y="5129784"/>
            <a:ext cx="5522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OpenAI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431536" y="5391150"/>
            <a:ext cx="552297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gpt-5.6-luna  —  failover</a:t>
            </a:r>
            <a:endParaRPr lang="en-US" sz="1200" dirty="0"/>
          </a:p>
        </p:txBody>
      </p:sp>
      <p:sp>
        <p:nvSpPr>
          <p:cNvPr id="27" name="prov-2"/>
          <p:cNvSpPr/>
          <p:nvPr/>
        </p:nvSpPr>
        <p:spPr>
          <a:xfrm>
            <a:off x="4663440" y="5952744"/>
            <a:ext cx="64922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con-cpu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6163056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431536" y="6117336"/>
            <a:ext cx="5522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Anthropic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431536" y="6378702"/>
            <a:ext cx="552297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failover</a:t>
            </a:r>
            <a:endParaRPr lang="en-US" sz="1200" dirty="0"/>
          </a:p>
        </p:txBody>
      </p:sp>
      <p:sp>
        <p:nvSpPr>
          <p:cNvPr id="31" name="edge"/>
          <p:cNvSpPr/>
          <p:nvPr/>
        </p:nvSpPr>
        <p:spPr>
          <a:xfrm>
            <a:off x="5669280" y="4782312"/>
            <a:ext cx="0" cy="18288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 txBox="1"/>
          <p:nvPr/>
        </p:nvSpPr>
        <p:spPr>
          <a:xfrm>
            <a:off x="5897880" y="476402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326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429 quota  ·  timeout  ·  503  ·  unusable JSON</a:t>
            </a:r>
            <a:endParaRPr lang="en-US" sz="1100" dirty="0"/>
          </a:p>
        </p:txBody>
      </p:sp>
      <p:sp>
        <p:nvSpPr>
          <p:cNvPr id="33" name="edge"/>
          <p:cNvSpPr/>
          <p:nvPr/>
        </p:nvSpPr>
        <p:spPr>
          <a:xfrm>
            <a:off x="5669280" y="5769864"/>
            <a:ext cx="0" cy="18288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5897880" y="57515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3261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429 quota  ·  timeout  ·  503  ·  unusable JSON</a:t>
            </a:r>
            <a:endParaRPr lang="en-US" sz="1100" dirty="0"/>
          </a:p>
        </p:txBody>
      </p:sp>
      <p:sp>
        <p:nvSpPr>
          <p:cNvPr id="35" name="merge"/>
          <p:cNvSpPr/>
          <p:nvPr/>
        </p:nvSpPr>
        <p:spPr>
          <a:xfrm>
            <a:off x="12435840" y="2926080"/>
            <a:ext cx="2926080" cy="1600200"/>
          </a:xfrm>
          <a:prstGeom prst="diamond">
            <a:avLst/>
          </a:prstGeom>
          <a:solidFill>
            <a:srgbClr val="FFF0E6"/>
          </a:solidFill>
          <a:ln w="15875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12845491" y="2926080"/>
            <a:ext cx="210677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Merge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direction?</a:t>
            </a:r>
            <a:endParaRPr lang="en-US" sz="1600" dirty="0"/>
          </a:p>
        </p:txBody>
      </p:sp>
      <p:sp>
        <p:nvSpPr>
          <p:cNvPr id="37" name="up"/>
          <p:cNvSpPr/>
          <p:nvPr/>
        </p:nvSpPr>
        <p:spPr>
          <a:xfrm>
            <a:off x="11978640" y="4800600"/>
            <a:ext cx="52852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con-trending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79808" y="5065776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2746736" y="4965192"/>
            <a:ext cx="4315968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Raises risk → accepted</a:t>
            </a:r>
            <a:endParaRPr lang="en-US" sz="1500" dirty="0"/>
          </a:p>
        </p:txBody>
      </p:sp>
      <p:sp>
        <p:nvSpPr>
          <p:cNvPr id="40" name="Text 32"/>
          <p:cNvSpPr txBox="1"/>
          <p:nvPr/>
        </p:nvSpPr>
        <p:spPr>
          <a:xfrm>
            <a:off x="12746736" y="5226558"/>
            <a:ext cx="431596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catches paraphrased, code-switched scripts</a:t>
            </a:r>
            <a:endParaRPr lang="en-US" sz="1200" dirty="0"/>
          </a:p>
        </p:txBody>
      </p:sp>
      <p:sp>
        <p:nvSpPr>
          <p:cNvPr id="41" name="down"/>
          <p:cNvSpPr/>
          <p:nvPr/>
        </p:nvSpPr>
        <p:spPr>
          <a:xfrm>
            <a:off x="11978640" y="5943600"/>
            <a:ext cx="5285232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con-xCircle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79808" y="6208776"/>
            <a:ext cx="384048" cy="38404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2746736" y="6108192"/>
            <a:ext cx="4315968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Lowers risk → rejected</a:t>
            </a:r>
            <a:endParaRPr lang="en-US" sz="1500" dirty="0"/>
          </a:p>
        </p:txBody>
      </p:sp>
      <p:sp>
        <p:nvSpPr>
          <p:cNvPr id="44" name="Text 35"/>
          <p:cNvSpPr txBox="1"/>
          <p:nvPr/>
        </p:nvSpPr>
        <p:spPr>
          <a:xfrm>
            <a:off x="12746736" y="6369558"/>
            <a:ext cx="431596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successful injection cannot talk the system down</a:t>
            </a:r>
            <a:endParaRPr lang="en-US" sz="1200" dirty="0"/>
          </a:p>
        </p:txBody>
      </p:sp>
      <p:sp>
        <p:nvSpPr>
          <p:cNvPr id="45" name="only"/>
          <p:cNvSpPr/>
          <p:nvPr/>
        </p:nvSpPr>
        <p:spPr>
          <a:xfrm>
            <a:off x="4407408" y="7269480"/>
            <a:ext cx="7004304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con-checkCircle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8576" y="7580376"/>
            <a:ext cx="384048" cy="384048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5175504" y="7434072"/>
            <a:ext cx="6035040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All providers failed → rules-only result</a:t>
            </a:r>
            <a:endParaRPr lang="en-US" sz="1500" dirty="0"/>
          </a:p>
        </p:txBody>
      </p:sp>
      <p:sp>
        <p:nvSpPr>
          <p:cNvPr id="48" name="Text 38"/>
          <p:cNvSpPr txBox="1"/>
          <p:nvPr/>
        </p:nvSpPr>
        <p:spPr>
          <a:xfrm>
            <a:off x="5175504" y="7695438"/>
            <a:ext cx="6035040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request still succeeds, and the response says why the model did not contribute</a:t>
            </a:r>
            <a:endParaRPr lang="en-US" sz="1200" dirty="0"/>
          </a:p>
        </p:txBody>
      </p:sp>
      <p:sp>
        <p:nvSpPr>
          <p:cNvPr id="49" name="log"/>
          <p:cNvSpPr/>
          <p:nvPr/>
        </p:nvSpPr>
        <p:spPr>
          <a:xfrm>
            <a:off x="14264640" y="7178040"/>
            <a:ext cx="2103120" cy="150876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0" name="icon-fileText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88184" y="7714488"/>
            <a:ext cx="310896" cy="310896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4429232" y="8080248"/>
            <a:ext cx="182880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llm_invocations</a:t>
            </a:r>
            <a:endParaRPr lang="en-US" sz="1350" dirty="0"/>
          </a:p>
        </p:txBody>
      </p:sp>
      <p:sp>
        <p:nvSpPr>
          <p:cNvPr id="52" name="Text 41"/>
          <p:cNvSpPr txBox="1"/>
          <p:nvPr/>
        </p:nvSpPr>
        <p:spPr>
          <a:xfrm>
            <a:off x="14401800" y="8300847"/>
            <a:ext cx="1883664" cy="157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provider · latency · reason</a:t>
            </a:r>
            <a:endParaRPr lang="en-US" sz="1050" dirty="0"/>
          </a:p>
        </p:txBody>
      </p:sp>
      <p:sp>
        <p:nvSpPr>
          <p:cNvPr id="53" name="edge"/>
          <p:cNvSpPr/>
          <p:nvPr/>
        </p:nvSpPr>
        <p:spPr>
          <a:xfrm>
            <a:off x="2532888" y="4023360"/>
            <a:ext cx="0" cy="5029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edge"/>
          <p:cNvSpPr/>
          <p:nvPr/>
        </p:nvSpPr>
        <p:spPr>
          <a:xfrm>
            <a:off x="4041648" y="5212080"/>
            <a:ext cx="36576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edge"/>
          <p:cNvSpPr/>
          <p:nvPr/>
        </p:nvSpPr>
        <p:spPr>
          <a:xfrm flipV="1">
            <a:off x="11155680" y="3726180"/>
            <a:ext cx="1280160" cy="653796"/>
          </a:xfrm>
          <a:prstGeom prst="line">
            <a:avLst/>
          </a:prstGeom>
          <a:noFill/>
          <a:ln w="15875">
            <a:solidFill>
              <a:srgbClr val="1F8A4C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56" name="edge"/>
          <p:cNvSpPr/>
          <p:nvPr/>
        </p:nvSpPr>
        <p:spPr>
          <a:xfrm>
            <a:off x="13898880" y="4526280"/>
            <a:ext cx="0" cy="274320"/>
          </a:xfrm>
          <a:prstGeom prst="line">
            <a:avLst/>
          </a:prstGeom>
          <a:noFill/>
          <a:ln w="15875">
            <a:solidFill>
              <a:srgbClr val="1F8A4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edge"/>
          <p:cNvSpPr/>
          <p:nvPr/>
        </p:nvSpPr>
        <p:spPr>
          <a:xfrm flipH="1">
            <a:off x="11704320" y="3726180"/>
            <a:ext cx="731520" cy="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8" name="edge"/>
          <p:cNvSpPr/>
          <p:nvPr/>
        </p:nvSpPr>
        <p:spPr>
          <a:xfrm>
            <a:off x="11704320" y="3726180"/>
            <a:ext cx="0" cy="267462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9" name="edge"/>
          <p:cNvSpPr/>
          <p:nvPr/>
        </p:nvSpPr>
        <p:spPr>
          <a:xfrm>
            <a:off x="11704320" y="6400800"/>
            <a:ext cx="274320" cy="0"/>
          </a:xfrm>
          <a:prstGeom prst="line">
            <a:avLst/>
          </a:prstGeom>
          <a:noFill/>
          <a:ln w="15875">
            <a:solidFill>
              <a:srgbClr val="B3261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edge"/>
          <p:cNvSpPr/>
          <p:nvPr/>
        </p:nvSpPr>
        <p:spPr>
          <a:xfrm>
            <a:off x="5669280" y="6757416"/>
            <a:ext cx="0" cy="283464"/>
          </a:xfrm>
          <a:prstGeom prst="line">
            <a:avLst/>
          </a:prstGeom>
          <a:noFill/>
          <a:ln w="15875">
            <a:solidFill>
              <a:srgbClr val="B3261E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1" name="edge"/>
          <p:cNvSpPr/>
          <p:nvPr/>
        </p:nvSpPr>
        <p:spPr>
          <a:xfrm>
            <a:off x="5669280" y="7040880"/>
            <a:ext cx="2240280" cy="0"/>
          </a:xfrm>
          <a:prstGeom prst="line">
            <a:avLst/>
          </a:prstGeom>
          <a:noFill/>
          <a:ln w="15875">
            <a:solidFill>
              <a:srgbClr val="B3261E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2" name="edge"/>
          <p:cNvSpPr/>
          <p:nvPr/>
        </p:nvSpPr>
        <p:spPr>
          <a:xfrm>
            <a:off x="7909560" y="7040880"/>
            <a:ext cx="0" cy="228600"/>
          </a:xfrm>
          <a:prstGeom prst="line">
            <a:avLst/>
          </a:prstGeom>
          <a:noFill/>
          <a:ln w="15875">
            <a:solidFill>
              <a:srgbClr val="B3261E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edge"/>
          <p:cNvSpPr/>
          <p:nvPr/>
        </p:nvSpPr>
        <p:spPr>
          <a:xfrm>
            <a:off x="14621256" y="6858000"/>
            <a:ext cx="0" cy="18288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4" name="edge"/>
          <p:cNvSpPr/>
          <p:nvPr/>
        </p:nvSpPr>
        <p:spPr>
          <a:xfrm>
            <a:off x="14621256" y="7040880"/>
            <a:ext cx="69494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5" name="edge"/>
          <p:cNvSpPr/>
          <p:nvPr/>
        </p:nvSpPr>
        <p:spPr>
          <a:xfrm>
            <a:off x="15316200" y="7040880"/>
            <a:ext cx="0" cy="13716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diagram-note"/>
          <p:cNvSpPr txBox="1"/>
          <p:nvPr/>
        </p:nvSpPr>
        <p:spPr>
          <a:xfrm>
            <a:off x="1024128" y="9464040"/>
            <a:ext cx="1623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Observed live on a free-tier key: 22 requests served by the failover after Gemini returned 429 / 503 / timeout, 9 served by the primary, and the rest answered by the rule engine — every one a successful response.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Division-Sharded Scale Model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scoring stays local to a division; only mule rings that genuinely cross divisions go national.</a:t>
            </a:r>
            <a:endParaRPr lang="en-US" sz="1900" dirty="0"/>
          </a:p>
        </p:txBody>
      </p:sp>
      <p:sp>
        <p:nvSpPr>
          <p:cNvPr id="7" name="nat"/>
          <p:cNvSpPr/>
          <p:nvPr/>
        </p:nvSpPr>
        <p:spPr>
          <a:xfrm>
            <a:off x="5760720" y="2788920"/>
            <a:ext cx="6766560" cy="1143000"/>
          </a:xfrm>
          <a:prstGeom prst="roundRect">
            <a:avLst>
              <a:gd name="adj" fmla="val 5600"/>
            </a:avLst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-glob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316839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28816" y="2953512"/>
            <a:ext cx="5797296" cy="25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National Mule-Ring Coordinator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28816" y="3244850"/>
            <a:ext cx="5797296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E8D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cross-division ring merge  ·  campaign federation</a:t>
            </a:r>
            <a:endParaRPr lang="en-US" sz="1200" dirty="0"/>
          </a:p>
        </p:txBody>
      </p:sp>
      <p:sp>
        <p:nvSpPr>
          <p:cNvPr id="11" name="band"/>
          <p:cNvSpPr/>
          <p:nvPr/>
        </p:nvSpPr>
        <p:spPr>
          <a:xfrm>
            <a:off x="1024128" y="4526280"/>
            <a:ext cx="4681728" cy="3611880"/>
          </a:xfrm>
          <a:prstGeom prst="roundRect">
            <a:avLst>
              <a:gd name="adj" fmla="val 759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261872" y="4672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Shard A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61872" y="5056632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Dhaka</a:t>
            </a:r>
            <a:endParaRPr lang="en-US" sz="1300" dirty="0"/>
          </a:p>
        </p:txBody>
      </p:sp>
      <p:sp>
        <p:nvSpPr>
          <p:cNvPr id="14" name="sh-0"/>
          <p:cNvSpPr/>
          <p:nvPr/>
        </p:nvSpPr>
        <p:spPr>
          <a:xfrm>
            <a:off x="1225296" y="5285232"/>
            <a:ext cx="4279392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con-sliders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555040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993392" y="5449824"/>
            <a:ext cx="3310128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Dhaka Risk Engine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1993392" y="570369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volume · urban + peri-urban</a:t>
            </a:r>
            <a:endParaRPr lang="en-US" sz="1200" dirty="0"/>
          </a:p>
        </p:txBody>
      </p:sp>
      <p:sp>
        <p:nvSpPr>
          <p:cNvPr id="18" name="camp-0"/>
          <p:cNvSpPr/>
          <p:nvPr/>
        </p:nvSpPr>
        <p:spPr>
          <a:xfrm>
            <a:off x="1225296" y="6327648"/>
            <a:ext cx="427939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con-radi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464" y="653796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993392" y="6492240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Campaign discovery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1993392" y="673112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division-local complaint clustering</a:t>
            </a:r>
            <a:endParaRPr lang="en-US" sz="1200" dirty="0"/>
          </a:p>
        </p:txBody>
      </p:sp>
      <p:sp>
        <p:nvSpPr>
          <p:cNvPr id="22" name="cache-0"/>
          <p:cNvSpPr/>
          <p:nvPr/>
        </p:nvSpPr>
        <p:spPr>
          <a:xfrm>
            <a:off x="1225296" y="7260336"/>
            <a:ext cx="4279392" cy="766191"/>
          </a:xfrm>
          <a:prstGeom prst="roundRect">
            <a:avLst>
              <a:gd name="adj" fmla="val 835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con-zap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464" y="7451408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993392" y="7424928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Hot feature cache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1993392" y="7663815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velocity + recipient trust, in region</a:t>
            </a:r>
            <a:endParaRPr lang="en-US" sz="1200" dirty="0"/>
          </a:p>
        </p:txBody>
      </p:sp>
      <p:sp>
        <p:nvSpPr>
          <p:cNvPr id="26" name="edge"/>
          <p:cNvSpPr/>
          <p:nvPr/>
        </p:nvSpPr>
        <p:spPr>
          <a:xfrm>
            <a:off x="3364992" y="6199632"/>
            <a:ext cx="0" cy="12801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edge"/>
          <p:cNvSpPr/>
          <p:nvPr/>
        </p:nvSpPr>
        <p:spPr>
          <a:xfrm flipV="1">
            <a:off x="3364992" y="4224528"/>
            <a:ext cx="0" cy="301752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edge"/>
          <p:cNvSpPr/>
          <p:nvPr/>
        </p:nvSpPr>
        <p:spPr>
          <a:xfrm>
            <a:off x="3364992" y="4224528"/>
            <a:ext cx="3749040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edge"/>
          <p:cNvSpPr/>
          <p:nvPr/>
        </p:nvSpPr>
        <p:spPr>
          <a:xfrm flipV="1">
            <a:off x="7114032" y="3931920"/>
            <a:ext cx="0" cy="292608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edge"/>
          <p:cNvSpPr/>
          <p:nvPr/>
        </p:nvSpPr>
        <p:spPr>
          <a:xfrm>
            <a:off x="3364992" y="8138160"/>
            <a:ext cx="0" cy="22860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edge"/>
          <p:cNvSpPr/>
          <p:nvPr/>
        </p:nvSpPr>
        <p:spPr>
          <a:xfrm>
            <a:off x="3364992" y="8366760"/>
            <a:ext cx="5001768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edge"/>
          <p:cNvSpPr/>
          <p:nvPr/>
        </p:nvSpPr>
        <p:spPr>
          <a:xfrm>
            <a:off x="8366760" y="836676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band"/>
          <p:cNvSpPr/>
          <p:nvPr/>
        </p:nvSpPr>
        <p:spPr>
          <a:xfrm>
            <a:off x="6803136" y="4526280"/>
            <a:ext cx="4681728" cy="3611880"/>
          </a:xfrm>
          <a:prstGeom prst="roundRect">
            <a:avLst>
              <a:gd name="adj" fmla="val 759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7040880" y="4672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Shard B</a:t>
            </a:r>
            <a:endParaRPr lang="en-US" sz="1700" dirty="0"/>
          </a:p>
        </p:txBody>
      </p:sp>
      <p:sp>
        <p:nvSpPr>
          <p:cNvPr id="35" name="Text 29"/>
          <p:cNvSpPr txBox="1"/>
          <p:nvPr/>
        </p:nvSpPr>
        <p:spPr>
          <a:xfrm>
            <a:off x="7040880" y="5056632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Chattogram</a:t>
            </a:r>
            <a:endParaRPr lang="en-US" sz="1300" dirty="0"/>
          </a:p>
        </p:txBody>
      </p:sp>
      <p:sp>
        <p:nvSpPr>
          <p:cNvPr id="36" name="sh-1"/>
          <p:cNvSpPr/>
          <p:nvPr/>
        </p:nvSpPr>
        <p:spPr>
          <a:xfrm>
            <a:off x="7004304" y="5285232"/>
            <a:ext cx="4279392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con-sliders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5550408"/>
            <a:ext cx="384048" cy="38404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772400" y="5449824"/>
            <a:ext cx="3310128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Chattogram Risk Engine</a:t>
            </a:r>
            <a:endParaRPr lang="en-US" sz="1450" dirty="0"/>
          </a:p>
        </p:txBody>
      </p:sp>
      <p:sp>
        <p:nvSpPr>
          <p:cNvPr id="39" name="Text 32"/>
          <p:cNvSpPr txBox="1"/>
          <p:nvPr/>
        </p:nvSpPr>
        <p:spPr>
          <a:xfrm>
            <a:off x="7772400" y="570369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 corridor · agent-heavy</a:t>
            </a:r>
            <a:endParaRPr lang="en-US" sz="1200" dirty="0"/>
          </a:p>
        </p:txBody>
      </p:sp>
      <p:sp>
        <p:nvSpPr>
          <p:cNvPr id="40" name="camp-1"/>
          <p:cNvSpPr/>
          <p:nvPr/>
        </p:nvSpPr>
        <p:spPr>
          <a:xfrm>
            <a:off x="7004304" y="6327648"/>
            <a:ext cx="427939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con-radi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6537960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772400" y="6492240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Campaign discovery</a:t>
            </a:r>
            <a:endParaRPr lang="en-US" sz="1350" dirty="0"/>
          </a:p>
        </p:txBody>
      </p:sp>
      <p:sp>
        <p:nvSpPr>
          <p:cNvPr id="43" name="Text 35"/>
          <p:cNvSpPr txBox="1"/>
          <p:nvPr/>
        </p:nvSpPr>
        <p:spPr>
          <a:xfrm>
            <a:off x="7772400" y="673112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division-local complaint clustering</a:t>
            </a:r>
            <a:endParaRPr lang="en-US" sz="1200" dirty="0"/>
          </a:p>
        </p:txBody>
      </p:sp>
      <p:sp>
        <p:nvSpPr>
          <p:cNvPr id="44" name="cache-1"/>
          <p:cNvSpPr/>
          <p:nvPr/>
        </p:nvSpPr>
        <p:spPr>
          <a:xfrm>
            <a:off x="7004304" y="7260336"/>
            <a:ext cx="4279392" cy="766191"/>
          </a:xfrm>
          <a:prstGeom prst="roundRect">
            <a:avLst>
              <a:gd name="adj" fmla="val 835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con-zap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2" y="7451408"/>
            <a:ext cx="384048" cy="384048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7772400" y="7424928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Hot feature cache</a:t>
            </a:r>
            <a:endParaRPr lang="en-US" sz="1350" dirty="0"/>
          </a:p>
        </p:txBody>
      </p:sp>
      <p:sp>
        <p:nvSpPr>
          <p:cNvPr id="47" name="Text 38"/>
          <p:cNvSpPr txBox="1"/>
          <p:nvPr/>
        </p:nvSpPr>
        <p:spPr>
          <a:xfrm>
            <a:off x="7772400" y="7663815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velocity + recipient trust, in region</a:t>
            </a:r>
            <a:endParaRPr lang="en-US" sz="1200" dirty="0"/>
          </a:p>
        </p:txBody>
      </p:sp>
      <p:sp>
        <p:nvSpPr>
          <p:cNvPr id="48" name="edge"/>
          <p:cNvSpPr/>
          <p:nvPr/>
        </p:nvSpPr>
        <p:spPr>
          <a:xfrm>
            <a:off x="9144000" y="6199632"/>
            <a:ext cx="0" cy="12801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edge"/>
          <p:cNvSpPr/>
          <p:nvPr/>
        </p:nvSpPr>
        <p:spPr>
          <a:xfrm flipV="1">
            <a:off x="9144000" y="4224528"/>
            <a:ext cx="0" cy="301752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0" name="edge"/>
          <p:cNvSpPr/>
          <p:nvPr/>
        </p:nvSpPr>
        <p:spPr>
          <a:xfrm>
            <a:off x="9144000" y="4224528"/>
            <a:ext cx="0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1" name="edge"/>
          <p:cNvSpPr/>
          <p:nvPr/>
        </p:nvSpPr>
        <p:spPr>
          <a:xfrm flipV="1">
            <a:off x="9144000" y="3931920"/>
            <a:ext cx="0" cy="292608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edge"/>
          <p:cNvSpPr/>
          <p:nvPr/>
        </p:nvSpPr>
        <p:spPr>
          <a:xfrm>
            <a:off x="9144000" y="8138160"/>
            <a:ext cx="0" cy="22860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3" name="edge"/>
          <p:cNvSpPr/>
          <p:nvPr/>
        </p:nvSpPr>
        <p:spPr>
          <a:xfrm>
            <a:off x="9144000" y="8366760"/>
            <a:ext cx="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4" name="edge"/>
          <p:cNvSpPr/>
          <p:nvPr/>
        </p:nvSpPr>
        <p:spPr>
          <a:xfrm>
            <a:off x="9144000" y="836676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5" name="band"/>
          <p:cNvSpPr/>
          <p:nvPr/>
        </p:nvSpPr>
        <p:spPr>
          <a:xfrm>
            <a:off x="12582144" y="4526280"/>
            <a:ext cx="4681728" cy="3611880"/>
          </a:xfrm>
          <a:prstGeom prst="roundRect">
            <a:avLst>
              <a:gd name="adj" fmla="val 759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7"/>
          <p:cNvSpPr txBox="1"/>
          <p:nvPr/>
        </p:nvSpPr>
        <p:spPr>
          <a:xfrm>
            <a:off x="12819888" y="467258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Shard C</a:t>
            </a:r>
            <a:endParaRPr lang="en-US" sz="1700" dirty="0"/>
          </a:p>
        </p:txBody>
      </p:sp>
      <p:sp>
        <p:nvSpPr>
          <p:cNvPr id="57" name="Text 48"/>
          <p:cNvSpPr txBox="1"/>
          <p:nvPr/>
        </p:nvSpPr>
        <p:spPr>
          <a:xfrm>
            <a:off x="12819888" y="5056632"/>
            <a:ext cx="2011680" cy="26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Sylhet</a:t>
            </a:r>
            <a:endParaRPr lang="en-US" sz="1300" dirty="0"/>
          </a:p>
        </p:txBody>
      </p:sp>
      <p:sp>
        <p:nvSpPr>
          <p:cNvPr id="58" name="sh-2"/>
          <p:cNvSpPr/>
          <p:nvPr/>
        </p:nvSpPr>
        <p:spPr>
          <a:xfrm>
            <a:off x="12783312" y="5285232"/>
            <a:ext cx="4279392" cy="914400"/>
          </a:xfrm>
          <a:prstGeom prst="roundRect">
            <a:avLst>
              <a:gd name="adj" fmla="val 7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con-sliders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0" y="5550408"/>
            <a:ext cx="384048" cy="384048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13551408" y="5449824"/>
            <a:ext cx="3310128" cy="2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Sylhet Risk Engine</a:t>
            </a:r>
            <a:endParaRPr lang="en-US" sz="1450" dirty="0"/>
          </a:p>
        </p:txBody>
      </p:sp>
      <p:sp>
        <p:nvSpPr>
          <p:cNvPr id="61" name="Text 51"/>
          <p:cNvSpPr txBox="1"/>
          <p:nvPr/>
        </p:nvSpPr>
        <p:spPr>
          <a:xfrm>
            <a:off x="13551408" y="570369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remittance inflow · rural USSD</a:t>
            </a:r>
            <a:endParaRPr lang="en-US" sz="1200" dirty="0"/>
          </a:p>
        </p:txBody>
      </p:sp>
      <p:sp>
        <p:nvSpPr>
          <p:cNvPr id="62" name="camp-2"/>
          <p:cNvSpPr/>
          <p:nvPr/>
        </p:nvSpPr>
        <p:spPr>
          <a:xfrm>
            <a:off x="12783312" y="6327648"/>
            <a:ext cx="4279392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con-radi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0" y="6537960"/>
            <a:ext cx="384048" cy="384048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13551408" y="6492240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Campaign discovery</a:t>
            </a:r>
            <a:endParaRPr lang="en-US" sz="1350" dirty="0"/>
          </a:p>
        </p:txBody>
      </p:sp>
      <p:sp>
        <p:nvSpPr>
          <p:cNvPr id="65" name="Text 54"/>
          <p:cNvSpPr txBox="1"/>
          <p:nvPr/>
        </p:nvSpPr>
        <p:spPr>
          <a:xfrm>
            <a:off x="13551408" y="6731127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division-local complaint clustering</a:t>
            </a:r>
            <a:endParaRPr lang="en-US" sz="1200" dirty="0"/>
          </a:p>
        </p:txBody>
      </p:sp>
      <p:sp>
        <p:nvSpPr>
          <p:cNvPr id="66" name="cache-2"/>
          <p:cNvSpPr/>
          <p:nvPr/>
        </p:nvSpPr>
        <p:spPr>
          <a:xfrm>
            <a:off x="12783312" y="7260336"/>
            <a:ext cx="4279392" cy="766191"/>
          </a:xfrm>
          <a:prstGeom prst="roundRect">
            <a:avLst>
              <a:gd name="adj" fmla="val 835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con-zap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4480" y="7451408"/>
            <a:ext cx="384048" cy="384048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13551408" y="7424928"/>
            <a:ext cx="331012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Hot feature cache</a:t>
            </a:r>
            <a:endParaRPr lang="en-US" sz="1350" dirty="0"/>
          </a:p>
        </p:txBody>
      </p:sp>
      <p:sp>
        <p:nvSpPr>
          <p:cNvPr id="69" name="Text 57"/>
          <p:cNvSpPr txBox="1"/>
          <p:nvPr/>
        </p:nvSpPr>
        <p:spPr>
          <a:xfrm>
            <a:off x="13551408" y="7663815"/>
            <a:ext cx="33101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velocity + recipient trust, in region</a:t>
            </a:r>
            <a:endParaRPr lang="en-US" sz="1200" dirty="0"/>
          </a:p>
        </p:txBody>
      </p:sp>
      <p:sp>
        <p:nvSpPr>
          <p:cNvPr id="70" name="edge"/>
          <p:cNvSpPr/>
          <p:nvPr/>
        </p:nvSpPr>
        <p:spPr>
          <a:xfrm>
            <a:off x="14923008" y="6199632"/>
            <a:ext cx="0" cy="128016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1" name="edge"/>
          <p:cNvSpPr/>
          <p:nvPr/>
        </p:nvSpPr>
        <p:spPr>
          <a:xfrm flipV="1">
            <a:off x="14923008" y="4224528"/>
            <a:ext cx="0" cy="301752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2" name="edge"/>
          <p:cNvSpPr/>
          <p:nvPr/>
        </p:nvSpPr>
        <p:spPr>
          <a:xfrm flipH="1">
            <a:off x="11173968" y="4224528"/>
            <a:ext cx="3749040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3" name="edge"/>
          <p:cNvSpPr/>
          <p:nvPr/>
        </p:nvSpPr>
        <p:spPr>
          <a:xfrm flipV="1">
            <a:off x="11173968" y="3931920"/>
            <a:ext cx="0" cy="292608"/>
          </a:xfrm>
          <a:prstGeom prst="line">
            <a:avLst/>
          </a:prstGeom>
          <a:noFill/>
          <a:ln w="15875">
            <a:solidFill>
              <a:srgbClr val="FF751F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4" name="edge"/>
          <p:cNvSpPr/>
          <p:nvPr/>
        </p:nvSpPr>
        <p:spPr>
          <a:xfrm>
            <a:off x="14923008" y="8138160"/>
            <a:ext cx="0" cy="22860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5" name="edge"/>
          <p:cNvSpPr/>
          <p:nvPr/>
        </p:nvSpPr>
        <p:spPr>
          <a:xfrm flipH="1">
            <a:off x="9921240" y="8366760"/>
            <a:ext cx="5001768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6" name="edge"/>
          <p:cNvSpPr/>
          <p:nvPr/>
        </p:nvSpPr>
        <p:spPr>
          <a:xfrm>
            <a:off x="9921240" y="836676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master"/>
          <p:cNvSpPr/>
          <p:nvPr/>
        </p:nvSpPr>
        <p:spPr>
          <a:xfrm>
            <a:off x="7955280" y="8641080"/>
            <a:ext cx="2377440" cy="1325880"/>
          </a:xfrm>
          <a:prstGeom prst="can">
            <a:avLst/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8" name="icon-database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9059487"/>
            <a:ext cx="310896" cy="310896"/>
          </a:xfrm>
          <a:prstGeom prst="rect">
            <a:avLst/>
          </a:prstGeom>
        </p:spPr>
      </p:pic>
      <p:sp>
        <p:nvSpPr>
          <p:cNvPr id="79" name="Text 66"/>
          <p:cNvSpPr txBox="1"/>
          <p:nvPr/>
        </p:nvSpPr>
        <p:spPr>
          <a:xfrm>
            <a:off x="8092440" y="9425247"/>
            <a:ext cx="2103120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Neon PostgreSQL</a:t>
            </a:r>
            <a:endParaRPr lang="en-US" sz="1350" dirty="0"/>
          </a:p>
        </p:txBody>
      </p:sp>
      <p:sp>
        <p:nvSpPr>
          <p:cNvPr id="80" name="Text 67"/>
          <p:cNvSpPr txBox="1"/>
          <p:nvPr/>
        </p:nvSpPr>
        <p:spPr>
          <a:xfrm>
            <a:off x="8065008" y="9645846"/>
            <a:ext cx="2157984" cy="314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national master · durable writes</a:t>
            </a:r>
            <a:endParaRPr lang="en-US" sz="1050" dirty="0"/>
          </a:p>
        </p:txBody>
      </p:sp>
      <p:sp>
        <p:nvSpPr>
          <p:cNvPr id="81" name="Text 68"/>
          <p:cNvSpPr txBox="1"/>
          <p:nvPr/>
        </p:nvSpPr>
        <p:spPr>
          <a:xfrm>
            <a:off x="1024128" y="278892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Dashed = ring evidence promoted nationally when a wallet, device or agent links two divisions.</a:t>
            </a:r>
            <a:endParaRPr lang="en-US" sz="14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40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Everything else stays in-region, so a Dhaka spike does not slow Sylhet.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Observability &amp; Evidence Trail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engine reports what served a request, how long it took, and what it could not see.</a:t>
            </a:r>
            <a:endParaRPr lang="en-US" sz="1900" dirty="0"/>
          </a:p>
        </p:txBody>
      </p:sp>
      <p:sp>
        <p:nvSpPr>
          <p:cNvPr id="7" name="src-0"/>
          <p:cNvSpPr/>
          <p:nvPr/>
        </p:nvSpPr>
        <p:spPr>
          <a:xfrm>
            <a:off x="1024128" y="283464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con-sliders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031236"/>
            <a:ext cx="384048" cy="38404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792224" y="2999232"/>
            <a:ext cx="2093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Engine</a:t>
            </a:r>
            <a:endParaRPr lang="en-US" sz="1500" dirty="0"/>
          </a:p>
        </p:txBody>
      </p:sp>
      <p:sp>
        <p:nvSpPr>
          <p:cNvPr id="10" name="src-1"/>
          <p:cNvSpPr/>
          <p:nvPr/>
        </p:nvSpPr>
        <p:spPr>
          <a:xfrm>
            <a:off x="4315968" y="283464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con-mess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30312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84064" y="2999232"/>
            <a:ext cx="2093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Scam NLP</a:t>
            </a:r>
            <a:endParaRPr lang="en-US" sz="1500" dirty="0"/>
          </a:p>
        </p:txBody>
      </p:sp>
      <p:sp>
        <p:nvSpPr>
          <p:cNvPr id="13" name="src-2"/>
          <p:cNvSpPr/>
          <p:nvPr/>
        </p:nvSpPr>
        <p:spPr>
          <a:xfrm>
            <a:off x="7607808" y="283464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con-search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303123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75904" y="2999232"/>
            <a:ext cx="2093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Investigation</a:t>
            </a:r>
            <a:endParaRPr lang="en-US" sz="1500" dirty="0"/>
          </a:p>
        </p:txBody>
      </p:sp>
      <p:sp>
        <p:nvSpPr>
          <p:cNvPr id="16" name="src-3"/>
          <p:cNvSpPr/>
          <p:nvPr/>
        </p:nvSpPr>
        <p:spPr>
          <a:xfrm>
            <a:off x="10899648" y="283464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con-clock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0816" y="303123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667744" y="2999232"/>
            <a:ext cx="2093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Recovery</a:t>
            </a:r>
            <a:endParaRPr lang="en-US" sz="1500" dirty="0"/>
          </a:p>
        </p:txBody>
      </p:sp>
      <p:sp>
        <p:nvSpPr>
          <p:cNvPr id="19" name="src-4"/>
          <p:cNvSpPr/>
          <p:nvPr/>
        </p:nvSpPr>
        <p:spPr>
          <a:xfrm>
            <a:off x="14191488" y="2834640"/>
            <a:ext cx="3063240" cy="777240"/>
          </a:xfrm>
          <a:prstGeom prst="roundRect">
            <a:avLst>
              <a:gd name="adj" fmla="val 8235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con-radi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92656" y="3031236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959584" y="2999232"/>
            <a:ext cx="2093976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Campaigns</a:t>
            </a:r>
            <a:endParaRPr lang="en-US" sz="1500" dirty="0"/>
          </a:p>
        </p:txBody>
      </p:sp>
      <p:sp>
        <p:nvSpPr>
          <p:cNvPr id="22" name="band"/>
          <p:cNvSpPr/>
          <p:nvPr/>
        </p:nvSpPr>
        <p:spPr>
          <a:xfrm>
            <a:off x="1024128" y="4160520"/>
            <a:ext cx="5120640" cy="4617720"/>
          </a:xfrm>
          <a:prstGeom prst="roundRect">
            <a:avLst>
              <a:gd name="adj" fmla="val 594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6"/>
          <p:cNvSpPr txBox="1"/>
          <p:nvPr/>
        </p:nvSpPr>
        <p:spPr>
          <a:xfrm>
            <a:off x="1261872" y="4343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METRICS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1261872" y="4681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counters &amp; latency</a:t>
            </a:r>
            <a:endParaRPr lang="en-US" sz="1300" dirty="0"/>
          </a:p>
        </p:txBody>
      </p:sp>
      <p:sp>
        <p:nvSpPr>
          <p:cNvPr id="25" name="obs-METRICS-0"/>
          <p:cNvSpPr/>
          <p:nvPr/>
        </p:nvSpPr>
        <p:spPr>
          <a:xfrm>
            <a:off x="1261872" y="5120640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con-barChart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63040" y="543153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2029968" y="5285232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/v1/metrics/summary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2029968" y="5524119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volume · alerts · rings · prevented loss</a:t>
            </a:r>
            <a:endParaRPr lang="en-US" sz="1200" dirty="0"/>
          </a:p>
        </p:txBody>
      </p:sp>
      <p:sp>
        <p:nvSpPr>
          <p:cNvPr id="29" name="obs-METRICS-1"/>
          <p:cNvSpPr/>
          <p:nvPr/>
        </p:nvSpPr>
        <p:spPr>
          <a:xfrm>
            <a:off x="1261872" y="6291072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con-activity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3040" y="6601968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2029968" y="6455664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/v1/investigations/metrics</a:t>
            </a:r>
            <a:endParaRPr lang="en-US" sz="1350" dirty="0"/>
          </a:p>
        </p:txBody>
      </p:sp>
      <p:sp>
        <p:nvSpPr>
          <p:cNvPr id="32" name="Text 23"/>
          <p:cNvSpPr txBox="1"/>
          <p:nvPr/>
        </p:nvSpPr>
        <p:spPr>
          <a:xfrm>
            <a:off x="2029968" y="6694551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verdict split · p50 / p95 · match rate</a:t>
            </a:r>
            <a:endParaRPr lang="en-US" sz="1200" dirty="0"/>
          </a:p>
        </p:txBody>
      </p:sp>
      <p:sp>
        <p:nvSpPr>
          <p:cNvPr id="33" name="obs-METRICS-2"/>
          <p:cNvSpPr/>
          <p:nvPr/>
        </p:nvSpPr>
        <p:spPr>
          <a:xfrm>
            <a:off x="1261872" y="7461504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con-users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3040" y="7772400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2029968" y="7626096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/v1/metrics/fairness · /drift</a:t>
            </a:r>
            <a:endParaRPr lang="en-US" sz="1350" dirty="0"/>
          </a:p>
        </p:txBody>
      </p:sp>
      <p:sp>
        <p:nvSpPr>
          <p:cNvPr id="36" name="Text 26"/>
          <p:cNvSpPr txBox="1"/>
          <p:nvPr/>
        </p:nvSpPr>
        <p:spPr>
          <a:xfrm>
            <a:off x="2029968" y="7864983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per-segment FPR · PSI drift per feature</a:t>
            </a:r>
            <a:endParaRPr lang="en-US" sz="1200" dirty="0"/>
          </a:p>
        </p:txBody>
      </p:sp>
      <p:sp>
        <p:nvSpPr>
          <p:cNvPr id="37" name="band"/>
          <p:cNvSpPr/>
          <p:nvPr/>
        </p:nvSpPr>
        <p:spPr>
          <a:xfrm>
            <a:off x="6583680" y="4160520"/>
            <a:ext cx="5120640" cy="4617720"/>
          </a:xfrm>
          <a:prstGeom prst="roundRect">
            <a:avLst>
              <a:gd name="adj" fmla="val 594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 txBox="1"/>
          <p:nvPr/>
        </p:nvSpPr>
        <p:spPr>
          <a:xfrm>
            <a:off x="6821424" y="4343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PROVENANCE</a:t>
            </a:r>
            <a:endParaRPr lang="en-US" sz="1800" dirty="0"/>
          </a:p>
        </p:txBody>
      </p:sp>
      <p:sp>
        <p:nvSpPr>
          <p:cNvPr id="39" name="Text 29"/>
          <p:cNvSpPr txBox="1"/>
          <p:nvPr/>
        </p:nvSpPr>
        <p:spPr>
          <a:xfrm>
            <a:off x="6821424" y="4681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served this answer</a:t>
            </a:r>
            <a:endParaRPr lang="en-US" sz="1300" dirty="0"/>
          </a:p>
        </p:txBody>
      </p:sp>
      <p:sp>
        <p:nvSpPr>
          <p:cNvPr id="40" name="obs-PROVENANCE-0"/>
          <p:cNvSpPr/>
          <p:nvPr/>
        </p:nvSpPr>
        <p:spPr>
          <a:xfrm>
            <a:off x="6821424" y="5120640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con-eye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2592" y="5431536"/>
            <a:ext cx="384048" cy="38404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7589520" y="5285232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analysis_provenance</a:t>
            </a:r>
            <a:endParaRPr lang="en-US" sz="1350" dirty="0"/>
          </a:p>
        </p:txBody>
      </p:sp>
      <p:sp>
        <p:nvSpPr>
          <p:cNvPr id="43" name="Text 32"/>
          <p:cNvSpPr txBox="1"/>
          <p:nvPr/>
        </p:nvSpPr>
        <p:spPr>
          <a:xfrm>
            <a:off x="7589520" y="5524119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rules score and model score, side by side</a:t>
            </a:r>
            <a:endParaRPr lang="en-US" sz="1200" dirty="0"/>
          </a:p>
        </p:txBody>
      </p:sp>
      <p:sp>
        <p:nvSpPr>
          <p:cNvPr id="44" name="obs-PROVENANCE-1"/>
          <p:cNvSpPr/>
          <p:nvPr/>
        </p:nvSpPr>
        <p:spPr>
          <a:xfrm>
            <a:off x="6821424" y="6291072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con-cpu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2592" y="6601968"/>
            <a:ext cx="384048" cy="384048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7589520" y="6455664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/v1/intelligence/llm/invocations</a:t>
            </a:r>
            <a:endParaRPr lang="en-US" sz="1350" dirty="0"/>
          </a:p>
        </p:txBody>
      </p:sp>
      <p:sp>
        <p:nvSpPr>
          <p:cNvPr id="47" name="Text 35"/>
          <p:cNvSpPr txBox="1"/>
          <p:nvPr/>
        </p:nvSpPr>
        <p:spPr>
          <a:xfrm>
            <a:off x="7589520" y="6694551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provider · model · latency · fallback reason</a:t>
            </a:r>
            <a:endParaRPr lang="en-US" sz="1200" dirty="0"/>
          </a:p>
        </p:txBody>
      </p:sp>
      <p:sp>
        <p:nvSpPr>
          <p:cNvPr id="48" name="obs-PROVENANCE-2"/>
          <p:cNvSpPr/>
          <p:nvPr/>
        </p:nvSpPr>
        <p:spPr>
          <a:xfrm>
            <a:off x="6821424" y="7461504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con-helpCircle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2592" y="7772400"/>
            <a:ext cx="384048" cy="384048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7589520" y="7626096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source availability</a:t>
            </a:r>
            <a:endParaRPr lang="en-US" sz="1350" dirty="0"/>
          </a:p>
        </p:txBody>
      </p:sp>
      <p:sp>
        <p:nvSpPr>
          <p:cNvPr id="51" name="Text 38"/>
          <p:cNvSpPr txBox="1"/>
          <p:nvPr/>
        </p:nvSpPr>
        <p:spPr>
          <a:xfrm>
            <a:off x="7589520" y="7864983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AVAILABLE / EMPTY / UNAVAILABLE</a:t>
            </a:r>
            <a:endParaRPr lang="en-US" sz="1200" dirty="0"/>
          </a:p>
        </p:txBody>
      </p:sp>
      <p:sp>
        <p:nvSpPr>
          <p:cNvPr id="52" name="band"/>
          <p:cNvSpPr/>
          <p:nvPr/>
        </p:nvSpPr>
        <p:spPr>
          <a:xfrm>
            <a:off x="12143232" y="4160520"/>
            <a:ext cx="5120640" cy="4617720"/>
          </a:xfrm>
          <a:prstGeom prst="roundRect">
            <a:avLst>
              <a:gd name="adj" fmla="val 594"/>
            </a:avLst>
          </a:prstGeom>
          <a:solidFill>
            <a:srgbClr val="FFFFFF">
              <a:alpha val="42000"/>
            </a:srgbClr>
          </a:solidFill>
          <a:ln w="9525">
            <a:solidFill>
              <a:srgbClr val="B4B4B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0"/>
          <p:cNvSpPr txBox="1"/>
          <p:nvPr/>
        </p:nvSpPr>
        <p:spPr>
          <a:xfrm>
            <a:off x="12380976" y="4343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EVIDENCE</a:t>
            </a:r>
            <a:endParaRPr lang="en-US" sz="1800" dirty="0"/>
          </a:p>
        </p:txBody>
      </p:sp>
      <p:sp>
        <p:nvSpPr>
          <p:cNvPr id="54" name="Text 41"/>
          <p:cNvSpPr txBox="1"/>
          <p:nvPr/>
        </p:nvSpPr>
        <p:spPr>
          <a:xfrm>
            <a:off x="12380976" y="46817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was decided, and why</a:t>
            </a:r>
            <a:endParaRPr lang="en-US" sz="1300" dirty="0"/>
          </a:p>
        </p:txBody>
      </p:sp>
      <p:sp>
        <p:nvSpPr>
          <p:cNvPr id="55" name="obs-EVIDENCE-0"/>
          <p:cNvSpPr/>
          <p:nvPr/>
        </p:nvSpPr>
        <p:spPr>
          <a:xfrm>
            <a:off x="12380976" y="5120640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6" name="icon-lock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82144" y="5431536"/>
            <a:ext cx="384048" cy="384048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13149072" y="5285232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/v1/audit/logs</a:t>
            </a:r>
            <a:endParaRPr lang="en-US" sz="1350" dirty="0"/>
          </a:p>
        </p:txBody>
      </p:sp>
      <p:sp>
        <p:nvSpPr>
          <p:cNvPr id="58" name="Text 44"/>
          <p:cNvSpPr txBox="1"/>
          <p:nvPr/>
        </p:nvSpPr>
        <p:spPr>
          <a:xfrm>
            <a:off x="13149072" y="5524119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append-only SHA-256 ledger of every action</a:t>
            </a:r>
            <a:endParaRPr lang="en-US" sz="1200" dirty="0"/>
          </a:p>
        </p:txBody>
      </p:sp>
      <p:sp>
        <p:nvSpPr>
          <p:cNvPr id="59" name="obs-EVIDENCE-1"/>
          <p:cNvSpPr/>
          <p:nvPr/>
        </p:nvSpPr>
        <p:spPr>
          <a:xfrm>
            <a:off x="12380976" y="6291072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con-gitBranch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582144" y="6601968"/>
            <a:ext cx="384048" cy="384048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13149072" y="6455664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reasoning chain</a:t>
            </a:r>
            <a:endParaRPr lang="en-US" sz="1350" dirty="0"/>
          </a:p>
        </p:txBody>
      </p:sp>
      <p:sp>
        <p:nvSpPr>
          <p:cNvPr id="62" name="Text 47"/>
          <p:cNvSpPr txBox="1"/>
          <p:nvPr/>
        </p:nvSpPr>
        <p:spPr>
          <a:xfrm>
            <a:off x="13149072" y="6694551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CLAIM → EVIDENCE → REASON → CONCLUSION</a:t>
            </a:r>
            <a:endParaRPr lang="en-US" sz="1200" dirty="0"/>
          </a:p>
        </p:txBody>
      </p:sp>
      <p:sp>
        <p:nvSpPr>
          <p:cNvPr id="63" name="obs-EVIDENCE-2"/>
          <p:cNvSpPr/>
          <p:nvPr/>
        </p:nvSpPr>
        <p:spPr>
          <a:xfrm>
            <a:off x="12380976" y="7461504"/>
            <a:ext cx="4645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con-database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582144" y="7772400"/>
            <a:ext cx="384048" cy="384048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13149072" y="7626096"/>
            <a:ext cx="3675888" cy="202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/health/persistence</a:t>
            </a:r>
            <a:endParaRPr lang="en-US" sz="1350" dirty="0"/>
          </a:p>
        </p:txBody>
      </p:sp>
      <p:sp>
        <p:nvSpPr>
          <p:cNvPr id="66" name="Text 50"/>
          <p:cNvSpPr txBox="1"/>
          <p:nvPr/>
        </p:nvSpPr>
        <p:spPr>
          <a:xfrm>
            <a:off x="13149072" y="7864983"/>
            <a:ext cx="367588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commit counters · durable row counts</a:t>
            </a:r>
            <a:endParaRPr lang="en-US" sz="1200" dirty="0"/>
          </a:p>
        </p:txBody>
      </p:sp>
      <p:sp>
        <p:nvSpPr>
          <p:cNvPr id="67" name="edge"/>
          <p:cNvSpPr/>
          <p:nvPr/>
        </p:nvSpPr>
        <p:spPr>
          <a:xfrm>
            <a:off x="2555748" y="361188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8" name="edge"/>
          <p:cNvSpPr/>
          <p:nvPr/>
        </p:nvSpPr>
        <p:spPr>
          <a:xfrm>
            <a:off x="2555748" y="3886200"/>
            <a:ext cx="102870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9" name="edge"/>
          <p:cNvSpPr/>
          <p:nvPr/>
        </p:nvSpPr>
        <p:spPr>
          <a:xfrm>
            <a:off x="3584448" y="3886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edge"/>
          <p:cNvSpPr/>
          <p:nvPr/>
        </p:nvSpPr>
        <p:spPr>
          <a:xfrm>
            <a:off x="5847588" y="361188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1" name="edge"/>
          <p:cNvSpPr/>
          <p:nvPr/>
        </p:nvSpPr>
        <p:spPr>
          <a:xfrm flipH="1">
            <a:off x="3584448" y="3886200"/>
            <a:ext cx="2263140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2" name="edge"/>
          <p:cNvSpPr/>
          <p:nvPr/>
        </p:nvSpPr>
        <p:spPr>
          <a:xfrm>
            <a:off x="3584448" y="3886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edge"/>
          <p:cNvSpPr/>
          <p:nvPr/>
        </p:nvSpPr>
        <p:spPr>
          <a:xfrm>
            <a:off x="9139428" y="361188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4" name="edge"/>
          <p:cNvSpPr/>
          <p:nvPr/>
        </p:nvSpPr>
        <p:spPr>
          <a:xfrm>
            <a:off x="9139428" y="3886200"/>
            <a:ext cx="4572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5" name="edge"/>
          <p:cNvSpPr/>
          <p:nvPr/>
        </p:nvSpPr>
        <p:spPr>
          <a:xfrm>
            <a:off x="9144000" y="3886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edge"/>
          <p:cNvSpPr/>
          <p:nvPr/>
        </p:nvSpPr>
        <p:spPr>
          <a:xfrm>
            <a:off x="12431268" y="361188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7" name="edge"/>
          <p:cNvSpPr/>
          <p:nvPr/>
        </p:nvSpPr>
        <p:spPr>
          <a:xfrm flipH="1">
            <a:off x="9144000" y="3886200"/>
            <a:ext cx="3287268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8" name="edge"/>
          <p:cNvSpPr/>
          <p:nvPr/>
        </p:nvSpPr>
        <p:spPr>
          <a:xfrm>
            <a:off x="9144000" y="3886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edge"/>
          <p:cNvSpPr/>
          <p:nvPr/>
        </p:nvSpPr>
        <p:spPr>
          <a:xfrm>
            <a:off x="15723108" y="361188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0" name="edge"/>
          <p:cNvSpPr/>
          <p:nvPr/>
        </p:nvSpPr>
        <p:spPr>
          <a:xfrm flipH="1">
            <a:off x="14703552" y="3886200"/>
            <a:ext cx="1019556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1" name="edge"/>
          <p:cNvSpPr/>
          <p:nvPr/>
        </p:nvSpPr>
        <p:spPr>
          <a:xfrm>
            <a:off x="14703552" y="3886200"/>
            <a:ext cx="0" cy="274320"/>
          </a:xfrm>
          <a:prstGeom prst="line">
            <a:avLst/>
          </a:prstGeom>
          <a:noFill/>
          <a:ln w="15875">
            <a:solidFill>
              <a:srgbClr val="5A5A5A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2" name="diagram-note"/>
          <p:cNvSpPr txBox="1"/>
          <p:nvPr/>
        </p:nvSpPr>
        <p:spPr>
          <a:xfrm>
            <a:off x="1024128" y="9528048"/>
            <a:ext cx="1623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4343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"Lookup failed" and "nothing found" are never the same value — the UI shows which one happened, and no evidence is invented to fill a gap.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3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 w="9525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5" name="diagram-title"/>
          <p:cNvSpPr txBox="1"/>
          <p:nvPr/>
        </p:nvSpPr>
        <p:spPr>
          <a:xfrm>
            <a:off x="1024128" y="1188720"/>
            <a:ext cx="1554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Two Lanes: Hot Path and Deliberate Path</a:t>
            </a:r>
            <a:endParaRPr lang="en-US" sz="6200" dirty="0"/>
          </a:p>
        </p:txBody>
      </p:sp>
      <p:sp>
        <p:nvSpPr>
          <p:cNvPr id="6" name="diagram-sub"/>
          <p:cNvSpPr txBox="1"/>
          <p:nvPr/>
        </p:nvSpPr>
        <p:spPr>
          <a:xfrm>
            <a:off x="1024128" y="2084832"/>
            <a:ext cx="1554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55555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Blocking a transfer and investigating a complaint have different deadlines, so they do not share a lane.</a:t>
            </a:r>
            <a:endParaRPr lang="en-US" sz="1900" dirty="0"/>
          </a:p>
        </p:txBody>
      </p:sp>
      <p:sp>
        <p:nvSpPr>
          <p:cNvPr id="7" name="lane1"/>
          <p:cNvSpPr/>
          <p:nvPr/>
        </p:nvSpPr>
        <p:spPr>
          <a:xfrm>
            <a:off x="1024128" y="2880360"/>
            <a:ext cx="16230600" cy="2468880"/>
          </a:xfrm>
          <a:prstGeom prst="roundRect">
            <a:avLst>
              <a:gd name="adj" fmla="val 1481"/>
            </a:avLst>
          </a:prstGeom>
          <a:solidFill>
            <a:srgbClr val="FFF0E6"/>
          </a:solidFill>
          <a:ln w="1905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298448" y="30906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LANE 1 — HOT PATH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A4E2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customer is waiting</a:t>
            </a:r>
            <a:endParaRPr lang="en-US" sz="1300" dirty="0"/>
          </a:p>
        </p:txBody>
      </p:sp>
      <p:sp>
        <p:nvSpPr>
          <p:cNvPr id="10" name="hot-0"/>
          <p:cNvSpPr/>
          <p:nvPr/>
        </p:nvSpPr>
        <p:spPr>
          <a:xfrm>
            <a:off x="4846320" y="36118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con-lo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399135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614416" y="37764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Deterministic only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614416" y="40228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network call on the blocking path</a:t>
            </a:r>
            <a:endParaRPr lang="en-US" sz="1200" dirty="0"/>
          </a:p>
        </p:txBody>
      </p:sp>
      <p:sp>
        <p:nvSpPr>
          <p:cNvPr id="14" name="hot-1"/>
          <p:cNvSpPr/>
          <p:nvPr/>
        </p:nvSpPr>
        <p:spPr>
          <a:xfrm>
            <a:off x="7991856" y="36118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con-zap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3991356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759952" y="37764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Feature store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759952" y="40228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indexed reads · composite + covering</a:t>
            </a:r>
            <a:endParaRPr lang="en-US" sz="1200" dirty="0"/>
          </a:p>
        </p:txBody>
      </p:sp>
      <p:sp>
        <p:nvSpPr>
          <p:cNvPr id="18" name="hot-2"/>
          <p:cNvSpPr/>
          <p:nvPr/>
        </p:nvSpPr>
        <p:spPr>
          <a:xfrm>
            <a:off x="11137392" y="36118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con-shar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38560" y="399135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905488" y="37764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Risk + ring lookup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1905488" y="40228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in-process graph traversal</a:t>
            </a:r>
            <a:endParaRPr lang="en-US" sz="1200" dirty="0"/>
          </a:p>
        </p:txBody>
      </p:sp>
      <p:sp>
        <p:nvSpPr>
          <p:cNvPr id="22" name="hot-3"/>
          <p:cNvSpPr/>
          <p:nvPr/>
        </p:nvSpPr>
        <p:spPr>
          <a:xfrm>
            <a:off x="14282928" y="36118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con-target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84096" y="399135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51024" y="37764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Decision returned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5051024" y="40228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before the model is ever consulted</a:t>
            </a:r>
            <a:endParaRPr lang="en-US" sz="1200" dirty="0"/>
          </a:p>
        </p:txBody>
      </p:sp>
      <p:sp>
        <p:nvSpPr>
          <p:cNvPr id="26" name="edge"/>
          <p:cNvSpPr/>
          <p:nvPr/>
        </p:nvSpPr>
        <p:spPr>
          <a:xfrm>
            <a:off x="7754112" y="4183380"/>
            <a:ext cx="23774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edge"/>
          <p:cNvSpPr/>
          <p:nvPr/>
        </p:nvSpPr>
        <p:spPr>
          <a:xfrm>
            <a:off x="10899648" y="4183380"/>
            <a:ext cx="23774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edge"/>
          <p:cNvSpPr/>
          <p:nvPr/>
        </p:nvSpPr>
        <p:spPr>
          <a:xfrm>
            <a:off x="14045184" y="4183380"/>
            <a:ext cx="237744" cy="0"/>
          </a:xfrm>
          <a:prstGeom prst="line">
            <a:avLst/>
          </a:prstGeom>
          <a:noFill/>
          <a:ln w="15875">
            <a:solidFill>
              <a:srgbClr val="FF75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lane2"/>
          <p:cNvSpPr/>
          <p:nvPr/>
        </p:nvSpPr>
        <p:spPr>
          <a:xfrm>
            <a:off x="1024128" y="5623560"/>
            <a:ext cx="16230600" cy="2468880"/>
          </a:xfrm>
          <a:prstGeom prst="roundRect">
            <a:avLst>
              <a:gd name="adj" fmla="val 1481"/>
            </a:avLst>
          </a:prstGeom>
          <a:solidFill>
            <a:srgbClr val="FFFFFF">
              <a:alpha val="62000"/>
            </a:srgbClr>
          </a:solidFill>
          <a:ln w="15875">
            <a:solidFill>
              <a:srgbClr val="6B6B6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1298448" y="58338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LANE 2 — DELIBERATE PATH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1298448" y="6217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363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analyst is waiting, not a customer</a:t>
            </a:r>
            <a:endParaRPr lang="en-US" sz="1300" dirty="0"/>
          </a:p>
        </p:txBody>
      </p:sp>
      <p:sp>
        <p:nvSpPr>
          <p:cNvPr id="32" name="cold-0"/>
          <p:cNvSpPr/>
          <p:nvPr/>
        </p:nvSpPr>
        <p:spPr>
          <a:xfrm>
            <a:off x="4846320" y="63550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con-cpu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6734556"/>
            <a:ext cx="384048" cy="38404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5614416" y="65196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Model chain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5614416" y="6766052"/>
            <a:ext cx="1938528" cy="179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budget, then rules</a:t>
            </a:r>
            <a:endParaRPr lang="en-US" sz="1200" dirty="0"/>
          </a:p>
        </p:txBody>
      </p:sp>
      <p:sp>
        <p:nvSpPr>
          <p:cNvPr id="36" name="cold-1"/>
          <p:cNvSpPr/>
          <p:nvPr/>
        </p:nvSpPr>
        <p:spPr>
          <a:xfrm>
            <a:off x="7991856" y="63550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con-layers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3024" y="6734556"/>
            <a:ext cx="384048" cy="384048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8759952" y="65196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8759952" y="67660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cosine over the embedded corpus</a:t>
            </a:r>
            <a:endParaRPr lang="en-US" sz="1200" dirty="0"/>
          </a:p>
        </p:txBody>
      </p:sp>
      <p:sp>
        <p:nvSpPr>
          <p:cNvPr id="40" name="cold-2"/>
          <p:cNvSpPr/>
          <p:nvPr/>
        </p:nvSpPr>
        <p:spPr>
          <a:xfrm>
            <a:off x="11137392" y="63550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con-search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38560" y="6734556"/>
            <a:ext cx="384048" cy="38404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1905488" y="65196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Investigation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11905488" y="67660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claim · match · verdict · review</a:t>
            </a:r>
            <a:endParaRPr lang="en-US" sz="1200" dirty="0"/>
          </a:p>
        </p:txBody>
      </p:sp>
      <p:sp>
        <p:nvSpPr>
          <p:cNvPr id="44" name="cold-3"/>
          <p:cNvSpPr/>
          <p:nvPr/>
        </p:nvSpPr>
        <p:spPr>
          <a:xfrm>
            <a:off x="14282928" y="6355080"/>
            <a:ext cx="2907792" cy="1143000"/>
          </a:xfrm>
          <a:prstGeom prst="roundRect">
            <a:avLst>
              <a:gd name="adj" fmla="val 5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con-database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84096" y="6734556"/>
            <a:ext cx="384048" cy="384048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5051024" y="6519672"/>
            <a:ext cx="1938528" cy="209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Write-through commit</a:t>
            </a:r>
            <a:endParaRPr lang="en-US" sz="1400" dirty="0"/>
          </a:p>
        </p:txBody>
      </p:sp>
      <p:sp>
        <p:nvSpPr>
          <p:cNvPr id="47" name="Text 37"/>
          <p:cNvSpPr txBox="1"/>
          <p:nvPr/>
        </p:nvSpPr>
        <p:spPr>
          <a:xfrm>
            <a:off x="15051024" y="6766052"/>
            <a:ext cx="1938528" cy="359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acknowledged only after commit</a:t>
            </a:r>
            <a:endParaRPr lang="en-US" sz="1200" dirty="0"/>
          </a:p>
        </p:txBody>
      </p:sp>
      <p:sp>
        <p:nvSpPr>
          <p:cNvPr id="48" name="edge"/>
          <p:cNvSpPr/>
          <p:nvPr/>
        </p:nvSpPr>
        <p:spPr>
          <a:xfrm>
            <a:off x="7754112" y="6926580"/>
            <a:ext cx="23774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9" name="edge"/>
          <p:cNvSpPr/>
          <p:nvPr/>
        </p:nvSpPr>
        <p:spPr>
          <a:xfrm>
            <a:off x="10899648" y="6926580"/>
            <a:ext cx="23774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0" name="edge"/>
          <p:cNvSpPr/>
          <p:nvPr/>
        </p:nvSpPr>
        <p:spPr>
          <a:xfrm>
            <a:off x="14045184" y="6926580"/>
            <a:ext cx="237744" cy="0"/>
          </a:xfrm>
          <a:prstGeom prst="line">
            <a:avLst/>
          </a:prstGeom>
          <a:noFill/>
          <a:ln w="15875">
            <a:solidFill>
              <a:srgbClr val="5A5A5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1" name="m-0"/>
          <p:cNvSpPr/>
          <p:nvPr/>
        </p:nvSpPr>
        <p:spPr>
          <a:xfrm>
            <a:off x="1024128" y="841248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2"/>
          <p:cNvSpPr txBox="1"/>
          <p:nvPr/>
        </p:nvSpPr>
        <p:spPr>
          <a:xfrm>
            <a:off x="1280160" y="84124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6B6B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p50</a:t>
            </a:r>
            <a:endParaRPr lang="en-US" sz="1500" dirty="0"/>
          </a:p>
        </p:txBody>
      </p:sp>
      <p:sp>
        <p:nvSpPr>
          <p:cNvPr id="53" name="Text 43"/>
          <p:cNvSpPr txBox="1"/>
          <p:nvPr/>
        </p:nvSpPr>
        <p:spPr>
          <a:xfrm>
            <a:off x="2139696" y="8503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FF751F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402 ms</a:t>
            </a:r>
            <a:endParaRPr lang="en-US" sz="2300" dirty="0"/>
          </a:p>
        </p:txBody>
      </p:sp>
      <p:sp>
        <p:nvSpPr>
          <p:cNvPr id="54" name="Text 44"/>
          <p:cNvSpPr txBox="1"/>
          <p:nvPr/>
        </p:nvSpPr>
        <p:spPr>
          <a:xfrm>
            <a:off x="2139696" y="89245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investigation, end to end</a:t>
            </a:r>
            <a:endParaRPr lang="en-US" sz="1200" dirty="0"/>
          </a:p>
        </p:txBody>
      </p:sp>
      <p:sp>
        <p:nvSpPr>
          <p:cNvPr id="55" name="m-1"/>
          <p:cNvSpPr/>
          <p:nvPr/>
        </p:nvSpPr>
        <p:spPr>
          <a:xfrm>
            <a:off x="6556248" y="841248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6"/>
          <p:cNvSpPr txBox="1"/>
          <p:nvPr/>
        </p:nvSpPr>
        <p:spPr>
          <a:xfrm>
            <a:off x="6812280" y="84124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6B6B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p95</a:t>
            </a:r>
            <a:endParaRPr lang="en-US" sz="1500" dirty="0"/>
          </a:p>
        </p:txBody>
      </p:sp>
      <p:sp>
        <p:nvSpPr>
          <p:cNvPr id="57" name="Text 47"/>
          <p:cNvSpPr txBox="1"/>
          <p:nvPr/>
        </p:nvSpPr>
        <p:spPr>
          <a:xfrm>
            <a:off x="7671816" y="8503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FF751F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8.4 s</a:t>
            </a:r>
            <a:endParaRPr lang="en-US" sz="2300" dirty="0"/>
          </a:p>
        </p:txBody>
      </p:sp>
      <p:sp>
        <p:nvSpPr>
          <p:cNvPr id="58" name="Text 48"/>
          <p:cNvSpPr txBox="1"/>
          <p:nvPr/>
        </p:nvSpPr>
        <p:spPr>
          <a:xfrm>
            <a:off x="7671816" y="89245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when the model chain is used</a:t>
            </a:r>
            <a:endParaRPr lang="en-US" sz="1200" dirty="0"/>
          </a:p>
        </p:txBody>
      </p:sp>
      <p:sp>
        <p:nvSpPr>
          <p:cNvPr id="59" name="m-2"/>
          <p:cNvSpPr/>
          <p:nvPr/>
        </p:nvSpPr>
        <p:spPr>
          <a:xfrm>
            <a:off x="12088368" y="8412480"/>
            <a:ext cx="5166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0"/>
          <p:cNvSpPr txBox="1"/>
          <p:nvPr/>
        </p:nvSpPr>
        <p:spPr>
          <a:xfrm>
            <a:off x="12344400" y="84124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6B6B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RAG</a:t>
            </a:r>
            <a:endParaRPr lang="en-US" sz="1500" dirty="0"/>
          </a:p>
        </p:txBody>
      </p:sp>
      <p:sp>
        <p:nvSpPr>
          <p:cNvPr id="61" name="Text 51"/>
          <p:cNvSpPr txBox="1"/>
          <p:nvPr/>
        </p:nvSpPr>
        <p:spPr>
          <a:xfrm>
            <a:off x="13203936" y="8503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FF751F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&lt; 1 ms</a:t>
            </a:r>
            <a:endParaRPr lang="en-US" sz="2300" dirty="0"/>
          </a:p>
        </p:txBody>
      </p:sp>
      <p:sp>
        <p:nvSpPr>
          <p:cNvPr id="62" name="Text 52"/>
          <p:cNvSpPr txBox="1"/>
          <p:nvPr/>
        </p:nvSpPr>
        <p:spPr>
          <a:xfrm>
            <a:off x="13203936" y="89245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F5F5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cosine, in-process at this corpus size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bl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76872" y="3310128"/>
            <a:ext cx="13962888" cy="13962888"/>
          </a:xfrm>
          <a:prstGeom prst="rect">
            <a:avLst/>
          </a:prstGeom>
        </p:spPr>
      </p:pic>
      <p:pic>
        <p:nvPicPr>
          <p:cNvPr id="3" name="glow-tr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28" y="-6976872"/>
            <a:ext cx="13962888" cy="13962888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title"/>
          <p:cNvSpPr txBox="1"/>
          <p:nvPr/>
        </p:nvSpPr>
        <p:spPr>
          <a:xfrm>
            <a:off x="1024128" y="1554480"/>
            <a:ext cx="1623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Verified end to end</a:t>
            </a:r>
            <a:endParaRPr lang="en-US" sz="8800" dirty="0"/>
          </a:p>
        </p:txBody>
      </p:sp>
      <p:sp>
        <p:nvSpPr>
          <p:cNvPr id="8" name="Text 4"/>
          <p:cNvSpPr txBox="1"/>
          <p:nvPr/>
        </p:nvSpPr>
        <p:spPr>
          <a:xfrm>
            <a:off x="1024128" y="2761488"/>
            <a:ext cx="1623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A8A8A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Against a live database with the model providers enabled — not a mocked run</a:t>
            </a:r>
            <a:endParaRPr lang="en-US" sz="2100" dirty="0"/>
          </a:p>
        </p:txBody>
      </p:sp>
      <p:sp>
        <p:nvSpPr>
          <p:cNvPr id="9" name="stat-disc"/>
          <p:cNvSpPr/>
          <p:nvPr/>
        </p:nvSpPr>
        <p:spPr>
          <a:xfrm>
            <a:off x="2651760" y="3474720"/>
            <a:ext cx="2560320" cy="25603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651760" y="34747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151</a:t>
            </a:r>
            <a:endParaRPr lang="en-US" sz="8000" dirty="0"/>
          </a:p>
        </p:txBody>
      </p:sp>
      <p:sp>
        <p:nvSpPr>
          <p:cNvPr id="11" name="Text 7"/>
          <p:cNvSpPr txBox="1"/>
          <p:nvPr/>
        </p:nvSpPr>
        <p:spPr>
          <a:xfrm>
            <a:off x="2286000" y="641908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6309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UNIT TESTS PASSING</a:t>
            </a:r>
            <a:endParaRPr lang="en-US" sz="22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ACROSS 14 SUITES</a:t>
            </a:r>
            <a:endParaRPr lang="en-US" sz="2200" dirty="0"/>
          </a:p>
        </p:txBody>
      </p:sp>
      <p:sp>
        <p:nvSpPr>
          <p:cNvPr id="13" name="stat-disc"/>
          <p:cNvSpPr/>
          <p:nvPr/>
        </p:nvSpPr>
        <p:spPr>
          <a:xfrm>
            <a:off x="7863840" y="3474720"/>
            <a:ext cx="2560320" cy="25603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7863840" y="34747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97</a:t>
            </a:r>
            <a:endParaRPr lang="en-US" sz="80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0" y="641908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16" name="Text 12"/>
          <p:cNvSpPr txBox="1"/>
          <p:nvPr/>
        </p:nvSpPr>
        <p:spPr>
          <a:xfrm>
            <a:off x="6858000" y="6309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API ENDPOINTS RETURNING</a:t>
            </a:r>
            <a:endParaRPr lang="en-US" sz="22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200 + SUCCESS</a:t>
            </a:r>
            <a:endParaRPr lang="en-US" sz="2200" dirty="0"/>
          </a:p>
        </p:txBody>
      </p:sp>
      <p:sp>
        <p:nvSpPr>
          <p:cNvPr id="17" name="stat-disc"/>
          <p:cNvSpPr/>
          <p:nvPr/>
        </p:nvSpPr>
        <p:spPr>
          <a:xfrm>
            <a:off x="13075920" y="3474720"/>
            <a:ext cx="2560320" cy="2560320"/>
          </a:xfrm>
          <a:prstGeom prst="ellipse">
            <a:avLst/>
          </a:prstGeom>
          <a:solidFill>
            <a:srgbClr val="FF751F"/>
          </a:solidFill>
          <a:ln w="12700">
            <a:solidFill>
              <a:srgbClr val="FF75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13075920" y="3474720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1E1E1E"/>
                </a:solidFill>
                <a:latin typeface="Open Sauce Bold" pitchFamily="34" charset="0"/>
                <a:ea typeface="Open Sauce Bold" pitchFamily="34" charset="-122"/>
                <a:cs typeface="Open Sauce Bold" pitchFamily="34" charset="-120"/>
              </a:rPr>
              <a:t>18</a:t>
            </a:r>
            <a:endParaRPr lang="en-US" sz="8000" dirty="0"/>
          </a:p>
        </p:txBody>
      </p:sp>
      <p:sp>
        <p:nvSpPr>
          <p:cNvPr id="19" name="Text 15"/>
          <p:cNvSpPr txBox="1"/>
          <p:nvPr/>
        </p:nvSpPr>
        <p:spPr>
          <a:xfrm>
            <a:off x="12710160" y="6419088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endParaRPr lang="en-US" sz="2800" dirty="0"/>
          </a:p>
        </p:txBody>
      </p:sp>
      <p:sp>
        <p:nvSpPr>
          <p:cNvPr id="20" name="Text 16"/>
          <p:cNvSpPr txBox="1"/>
          <p:nvPr/>
        </p:nvSpPr>
        <p:spPr>
          <a:xfrm>
            <a:off x="12070080" y="63093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UI PAGES WITH ZERO</a:t>
            </a:r>
            <a:endParaRPr lang="en-US" sz="2200" dirty="0"/>
          </a:p>
          <a:p>
            <a:pPr marL="0" indent="0" algn="ctr">
              <a:lnSpc>
                <a:spcPct val="106000"/>
              </a:lnSpc>
              <a:buNone/>
            </a:pPr>
            <a:r>
              <a:rPr lang="en-US" sz="2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CONSOLE ERRORS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2194560" y="7863840"/>
            <a:ext cx="1417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  Bangla numerals parsed — ১৮,৫০০ → 18500, and দুপুর ২টায় → the correct afternoon window</a:t>
            </a:r>
            <a:endParaRPr lang="en-US" sz="1750" dirty="0"/>
          </a:p>
        </p:txBody>
      </p:sp>
      <p:sp>
        <p:nvSpPr>
          <p:cNvPr id="22" name="Text 18"/>
          <p:cNvSpPr txBox="1"/>
          <p:nvPr/>
        </p:nvSpPr>
        <p:spPr>
          <a:xfrm>
            <a:off x="2194560" y="8293608"/>
            <a:ext cx="1417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  Prompt injection in English and Bangla detected, neutralised, escalated — and not obeyed</a:t>
            </a:r>
            <a:endParaRPr lang="en-US" sz="1750" dirty="0"/>
          </a:p>
        </p:txBody>
      </p:sp>
      <p:sp>
        <p:nvSpPr>
          <p:cNvPr id="23" name="Text 19"/>
          <p:cNvSpPr txBox="1"/>
          <p:nvPr/>
        </p:nvSpPr>
        <p:spPr>
          <a:xfrm>
            <a:off x="2194560" y="8723376"/>
            <a:ext cx="1417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  A pasted PIN and OTP redacted, with the amount still read correctly as ৳9,500</a:t>
            </a:r>
            <a:endParaRPr lang="en-US" sz="1750" dirty="0"/>
          </a:p>
        </p:txBody>
      </p:sp>
      <p:sp>
        <p:nvSpPr>
          <p:cNvPr id="24" name="Text 20"/>
          <p:cNvSpPr txBox="1"/>
          <p:nvPr/>
        </p:nvSpPr>
        <p:spPr>
          <a:xfrm>
            <a:off x="2194560" y="9153144"/>
            <a:ext cx="1417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  Cross-language retrieval — one incident in bn / banglish / en returns the same typology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left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76872" y="-1837944"/>
            <a:ext cx="13962888" cy="13962888"/>
          </a:xfrm>
          <a:prstGeom prst="rect">
            <a:avLst/>
          </a:prstGeom>
        </p:spPr>
      </p:pic>
      <p:pic>
        <p:nvPicPr>
          <p:cNvPr id="3" name="glow-right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28" y="-1837944"/>
            <a:ext cx="13962888" cy="13962888"/>
          </a:xfrm>
          <a:prstGeom prst="rect">
            <a:avLst/>
          </a:prstGeom>
        </p:spPr>
      </p:pic>
      <p:sp>
        <p:nvSpPr>
          <p:cNvPr id="4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5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7" name="motif-disc"/>
          <p:cNvSpPr/>
          <p:nvPr/>
        </p:nvSpPr>
        <p:spPr>
          <a:xfrm>
            <a:off x="1133856" y="1417320"/>
            <a:ext cx="1371600" cy="1371600"/>
          </a:xfrm>
          <a:prstGeom prst="ellipse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motif-asterisk" descr="D:\claude-tmp\claude\d--Team-Orbit\7330a9ca-124e-4916-82f3-b05cfdf2a85d\scratchpad\deck\assets\image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608" y="1719072"/>
            <a:ext cx="768096" cy="768096"/>
          </a:xfrm>
          <a:prstGeom prst="rect">
            <a:avLst/>
          </a:prstGeom>
        </p:spPr>
      </p:pic>
      <p:sp>
        <p:nvSpPr>
          <p:cNvPr id="9" name="section-title"/>
          <p:cNvSpPr txBox="1"/>
          <p:nvPr/>
        </p:nvSpPr>
        <p:spPr>
          <a:xfrm>
            <a:off x="1024128" y="4526280"/>
            <a:ext cx="15544800" cy="1288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6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Built To Be Trusted</a:t>
            </a:r>
            <a:endParaRPr lang="en-US" sz="8600" dirty="0"/>
          </a:p>
        </p:txBody>
      </p:sp>
      <p:sp>
        <p:nvSpPr>
          <p:cNvPr id="10" name="rai-0"/>
          <p:cNvSpPr/>
          <p:nvPr/>
        </p:nvSpPr>
        <p:spPr>
          <a:xfrm>
            <a:off x="6528816" y="132588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 txBox="1"/>
          <p:nvPr/>
        </p:nvSpPr>
        <p:spPr>
          <a:xfrm>
            <a:off x="7004304" y="1691640"/>
            <a:ext cx="428853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THE MACHINE NEVER DECIDES ALONE</a:t>
            </a:r>
            <a:endParaRPr lang="en-US" sz="2500" dirty="0"/>
          </a:p>
        </p:txBody>
      </p:sp>
      <p:sp>
        <p:nvSpPr>
          <p:cNvPr id="12" name="Text 7"/>
          <p:cNvSpPr txBox="1"/>
          <p:nvPr/>
        </p:nvSpPr>
        <p:spPr>
          <a:xfrm>
            <a:off x="7004304" y="2591308"/>
            <a:ext cx="4288536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model can raise a risk score but never lower one. "Insufficient evidence" is a legitimate outcome, and the verdict itself is deterministic policy.</a:t>
            </a:r>
            <a:endParaRPr lang="en-US" sz="1800" dirty="0"/>
          </a:p>
        </p:txBody>
      </p:sp>
      <p:sp>
        <p:nvSpPr>
          <p:cNvPr id="13" name="rai-1"/>
          <p:cNvSpPr/>
          <p:nvPr/>
        </p:nvSpPr>
        <p:spPr>
          <a:xfrm>
            <a:off x="12015216" y="132588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 txBox="1"/>
          <p:nvPr/>
        </p:nvSpPr>
        <p:spPr>
          <a:xfrm>
            <a:off x="12490704" y="1691640"/>
            <a:ext cx="4288536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UNTRUSTED INPUT STAYS DATA</a:t>
            </a:r>
            <a:endParaRPr lang="en-US" sz="2500" dirty="0"/>
          </a:p>
        </p:txBody>
      </p:sp>
      <p:sp>
        <p:nvSpPr>
          <p:cNvPr id="15" name="Text 10"/>
          <p:cNvSpPr txBox="1"/>
          <p:nvPr/>
        </p:nvSpPr>
        <p:spPr>
          <a:xfrm>
            <a:off x="12490704" y="2591308"/>
            <a:ext cx="4288536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Complaint text is never an instruction. Injection attempts in three languages are neutralised, recorded and escalated — they cannot move a verdict.</a:t>
            </a:r>
            <a:endParaRPr lang="en-US" sz="1800" dirty="0"/>
          </a:p>
        </p:txBody>
      </p:sp>
      <p:sp>
        <p:nvSpPr>
          <p:cNvPr id="16" name="rai-2"/>
          <p:cNvSpPr/>
          <p:nvPr/>
        </p:nvSpPr>
        <p:spPr>
          <a:xfrm>
            <a:off x="6528816" y="617220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 txBox="1"/>
          <p:nvPr/>
        </p:nvSpPr>
        <p:spPr>
          <a:xfrm>
            <a:off x="7004304" y="6537960"/>
            <a:ext cx="428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NOTHING IRREVERSIBLE</a:t>
            </a:r>
            <a:endParaRPr lang="en-US" sz="2500" dirty="0"/>
          </a:p>
        </p:txBody>
      </p:sp>
      <p:sp>
        <p:nvSpPr>
          <p:cNvPr id="18" name="Text 13"/>
          <p:cNvSpPr txBox="1"/>
          <p:nvPr/>
        </p:nvSpPr>
        <p:spPr>
          <a:xfrm>
            <a:off x="7004304" y="7088378"/>
            <a:ext cx="4288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Mode, Pause &amp; Verify and holds are all reversible. There are no permanent lockouts, and no customer is stranded by a false positive.</a:t>
            </a:r>
            <a:endParaRPr lang="en-US" sz="1800" dirty="0"/>
          </a:p>
        </p:txBody>
      </p:sp>
      <p:sp>
        <p:nvSpPr>
          <p:cNvPr id="19" name="rai-3"/>
          <p:cNvSpPr/>
          <p:nvPr/>
        </p:nvSpPr>
        <p:spPr>
          <a:xfrm>
            <a:off x="12015216" y="6172200"/>
            <a:ext cx="5239512" cy="3017520"/>
          </a:xfrm>
          <a:prstGeom prst="roundRect">
            <a:avLst>
              <a:gd name="adj" fmla="val 1515"/>
            </a:avLst>
          </a:prstGeom>
          <a:solidFill>
            <a:srgbClr val="1E1E1E"/>
          </a:solidFill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12490704" y="6537960"/>
            <a:ext cx="428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5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FAIRNESS IS MEASURED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12490704" y="7088378"/>
            <a:ext cx="428853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False-positive rates are tracked per segment — student, farmer, gig, salaried — and per district type, with PSI drift per feature.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low-r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28" y="-1837944"/>
            <a:ext cx="13962888" cy="13962888"/>
          </a:xfrm>
          <a:prstGeom prst="rect">
            <a:avLst/>
          </a:prstGeom>
        </p:spPr>
      </p:pic>
      <p:pic>
        <p:nvPicPr>
          <p:cNvPr id="3" name="glow-bl" descr="D:\claude-tmp\claude\d--Team-Orbit\7330a9ca-124e-4916-82f3-b05cfdf2a85d\scratchpad\deck\assets\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76872" y="3310128"/>
            <a:ext cx="13962888" cy="13962888"/>
          </a:xfrm>
          <a:prstGeom prst="rect">
            <a:avLst/>
          </a:prstGeom>
        </p:spPr>
      </p:pic>
      <p:pic>
        <p:nvPicPr>
          <p:cNvPr id="4" name="hero" descr="D:\claude-tmp\claude\d--Team-Orbit\7330a9ca-124e-4916-82f3-b05cfdf2a85d\scratchpad\deck\assets\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86000"/>
            <a:ext cx="7132320" cy="7132320"/>
          </a:xfrm>
          <a:prstGeom prst="rect">
            <a:avLst/>
          </a:prstGeom>
        </p:spPr>
      </p:pic>
      <p:sp>
        <p:nvSpPr>
          <p:cNvPr id="5" name="brand"/>
          <p:cNvSpPr txBox="1"/>
          <p:nvPr/>
        </p:nvSpPr>
        <p:spPr>
          <a:xfrm>
            <a:off x="1024128" y="640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</a:t>
            </a:r>
            <a:endParaRPr lang="en-US" sz="2100" dirty="0"/>
          </a:p>
        </p:txBody>
      </p:sp>
      <p:sp>
        <p:nvSpPr>
          <p:cNvPr id="6" name="date-pill"/>
          <p:cNvSpPr/>
          <p:nvPr/>
        </p:nvSpPr>
        <p:spPr>
          <a:xfrm>
            <a:off x="14593824" y="621792"/>
            <a:ext cx="26700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date-pill-text"/>
          <p:cNvSpPr txBox="1"/>
          <p:nvPr/>
        </p:nvSpPr>
        <p:spPr>
          <a:xfrm>
            <a:off x="14593824" y="621792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8" name="Text 3"/>
          <p:cNvSpPr txBox="1"/>
          <p:nvPr/>
        </p:nvSpPr>
        <p:spPr>
          <a:xfrm>
            <a:off x="8229600" y="2240280"/>
            <a:ext cx="9034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Stop the transfer.</a:t>
            </a:r>
            <a:endParaRPr lang="en-US" sz="7200" dirty="0"/>
          </a:p>
        </p:txBody>
      </p:sp>
      <p:sp>
        <p:nvSpPr>
          <p:cNvPr id="9" name="Text 4"/>
          <p:cNvSpPr txBox="1"/>
          <p:nvPr/>
        </p:nvSpPr>
        <p:spPr>
          <a:xfrm>
            <a:off x="8229600" y="3429000"/>
            <a:ext cx="9034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Explain the scam.</a:t>
            </a:r>
            <a:endParaRPr lang="en-US" sz="7200" dirty="0"/>
          </a:p>
        </p:txBody>
      </p:sp>
      <p:sp>
        <p:nvSpPr>
          <p:cNvPr id="10" name="Text 5"/>
          <p:cNvSpPr txBox="1"/>
          <p:nvPr/>
        </p:nvSpPr>
        <p:spPr>
          <a:xfrm>
            <a:off x="8229600" y="4617720"/>
            <a:ext cx="90342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0" dirty="0">
                <a:solidFill>
                  <a:srgbClr val="FF751F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Trace the money.</a:t>
            </a:r>
            <a:endParaRPr lang="en-US" sz="7200" dirty="0"/>
          </a:p>
        </p:txBody>
      </p:sp>
      <p:sp>
        <p:nvSpPr>
          <p:cNvPr id="11" name="cta-0"/>
          <p:cNvSpPr/>
          <p:nvPr/>
        </p:nvSpPr>
        <p:spPr>
          <a:xfrm>
            <a:off x="8503920" y="6355080"/>
            <a:ext cx="875995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cta-disc-0"/>
          <p:cNvSpPr/>
          <p:nvPr/>
        </p:nvSpPr>
        <p:spPr>
          <a:xfrm>
            <a:off x="8156448" y="6574536"/>
            <a:ext cx="822960" cy="822960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cta-ast-0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6720840"/>
            <a:ext cx="530352" cy="53035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281160" y="650138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Bangla-first by design</a:t>
            </a:r>
            <a:endParaRPr lang="en-US" sz="2300" dirty="0"/>
          </a:p>
        </p:txBody>
      </p:sp>
      <p:sp>
        <p:nvSpPr>
          <p:cNvPr id="15" name="Text 9"/>
          <p:cNvSpPr txBox="1"/>
          <p:nvPr/>
        </p:nvSpPr>
        <p:spPr>
          <a:xfrm>
            <a:off x="9281160" y="693115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Detection, coaching and advisories in the language customers actually report in</a:t>
            </a:r>
            <a:endParaRPr lang="en-US" sz="1450" dirty="0"/>
          </a:p>
        </p:txBody>
      </p:sp>
      <p:sp>
        <p:nvSpPr>
          <p:cNvPr id="16" name="cta-1"/>
          <p:cNvSpPr/>
          <p:nvPr/>
        </p:nvSpPr>
        <p:spPr>
          <a:xfrm>
            <a:off x="8503920" y="7836408"/>
            <a:ext cx="875995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ta-disc-1"/>
          <p:cNvSpPr/>
          <p:nvPr/>
        </p:nvSpPr>
        <p:spPr>
          <a:xfrm>
            <a:off x="8156448" y="8055864"/>
            <a:ext cx="822960" cy="822960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cta-ast-1" descr="D:\claude-tmp\claude\d--Team-Orbit\7330a9ca-124e-4916-82f3-b05cfdf2a85d\scratchpad\deck\assets\image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8202168"/>
            <a:ext cx="530352" cy="53035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281160" y="798271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1E1E1E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Degrades, never fails</a:t>
            </a:r>
            <a:endParaRPr lang="en-US" sz="2300" dirty="0"/>
          </a:p>
        </p:txBody>
      </p:sp>
      <p:sp>
        <p:nvSpPr>
          <p:cNvPr id="20" name="Text 13"/>
          <p:cNvSpPr txBox="1"/>
          <p:nvPr/>
        </p:nvSpPr>
        <p:spPr>
          <a:xfrm>
            <a:off x="9281160" y="8412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key, a bad key or a dead provider — every endpoint still answers on the rule engine</a:t>
            </a:r>
            <a:endParaRPr lang="en-US" sz="1450" dirty="0"/>
          </a:p>
        </p:txBody>
      </p:sp>
      <p:sp>
        <p:nvSpPr>
          <p:cNvPr id="21" name="rule"/>
          <p:cNvSpPr/>
          <p:nvPr/>
        </p:nvSpPr>
        <p:spPr>
          <a:xfrm>
            <a:off x="-438912" y="9144000"/>
            <a:ext cx="19156680" cy="0"/>
          </a:xfrm>
          <a:prstGeom prst="line">
            <a:avLst/>
          </a:prstGeom>
          <a:noFill/>
          <a:ln w="9525">
            <a:solidFill>
              <a:srgbClr val="E4E4E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 txBox="1"/>
          <p:nvPr/>
        </p:nvSpPr>
        <p:spPr>
          <a:xfrm>
            <a:off x="1024128" y="952804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Team Orbit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0058400" y="9528048"/>
            <a:ext cx="7205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E4E4E4"/>
                </a:solidFill>
                <a:latin typeface="Open Sauce" pitchFamily="34" charset="0"/>
                <a:ea typeface="Open Sauce" pitchFamily="34" charset="-122"/>
                <a:cs typeface="Open Sauce" pitchFamily="34" charset="-120"/>
              </a:rPr>
              <a:t>Astha  ·  UCB Fintech Hackathon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2206</Words>
  <Application>Microsoft Office PowerPoint</Application>
  <PresentationFormat>Custom</PresentationFormat>
  <Paragraphs>437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Open Sauce</vt:lpstr>
      <vt:lpstr>Open Sauce Bold</vt:lpstr>
      <vt:lpstr>DM Sans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Team Orbit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Astha — Autonomous MFS Scam &amp;amp; Fraud Defense Platform</dc:title>
  <dc:subject>UCB Fintech Hackathon</dc:subject>
  <dc:creator>Team Orbit</dc:creator>
  <cp:lastModifiedBy>Tawhidul Hasan</cp:lastModifiedBy>
  <cp:revision>8</cp:revision>
  <dcterms:created xsi:type="dcterms:W3CDTF">2026-10-03T13:48:04Z</dcterms:created>
  <dcterms:modified xsi:type="dcterms:W3CDTF">2026-10-03T13:58:52Z</dcterms:modified>
</cp:coreProperties>
</file>